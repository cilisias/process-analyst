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6" r:id="rId9"/>
    <p:sldId id="262" r:id="rId10"/>
    <p:sldId id="263" r:id="rId11"/>
    <p:sldId id="267" r:id="rId12"/>
    <p:sldId id="264" r:id="rId13"/>
  </p:sldIdLst>
  <p:sldSz cx="9144000" cy="5143500" type="screen16x9"/>
  <p:notesSz cx="9144000" cy="5143500"/>
  <p:embeddedFontLs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79">
          <p15:clr>
            <a:srgbClr val="A4A3A4"/>
          </p15:clr>
        </p15:guide>
        <p15:guide id="2" orient="horz" pos="942">
          <p15:clr>
            <a:srgbClr val="A4A3A4"/>
          </p15:clr>
        </p15:guide>
        <p15:guide id="3" pos="230">
          <p15:clr>
            <a:srgbClr val="A4A3A4"/>
          </p15:clr>
        </p15:guide>
        <p15:guide id="4" pos="406">
          <p15:clr>
            <a:srgbClr val="A4A3A4"/>
          </p15:clr>
        </p15:guide>
        <p15:guide id="5" orient="horz" pos="352">
          <p15:clr>
            <a:srgbClr val="A4A3A4"/>
          </p15:clr>
        </p15:guide>
        <p15:guide id="6" orient="horz" pos="3003">
          <p15:clr>
            <a:srgbClr val="A4A3A4"/>
          </p15:clr>
        </p15:guide>
        <p15:guide id="7" orient="horz" pos="1140">
          <p15:clr>
            <a:srgbClr val="A4A3A4"/>
          </p15:clr>
        </p15:guide>
        <p15:guide id="8" orient="horz" pos="181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22" y="96"/>
      </p:cViewPr>
      <p:guideLst>
        <p:guide orient="horz" pos="679"/>
        <p:guide orient="horz" pos="942"/>
        <p:guide pos="230"/>
        <p:guide pos="406"/>
        <p:guide orient="horz" pos="352"/>
        <p:guide orient="horz" pos="3003"/>
        <p:guide orient="horz" pos="1140"/>
        <p:guide orient="horz" pos="18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355087" name="Google Shape;776;p21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0660591" name="Google Shape;777;p21:notes"/>
          <p:cNvSpPr txBox="1">
            <a:spLocks noGrp="1"/>
          </p:cNvSpPr>
          <p:nvPr>
            <p:ph type="body" idx="1"/>
          </p:nvPr>
        </p:nvSpPr>
        <p:spPr bwMode="auto"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4" tIns="152374" rIns="152374" bIns="152374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0575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1202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6561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19174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08584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60768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9603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44670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8315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6953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355087" name="Google Shape;776;p21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0660591" name="Google Shape;777;p21:notes"/>
          <p:cNvSpPr txBox="1">
            <a:spLocks noGrp="1"/>
          </p:cNvSpPr>
          <p:nvPr>
            <p:ph type="body" idx="1"/>
          </p:nvPr>
        </p:nvSpPr>
        <p:spPr bwMode="auto"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4" tIns="152374" rIns="152374" bIns="152374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pP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11. Фон dark" userDrawn="1">
  <p:cSld name="11. Фон dark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1.Фон" userDrawn="1">
  <p:cSld name="1.Фон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5. Определение wihte" userDrawn="1">
  <p:cSld name="5. Определение wiht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Google Shape;88;p21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Google Shape;89;p21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solidFill>
            <a:srgbClr val="F3F4F7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11. Фон dark 1" userDrawn="1">
  <p:cSld name="11. Фон dark 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12. Титульник neo" userDrawn="1">
  <p:cSld name="12. Титульник ne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/>
          <p:nvPr/>
        </p:nvSpPr>
        <p:spPr bwMode="auto">
          <a:xfrm>
            <a:off x="6531774" y="0"/>
            <a:ext cx="5214898" cy="51435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Google Shape;93;p23"/>
          <p:cNvSpPr/>
          <p:nvPr/>
        </p:nvSpPr>
        <p:spPr bwMode="auto">
          <a:xfrm>
            <a:off x="1331508" y="18000"/>
            <a:ext cx="5200199" cy="5129398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94" name="Google Shape;94;p23"/>
          <p:cNvGrpSpPr/>
          <p:nvPr/>
        </p:nvGrpSpPr>
        <p:grpSpPr bwMode="auto">
          <a:xfrm>
            <a:off x="8569714" y="4505198"/>
            <a:ext cx="258576" cy="265367"/>
            <a:chOff x="238124" y="2432824"/>
            <a:chExt cx="779548" cy="781875"/>
          </a:xfrm>
        </p:grpSpPr>
        <p:sp>
          <p:nvSpPr>
            <p:cNvPr id="95" name="Google Shape;95;p23"/>
            <p:cNvSpPr/>
            <p:nvPr/>
          </p:nvSpPr>
          <p:spPr bwMode="auto">
            <a:xfrm>
              <a:off x="238124" y="2842374"/>
              <a:ext cx="372323" cy="372323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96" name="Google Shape;96;p23"/>
            <p:cNvSpPr/>
            <p:nvPr/>
          </p:nvSpPr>
          <p:spPr bwMode="auto">
            <a:xfrm>
              <a:off x="238124" y="2432824"/>
              <a:ext cx="372323" cy="372323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97" name="Google Shape;97;p23"/>
            <p:cNvSpPr/>
            <p:nvPr/>
          </p:nvSpPr>
          <p:spPr bwMode="auto">
            <a:xfrm>
              <a:off x="645324" y="2432824"/>
              <a:ext cx="372349" cy="372323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98" name="Google Shape;98;p23"/>
            <p:cNvSpPr/>
            <p:nvPr/>
          </p:nvSpPr>
          <p:spPr bwMode="auto">
            <a:xfrm>
              <a:off x="645324" y="2842374"/>
              <a:ext cx="372349" cy="372323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16. Фон neo" userDrawn="1">
  <p:cSld name="16. Фон ne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14. Определение neo" userDrawn="1">
  <p:cSld name="14. Определение ne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Google Shape;102;p25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Google Shape;103;p25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15. Отбивка 2 neo" userDrawn="1">
  <p:cSld name="15. Отбивка 2 ne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/>
          <p:nvPr/>
        </p:nvSpPr>
        <p:spPr bwMode="auto">
          <a:xfrm>
            <a:off x="8381999" y="2523324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Google Shape;106;p26"/>
          <p:cNvSpPr/>
          <p:nvPr/>
        </p:nvSpPr>
        <p:spPr bwMode="auto">
          <a:xfrm>
            <a:off x="6087296" y="2514599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/>
            </a:pPr>
            <a:endParaRPr sz="48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2.Определение" userDrawn="1">
  <p:cSld name="2.Определение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Google Shape;109;p27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Google Shape;110;p27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3.Титульник wihte" userDrawn="1">
  <p:cSld name="3.Титульник wiht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/>
          <p:nvPr/>
        </p:nvSpPr>
        <p:spPr bwMode="auto">
          <a:xfrm>
            <a:off x="6531774" y="0"/>
            <a:ext cx="5214898" cy="51435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Google Shape;113;p28"/>
          <p:cNvSpPr/>
          <p:nvPr/>
        </p:nvSpPr>
        <p:spPr bwMode="auto">
          <a:xfrm>
            <a:off x="1331508" y="18000"/>
            <a:ext cx="5200199" cy="5129398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114" name="Google Shape;114;p28"/>
          <p:cNvGrpSpPr/>
          <p:nvPr/>
        </p:nvGrpSpPr>
        <p:grpSpPr bwMode="auto">
          <a:xfrm>
            <a:off x="8569714" y="4536459"/>
            <a:ext cx="258576" cy="265367"/>
            <a:chOff x="238124" y="2432824"/>
            <a:chExt cx="779548" cy="781875"/>
          </a:xfrm>
        </p:grpSpPr>
        <p:sp>
          <p:nvSpPr>
            <p:cNvPr id="115" name="Google Shape;115;p28"/>
            <p:cNvSpPr/>
            <p:nvPr/>
          </p:nvSpPr>
          <p:spPr bwMode="auto">
            <a:xfrm>
              <a:off x="238124" y="2842374"/>
              <a:ext cx="372323" cy="372323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16" name="Google Shape;116;p28"/>
            <p:cNvSpPr/>
            <p:nvPr/>
          </p:nvSpPr>
          <p:spPr bwMode="auto">
            <a:xfrm>
              <a:off x="238124" y="2432824"/>
              <a:ext cx="372323" cy="372323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17" name="Google Shape;117;p28"/>
            <p:cNvSpPr/>
            <p:nvPr/>
          </p:nvSpPr>
          <p:spPr bwMode="auto">
            <a:xfrm>
              <a:off x="645324" y="2432824"/>
              <a:ext cx="372349" cy="372323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18" name="Google Shape;118;p28"/>
            <p:cNvSpPr/>
            <p:nvPr/>
          </p:nvSpPr>
          <p:spPr bwMode="auto">
            <a:xfrm>
              <a:off x="645324" y="2842374"/>
              <a:ext cx="372349" cy="372323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4.Отбивка wihte" userDrawn="1">
  <p:cSld name="4.Отбивка wiht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0" name="Google Shape;120;p29"/>
          <p:cNvGrpSpPr/>
          <p:nvPr/>
        </p:nvGrpSpPr>
        <p:grpSpPr bwMode="auto">
          <a:xfrm>
            <a:off x="5737860" y="0"/>
            <a:ext cx="3406140" cy="5128199"/>
            <a:chOff x="11475720" y="0"/>
            <a:chExt cx="6812280" cy="10256399"/>
          </a:xfrm>
        </p:grpSpPr>
        <p:sp>
          <p:nvSpPr>
            <p:cNvPr id="121" name="Google Shape;121;p29"/>
            <p:cNvSpPr/>
            <p:nvPr/>
          </p:nvSpPr>
          <p:spPr bwMode="auto"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22" name="Google Shape;122;p29"/>
            <p:cNvSpPr/>
            <p:nvPr/>
          </p:nvSpPr>
          <p:spPr bwMode="auto"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23" name="Google Shape;123;p29"/>
            <p:cNvSpPr/>
            <p:nvPr/>
          </p:nvSpPr>
          <p:spPr bwMode="auto"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24" name="Google Shape;124;p29"/>
            <p:cNvSpPr/>
            <p:nvPr/>
          </p:nvSpPr>
          <p:spPr bwMode="auto"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25" name="Google Shape;125;p29"/>
            <p:cNvSpPr/>
            <p:nvPr/>
          </p:nvSpPr>
          <p:spPr bwMode="auto"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26" name="Google Shape;126;p29"/>
            <p:cNvSpPr/>
            <p:nvPr/>
          </p:nvSpPr>
          <p:spPr bwMode="auto"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6.Титульник dark" userDrawn="1">
  <p:cSld name="6.Титульник dark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/>
          <p:nvPr/>
        </p:nvSpPr>
        <p:spPr bwMode="auto">
          <a:xfrm>
            <a:off x="6531774" y="0"/>
            <a:ext cx="5214898" cy="5143500"/>
          </a:xfrm>
          <a:prstGeom prst="ellipse">
            <a:avLst/>
          </a:prstGeom>
          <a:solidFill>
            <a:srgbClr val="2F3035"/>
          </a:solidFill>
          <a:ln w="9525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Google Shape;129;p30"/>
          <p:cNvSpPr/>
          <p:nvPr/>
        </p:nvSpPr>
        <p:spPr bwMode="auto">
          <a:xfrm>
            <a:off x="1331508" y="18000"/>
            <a:ext cx="5200199" cy="5129398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130" name="Google Shape;130;p30"/>
          <p:cNvGrpSpPr/>
          <p:nvPr/>
        </p:nvGrpSpPr>
        <p:grpSpPr bwMode="auto">
          <a:xfrm>
            <a:off x="8569714" y="4505198"/>
            <a:ext cx="258576" cy="265367"/>
            <a:chOff x="238124" y="2432824"/>
            <a:chExt cx="779548" cy="781875"/>
          </a:xfrm>
        </p:grpSpPr>
        <p:sp>
          <p:nvSpPr>
            <p:cNvPr id="131" name="Google Shape;131;p30"/>
            <p:cNvSpPr/>
            <p:nvPr/>
          </p:nvSpPr>
          <p:spPr bwMode="auto">
            <a:xfrm>
              <a:off x="238124" y="2842374"/>
              <a:ext cx="372323" cy="372323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32" name="Google Shape;132;p30"/>
            <p:cNvSpPr/>
            <p:nvPr/>
          </p:nvSpPr>
          <p:spPr bwMode="auto">
            <a:xfrm>
              <a:off x="238124" y="2432824"/>
              <a:ext cx="372323" cy="372323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33" name="Google Shape;133;p30"/>
            <p:cNvSpPr/>
            <p:nvPr/>
          </p:nvSpPr>
          <p:spPr bwMode="auto">
            <a:xfrm>
              <a:off x="645324" y="2432824"/>
              <a:ext cx="372349" cy="372323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34" name="Google Shape;134;p30"/>
            <p:cNvSpPr/>
            <p:nvPr/>
          </p:nvSpPr>
          <p:spPr bwMode="auto">
            <a:xfrm>
              <a:off x="645324" y="2842374"/>
              <a:ext cx="372349" cy="372323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7. Отбивка dark" userDrawn="1">
  <p:cSld name="7. Отбивка dark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6" name="Google Shape;136;p31"/>
          <p:cNvGrpSpPr/>
          <p:nvPr/>
        </p:nvGrpSpPr>
        <p:grpSpPr bwMode="auto">
          <a:xfrm>
            <a:off x="5737860" y="0"/>
            <a:ext cx="3406140" cy="5128199"/>
            <a:chOff x="11475720" y="0"/>
            <a:chExt cx="6812280" cy="10256399"/>
          </a:xfrm>
        </p:grpSpPr>
        <p:sp>
          <p:nvSpPr>
            <p:cNvPr id="137" name="Google Shape;137;p31"/>
            <p:cNvSpPr/>
            <p:nvPr/>
          </p:nvSpPr>
          <p:spPr bwMode="auto"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38" name="Google Shape;138;p31"/>
            <p:cNvSpPr/>
            <p:nvPr/>
          </p:nvSpPr>
          <p:spPr bwMode="auto">
            <a:xfrm>
              <a:off x="14892300" y="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39" name="Google Shape;139;p31"/>
            <p:cNvSpPr/>
            <p:nvPr/>
          </p:nvSpPr>
          <p:spPr bwMode="auto">
            <a:xfrm>
              <a:off x="11475720" y="34443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40" name="Google Shape;140;p31"/>
            <p:cNvSpPr/>
            <p:nvPr/>
          </p:nvSpPr>
          <p:spPr bwMode="auto"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41" name="Google Shape;141;p31"/>
            <p:cNvSpPr/>
            <p:nvPr/>
          </p:nvSpPr>
          <p:spPr bwMode="auto"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42" name="Google Shape;142;p31"/>
            <p:cNvSpPr/>
            <p:nvPr/>
          </p:nvSpPr>
          <p:spPr bwMode="auto">
            <a:xfrm>
              <a:off x="14892300" y="68580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8. Определение dark" userDrawn="1">
  <p:cSld name="8. Определение dark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" name="Google Shape;144;p32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Google Shape;145;p32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Google Shape;146;p32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solidFill>
            <a:srgbClr val="2F3035"/>
          </a:solidFill>
          <a:ln w="2540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9. Определение dark" userDrawn="1">
  <p:cSld name="9. Определение dark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Google Shape;149;p33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Google Shape;150;p33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10. Фон dark" userDrawn="1">
  <p:cSld name="10. Фон dark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" name="Google Shape;152;p34"/>
          <p:cNvSpPr/>
          <p:nvPr/>
        </p:nvSpPr>
        <p:spPr bwMode="auto">
          <a:xfrm>
            <a:off x="8381999" y="2523324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Google Shape;153;p34"/>
          <p:cNvSpPr/>
          <p:nvPr/>
        </p:nvSpPr>
        <p:spPr bwMode="auto">
          <a:xfrm>
            <a:off x="6087296" y="2514599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/>
            </a:pPr>
            <a:endParaRPr sz="48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13. Отбивка neo" userDrawn="1">
  <p:cSld name="13. Отбивка ne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5" name="Google Shape;155;p35"/>
          <p:cNvGrpSpPr/>
          <p:nvPr/>
        </p:nvGrpSpPr>
        <p:grpSpPr bwMode="auto">
          <a:xfrm>
            <a:off x="5737860" y="0"/>
            <a:ext cx="3406140" cy="5128199"/>
            <a:chOff x="11475720" y="0"/>
            <a:chExt cx="6812280" cy="10256399"/>
          </a:xfrm>
        </p:grpSpPr>
        <p:sp>
          <p:nvSpPr>
            <p:cNvPr id="156" name="Google Shape;156;p35"/>
            <p:cNvSpPr/>
            <p:nvPr/>
          </p:nvSpPr>
          <p:spPr bwMode="auto"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57" name="Google Shape;157;p35"/>
            <p:cNvSpPr/>
            <p:nvPr/>
          </p:nvSpPr>
          <p:spPr bwMode="auto"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58" name="Google Shape;158;p35"/>
            <p:cNvSpPr/>
            <p:nvPr/>
          </p:nvSpPr>
          <p:spPr bwMode="auto"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59" name="Google Shape;159;p35"/>
            <p:cNvSpPr/>
            <p:nvPr/>
          </p:nvSpPr>
          <p:spPr bwMode="auto"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60" name="Google Shape;160;p35"/>
            <p:cNvSpPr/>
            <p:nvPr/>
          </p:nvSpPr>
          <p:spPr bwMode="auto"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61" name="Google Shape;161;p35"/>
            <p:cNvSpPr/>
            <p:nvPr/>
          </p:nvSpPr>
          <p:spPr bwMode="auto"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16. Фон neo 1" userDrawn="1">
  <p:cSld name="16. Фон neo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TO%20BE%20&#1089;&#1093;&#1077;&#1084;&#1072;%20EPC%20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143756" name="Google Shape;779;p93"/>
          <p:cNvSpPr txBox="1"/>
          <p:nvPr/>
        </p:nvSpPr>
        <p:spPr bwMode="auto">
          <a:xfrm>
            <a:off x="319069" y="274167"/>
            <a:ext cx="9153852" cy="2289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>
              <a:lnSpc>
                <a:spcPct val="90000"/>
              </a:lnSpc>
              <a:spcBef>
                <a:spcPts val="0"/>
              </a:spcBef>
              <a:spcAft>
                <a:spcPts val="2267"/>
              </a:spcAft>
              <a:buClr>
                <a:srgbClr val="000000"/>
              </a:buClr>
              <a:buSzPts val="4800"/>
              <a:buFont typeface="Arial"/>
              <a:buNone/>
              <a:defRPr/>
            </a:pPr>
            <a:r>
              <a:rPr lang="ru-RU" sz="4800" b="1" i="0" u="none" strike="noStrike" cap="none" spc="0" dirty="0">
                <a:ln>
                  <a:noFill/>
                </a:ln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Оптимизация процесса обработки заявок в отделе продаж</a:t>
            </a:r>
            <a:r>
              <a:rPr lang="en-US" sz="48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4800" b="1" i="0" u="none" strike="noStrike" cap="none" spc="0" dirty="0">
                <a:ln>
                  <a:noFill/>
                </a:ln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«</a:t>
            </a:r>
            <a:r>
              <a:rPr lang="ru-RU" sz="4800" b="1" i="0" u="none" strike="noStrike" cap="none" spc="0" dirty="0" err="1">
                <a:ln>
                  <a:noFill/>
                </a:ln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АльфаСнаб</a:t>
            </a:r>
            <a:r>
              <a:rPr lang="ru-RU" sz="4800" b="1" i="0" u="none" strike="noStrike" cap="none" spc="0" dirty="0">
                <a:ln>
                  <a:noFill/>
                </a:ln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»</a:t>
            </a:r>
          </a:p>
        </p:txBody>
      </p:sp>
      <p:sp>
        <p:nvSpPr>
          <p:cNvPr id="1941941451" name="Google Shape;780;p93"/>
          <p:cNvSpPr txBox="1"/>
          <p:nvPr/>
        </p:nvSpPr>
        <p:spPr bwMode="auto">
          <a:xfrm>
            <a:off x="365125" y="4499113"/>
            <a:ext cx="3027682" cy="31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4" bIns="0" anchor="b" anchorCtr="0">
            <a:noAutofit/>
          </a:bodyPr>
          <a:lstStyle/>
          <a:p>
            <a:pPr marL="0" marR="0" lvl="0" indent="0" algn="l" defTabSz="9144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endParaRPr sz="1200" b="0" i="0" u="none" strike="noStrike" cap="none" spc="0" dirty="0">
              <a:ln>
                <a:noFill/>
              </a:ln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>
              <a:lnSpc>
                <a:spcPct val="114999"/>
              </a:lnSpc>
              <a:spcBef>
                <a:spcPts val="299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ru-RU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Осадчая Елизавета</a:t>
            </a:r>
          </a:p>
          <a:p>
            <a:pPr marL="0" marR="0" lvl="0" indent="0" algn="l" defTabSz="914400">
              <a:lnSpc>
                <a:spcPct val="114999"/>
              </a:lnSpc>
              <a:spcBef>
                <a:spcPts val="299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200" b="0" i="0" u="none" strike="noStrike" cap="none" spc="0" dirty="0">
                <a:ln>
                  <a:noFill/>
                </a:ln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PROBP-43</a:t>
            </a:r>
            <a:endParaRPr sz="1200" b="0" i="0" u="none" strike="noStrike" cap="none" spc="0" dirty="0">
              <a:ln>
                <a:noFill/>
              </a:ln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621981" name="Google Shape;1221;p126"/>
          <p:cNvSpPr/>
          <p:nvPr/>
        </p:nvSpPr>
        <p:spPr bwMode="auto">
          <a:xfrm>
            <a:off x="331200" y="266400"/>
            <a:ext cx="7052220" cy="440120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ru-RU" sz="2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Описание кейса</a:t>
            </a:r>
            <a:endParaRPr sz="2800" b="1" i="0" u="none" strike="noStrike" cap="none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0033568" name="Google Shape;1222;p126"/>
          <p:cNvSpPr/>
          <p:nvPr/>
        </p:nvSpPr>
        <p:spPr bwMode="auto">
          <a:xfrm>
            <a:off x="6557143" y="2556208"/>
            <a:ext cx="2232299" cy="2232299"/>
          </a:xfrm>
          <a:prstGeom prst="ellipse">
            <a:avLst/>
          </a:prstGeom>
          <a:noFill/>
          <a:ln w="9525" cap="flat" cmpd="sng">
            <a:solidFill>
              <a:srgbClr val="C4C4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4" tIns="45724" rIns="45724" bIns="45724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6877656" name="TextBox 86877655"/>
          <p:cNvSpPr txBox="1"/>
          <p:nvPr/>
        </p:nvSpPr>
        <p:spPr bwMode="auto">
          <a:xfrm>
            <a:off x="354012" y="814932"/>
            <a:ext cx="6343757" cy="279435"/>
          </a:xfrm>
          <a:prstGeom prst="rect">
            <a:avLst/>
          </a:prstGeom>
          <a:noFill/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R="0" lvl="0" algn="l">
              <a:lnSpc>
                <a:spcPct val="1000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ts val="1900"/>
              <a:defRPr/>
            </a:pPr>
            <a:r>
              <a:rPr lang="ru-RU" sz="1600" u="sng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Описание процесса </a:t>
            </a:r>
            <a:r>
              <a:rPr lang="en-US" sz="1600" u="sng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IS</a:t>
            </a:r>
            <a:r>
              <a:rPr lang="ru-RU" sz="1600" u="sng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7087585" y="3086982"/>
            <a:ext cx="1404878" cy="1170750"/>
            <a:chOff x="2963250" y="957750"/>
            <a:chExt cx="1404878" cy="1170750"/>
          </a:xfrm>
        </p:grpSpPr>
        <p:sp>
          <p:nvSpPr>
            <p:cNvPr id="3" name="Прямоугольник: скругленные углы 2"/>
            <p:cNvSpPr/>
            <p:nvPr/>
          </p:nvSpPr>
          <p:spPr bwMode="auto">
            <a:xfrm>
              <a:off x="3105000" y="1036500"/>
              <a:ext cx="876750" cy="1092000"/>
            </a:xfrm>
            <a:prstGeom prst="roundRect">
              <a:avLst>
                <a:gd name="adj" fmla="val 6549"/>
              </a:avLst>
            </a:prstGeom>
            <a:solidFill>
              <a:srgbClr val="F3F4F7"/>
            </a:solidFill>
            <a:ln w="63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" name="Полилиния: фигура 3"/>
            <p:cNvSpPr/>
            <p:nvPr/>
          </p:nvSpPr>
          <p:spPr bwMode="auto">
            <a:xfrm>
              <a:off x="3031500" y="957750"/>
              <a:ext cx="876750" cy="1097250"/>
            </a:xfrm>
            <a:custGeom>
              <a:avLst/>
              <a:gdLst>
                <a:gd name="connsiteX0" fmla="*/ 876750 w 876750"/>
                <a:gd name="connsiteY0" fmla="*/ 1044750 h 1097250"/>
                <a:gd name="connsiteX1" fmla="*/ 876750 w 876750"/>
                <a:gd name="connsiteY1" fmla="*/ 52500 h 1097250"/>
                <a:gd name="connsiteX2" fmla="*/ 824250 w 876750"/>
                <a:gd name="connsiteY2" fmla="*/ 0 h 1097250"/>
                <a:gd name="connsiteX3" fmla="*/ 632783 w 876750"/>
                <a:gd name="connsiteY3" fmla="*/ 0 h 1097250"/>
                <a:gd name="connsiteX4" fmla="*/ 585533 w 876750"/>
                <a:gd name="connsiteY4" fmla="*/ 0 h 1097250"/>
                <a:gd name="connsiteX5" fmla="*/ 52500 w 876750"/>
                <a:gd name="connsiteY5" fmla="*/ 0 h 1097250"/>
                <a:gd name="connsiteX6" fmla="*/ 0 w 876750"/>
                <a:gd name="connsiteY6" fmla="*/ 52500 h 1097250"/>
                <a:gd name="connsiteX7" fmla="*/ 0 w 876750"/>
                <a:gd name="connsiteY7" fmla="*/ 223503 h 1097250"/>
                <a:gd name="connsiteX8" fmla="*/ 0 w 876750"/>
                <a:gd name="connsiteY8" fmla="*/ 890253 h 1097250"/>
                <a:gd name="connsiteX9" fmla="*/ 0 w 876750"/>
                <a:gd name="connsiteY9" fmla="*/ 1044750 h 1097250"/>
                <a:gd name="connsiteX10" fmla="*/ 52500 w 876750"/>
                <a:gd name="connsiteY10" fmla="*/ 1097250 h 1097250"/>
                <a:gd name="connsiteX11" fmla="*/ 123375 w 876750"/>
                <a:gd name="connsiteY11" fmla="*/ 1097250 h 1097250"/>
                <a:gd name="connsiteX12" fmla="*/ 183750 w 876750"/>
                <a:gd name="connsiteY12" fmla="*/ 1097250 h 1097250"/>
                <a:gd name="connsiteX13" fmla="*/ 824250 w 876750"/>
                <a:gd name="connsiteY13" fmla="*/ 1097250 h 1097250"/>
                <a:gd name="connsiteX14" fmla="*/ 876750 w 876750"/>
                <a:gd name="connsiteY14" fmla="*/ 1044750 h 109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6750" h="1097250" extrusionOk="0">
                  <a:moveTo>
                    <a:pt x="876750" y="1044750"/>
                  </a:moveTo>
                  <a:lnTo>
                    <a:pt x="876750" y="52500"/>
                  </a:lnTo>
                  <a:cubicBezTo>
                    <a:pt x="876750" y="23504"/>
                    <a:pt x="853246" y="0"/>
                    <a:pt x="824250" y="0"/>
                  </a:cubicBezTo>
                  <a:lnTo>
                    <a:pt x="632783" y="0"/>
                  </a:lnTo>
                  <a:lnTo>
                    <a:pt x="585533" y="0"/>
                  </a:lnTo>
                  <a:lnTo>
                    <a:pt x="52500" y="0"/>
                  </a:lnTo>
                  <a:cubicBezTo>
                    <a:pt x="23504" y="0"/>
                    <a:pt x="0" y="23504"/>
                    <a:pt x="0" y="52500"/>
                  </a:cubicBezTo>
                  <a:lnTo>
                    <a:pt x="0" y="223503"/>
                  </a:lnTo>
                  <a:lnTo>
                    <a:pt x="0" y="890253"/>
                  </a:lnTo>
                  <a:lnTo>
                    <a:pt x="0" y="1044750"/>
                  </a:lnTo>
                  <a:cubicBezTo>
                    <a:pt x="0" y="1073746"/>
                    <a:pt x="23504" y="1097250"/>
                    <a:pt x="52500" y="1097250"/>
                  </a:cubicBezTo>
                  <a:lnTo>
                    <a:pt x="123375" y="1097250"/>
                  </a:lnTo>
                  <a:lnTo>
                    <a:pt x="183750" y="1097250"/>
                  </a:lnTo>
                  <a:lnTo>
                    <a:pt x="824250" y="1097250"/>
                  </a:lnTo>
                  <a:cubicBezTo>
                    <a:pt x="853246" y="1097250"/>
                    <a:pt x="876750" y="1073746"/>
                    <a:pt x="876750" y="1044750"/>
                  </a:cubicBezTo>
                  <a:close/>
                </a:path>
              </a:pathLst>
            </a:custGeom>
            <a:solidFill>
              <a:srgbClr val="FFFFFF"/>
            </a:solidFill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" name="Полилиния: фигура 4"/>
            <p:cNvSpPr/>
            <p:nvPr/>
          </p:nvSpPr>
          <p:spPr bwMode="auto">
            <a:xfrm>
              <a:off x="2963250" y="1053431"/>
              <a:ext cx="120870" cy="120865"/>
            </a:xfrm>
            <a:custGeom>
              <a:avLst/>
              <a:gdLst>
                <a:gd name="connsiteX0" fmla="*/ 120871 w 120870"/>
                <a:gd name="connsiteY0" fmla="*/ 60433 h 120865"/>
                <a:gd name="connsiteX1" fmla="*/ 60433 w 120870"/>
                <a:gd name="connsiteY1" fmla="*/ 0 h 120865"/>
                <a:gd name="connsiteX2" fmla="*/ 0 w 120870"/>
                <a:gd name="connsiteY2" fmla="*/ 60433 h 120865"/>
                <a:gd name="connsiteX3" fmla="*/ 60433 w 120870"/>
                <a:gd name="connsiteY3" fmla="*/ 120865 h 120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870" h="120865" extrusionOk="0">
                  <a:moveTo>
                    <a:pt x="120871" y="60433"/>
                  </a:moveTo>
                  <a:cubicBezTo>
                    <a:pt x="120871" y="27053"/>
                    <a:pt x="93812" y="0"/>
                    <a:pt x="60433" y="0"/>
                  </a:cubicBezTo>
                  <a:cubicBezTo>
                    <a:pt x="27059" y="0"/>
                    <a:pt x="0" y="27053"/>
                    <a:pt x="0" y="60433"/>
                  </a:cubicBezTo>
                  <a:cubicBezTo>
                    <a:pt x="0" y="93807"/>
                    <a:pt x="27059" y="120865"/>
                    <a:pt x="60433" y="120865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" name="Полилиния: фигура 5"/>
            <p:cNvSpPr/>
            <p:nvPr/>
          </p:nvSpPr>
          <p:spPr bwMode="auto">
            <a:xfrm>
              <a:off x="2963250" y="1251203"/>
              <a:ext cx="120870" cy="120870"/>
            </a:xfrm>
            <a:custGeom>
              <a:avLst/>
              <a:gdLst>
                <a:gd name="connsiteX0" fmla="*/ 120871 w 120870"/>
                <a:gd name="connsiteY0" fmla="*/ 60438 h 120870"/>
                <a:gd name="connsiteX1" fmla="*/ 60433 w 120870"/>
                <a:gd name="connsiteY1" fmla="*/ 0 h 120870"/>
                <a:gd name="connsiteX2" fmla="*/ 0 w 120870"/>
                <a:gd name="connsiteY2" fmla="*/ 60438 h 120870"/>
                <a:gd name="connsiteX3" fmla="*/ 60433 w 120870"/>
                <a:gd name="connsiteY3" fmla="*/ 120871 h 12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870" h="120870" extrusionOk="0">
                  <a:moveTo>
                    <a:pt x="120871" y="60438"/>
                  </a:moveTo>
                  <a:cubicBezTo>
                    <a:pt x="120871" y="27059"/>
                    <a:pt x="93812" y="0"/>
                    <a:pt x="60433" y="0"/>
                  </a:cubicBezTo>
                  <a:cubicBezTo>
                    <a:pt x="27059" y="0"/>
                    <a:pt x="0" y="27059"/>
                    <a:pt x="0" y="60438"/>
                  </a:cubicBezTo>
                  <a:cubicBezTo>
                    <a:pt x="0" y="93812"/>
                    <a:pt x="27059" y="120871"/>
                    <a:pt x="60433" y="120871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2963250" y="1448992"/>
              <a:ext cx="120870" cy="120870"/>
            </a:xfrm>
            <a:custGeom>
              <a:avLst/>
              <a:gdLst>
                <a:gd name="connsiteX0" fmla="*/ 120871 w 120870"/>
                <a:gd name="connsiteY0" fmla="*/ 60438 h 120870"/>
                <a:gd name="connsiteX1" fmla="*/ 60433 w 120870"/>
                <a:gd name="connsiteY1" fmla="*/ 0 h 120870"/>
                <a:gd name="connsiteX2" fmla="*/ 0 w 120870"/>
                <a:gd name="connsiteY2" fmla="*/ 60438 h 120870"/>
                <a:gd name="connsiteX3" fmla="*/ 60433 w 120870"/>
                <a:gd name="connsiteY3" fmla="*/ 120871 h 12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870" h="120870" extrusionOk="0">
                  <a:moveTo>
                    <a:pt x="120871" y="60438"/>
                  </a:moveTo>
                  <a:cubicBezTo>
                    <a:pt x="120871" y="27058"/>
                    <a:pt x="93812" y="0"/>
                    <a:pt x="60433" y="0"/>
                  </a:cubicBezTo>
                  <a:cubicBezTo>
                    <a:pt x="27059" y="0"/>
                    <a:pt x="0" y="27058"/>
                    <a:pt x="0" y="60438"/>
                  </a:cubicBezTo>
                  <a:cubicBezTo>
                    <a:pt x="0" y="93812"/>
                    <a:pt x="27059" y="120871"/>
                    <a:pt x="60433" y="120871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Полилиния: фигура 7"/>
            <p:cNvSpPr/>
            <p:nvPr/>
          </p:nvSpPr>
          <p:spPr bwMode="auto">
            <a:xfrm>
              <a:off x="2963250" y="1646780"/>
              <a:ext cx="120870" cy="120870"/>
            </a:xfrm>
            <a:custGeom>
              <a:avLst/>
              <a:gdLst>
                <a:gd name="connsiteX0" fmla="*/ 120871 w 120870"/>
                <a:gd name="connsiteY0" fmla="*/ 60433 h 120870"/>
                <a:gd name="connsiteX1" fmla="*/ 60433 w 120870"/>
                <a:gd name="connsiteY1" fmla="*/ 0 h 120870"/>
                <a:gd name="connsiteX2" fmla="*/ 0 w 120870"/>
                <a:gd name="connsiteY2" fmla="*/ 60433 h 120870"/>
                <a:gd name="connsiteX3" fmla="*/ 60433 w 120870"/>
                <a:gd name="connsiteY3" fmla="*/ 120871 h 12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870" h="120870" extrusionOk="0">
                  <a:moveTo>
                    <a:pt x="120871" y="60433"/>
                  </a:moveTo>
                  <a:cubicBezTo>
                    <a:pt x="120871" y="27059"/>
                    <a:pt x="93812" y="0"/>
                    <a:pt x="60433" y="0"/>
                  </a:cubicBezTo>
                  <a:cubicBezTo>
                    <a:pt x="27059" y="0"/>
                    <a:pt x="0" y="27059"/>
                    <a:pt x="0" y="60433"/>
                  </a:cubicBezTo>
                  <a:cubicBezTo>
                    <a:pt x="0" y="93812"/>
                    <a:pt x="27059" y="120871"/>
                    <a:pt x="60433" y="120871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" name="Полилиния: фигура 8"/>
            <p:cNvSpPr/>
            <p:nvPr/>
          </p:nvSpPr>
          <p:spPr bwMode="auto">
            <a:xfrm>
              <a:off x="2963250" y="1844558"/>
              <a:ext cx="120870" cy="120870"/>
            </a:xfrm>
            <a:custGeom>
              <a:avLst/>
              <a:gdLst>
                <a:gd name="connsiteX0" fmla="*/ 120871 w 120870"/>
                <a:gd name="connsiteY0" fmla="*/ 60433 h 120870"/>
                <a:gd name="connsiteX1" fmla="*/ 60433 w 120870"/>
                <a:gd name="connsiteY1" fmla="*/ 0 h 120870"/>
                <a:gd name="connsiteX2" fmla="*/ 0 w 120870"/>
                <a:gd name="connsiteY2" fmla="*/ 60433 h 120870"/>
                <a:gd name="connsiteX3" fmla="*/ 60433 w 120870"/>
                <a:gd name="connsiteY3" fmla="*/ 120871 h 12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870" h="120870" extrusionOk="0">
                  <a:moveTo>
                    <a:pt x="120871" y="60433"/>
                  </a:moveTo>
                  <a:cubicBezTo>
                    <a:pt x="120871" y="27059"/>
                    <a:pt x="93812" y="0"/>
                    <a:pt x="60433" y="0"/>
                  </a:cubicBezTo>
                  <a:cubicBezTo>
                    <a:pt x="27059" y="0"/>
                    <a:pt x="0" y="27059"/>
                    <a:pt x="0" y="60433"/>
                  </a:cubicBezTo>
                  <a:cubicBezTo>
                    <a:pt x="0" y="93812"/>
                    <a:pt x="27059" y="120871"/>
                    <a:pt x="60433" y="120871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" name="Полилиния: фигура 9"/>
            <p:cNvSpPr/>
            <p:nvPr/>
          </p:nvSpPr>
          <p:spPr bwMode="auto">
            <a:xfrm>
              <a:off x="3189000" y="1141500"/>
              <a:ext cx="577500" cy="5250"/>
            </a:xfrm>
            <a:custGeom>
              <a:avLst/>
              <a:gdLst>
                <a:gd name="connsiteX0" fmla="*/ 0 w 577500"/>
                <a:gd name="connsiteY0" fmla="*/ 0 h 5250"/>
                <a:gd name="connsiteX1" fmla="*/ 352501 w 577500"/>
                <a:gd name="connsiteY1" fmla="*/ 0 h 5250"/>
                <a:gd name="connsiteX2" fmla="*/ 415002 w 577500"/>
                <a:gd name="connsiteY2" fmla="*/ 0 h 5250"/>
                <a:gd name="connsiteX3" fmla="*/ 577500 w 577500"/>
                <a:gd name="connsiteY3" fmla="*/ 0 h 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7500" h="5250" extrusionOk="0">
                  <a:moveTo>
                    <a:pt x="0" y="0"/>
                  </a:moveTo>
                  <a:lnTo>
                    <a:pt x="352501" y="0"/>
                  </a:lnTo>
                  <a:moveTo>
                    <a:pt x="415002" y="0"/>
                  </a:moveTo>
                  <a:lnTo>
                    <a:pt x="577500" y="0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 bwMode="auto">
            <a:xfrm>
              <a:off x="3189000" y="1409250"/>
              <a:ext cx="572250" cy="5250"/>
            </a:xfrm>
            <a:custGeom>
              <a:avLst/>
              <a:gdLst>
                <a:gd name="connsiteX0" fmla="*/ 0 w 572250"/>
                <a:gd name="connsiteY0" fmla="*/ 0 h 5250"/>
                <a:gd name="connsiteX1" fmla="*/ 95529 w 572250"/>
                <a:gd name="connsiteY1" fmla="*/ 0 h 5250"/>
                <a:gd name="connsiteX2" fmla="*/ 572250 w 572250"/>
                <a:gd name="connsiteY2" fmla="*/ 0 h 5250"/>
                <a:gd name="connsiteX3" fmla="*/ 145157 w 572250"/>
                <a:gd name="connsiteY3" fmla="*/ 0 h 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2250" h="5250" extrusionOk="0">
                  <a:moveTo>
                    <a:pt x="0" y="0"/>
                  </a:moveTo>
                  <a:lnTo>
                    <a:pt x="95529" y="0"/>
                  </a:lnTo>
                  <a:moveTo>
                    <a:pt x="572250" y="0"/>
                  </a:moveTo>
                  <a:lnTo>
                    <a:pt x="145157" y="0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2" name="Полилиния: фигура 11"/>
            <p:cNvSpPr/>
            <p:nvPr/>
          </p:nvSpPr>
          <p:spPr bwMode="auto">
            <a:xfrm>
              <a:off x="3189000" y="1272750"/>
              <a:ext cx="567000" cy="5250"/>
            </a:xfrm>
            <a:custGeom>
              <a:avLst/>
              <a:gdLst>
                <a:gd name="connsiteX0" fmla="*/ 0 w 567000"/>
                <a:gd name="connsiteY0" fmla="*/ 0 h 5250"/>
                <a:gd name="connsiteX1" fmla="*/ 567000 w 567000"/>
                <a:gd name="connsiteY1" fmla="*/ 0 h 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7000" h="5250" extrusionOk="0">
                  <a:moveTo>
                    <a:pt x="0" y="0"/>
                  </a:moveTo>
                  <a:lnTo>
                    <a:pt x="567000" y="0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Полилиния: фигура 12"/>
            <p:cNvSpPr/>
            <p:nvPr/>
          </p:nvSpPr>
          <p:spPr bwMode="auto">
            <a:xfrm>
              <a:off x="3189000" y="1541261"/>
              <a:ext cx="567000" cy="5250"/>
            </a:xfrm>
            <a:custGeom>
              <a:avLst/>
              <a:gdLst>
                <a:gd name="connsiteX0" fmla="*/ 0 w 567000"/>
                <a:gd name="connsiteY0" fmla="*/ 0 h 5250"/>
                <a:gd name="connsiteX1" fmla="*/ 567000 w 567000"/>
                <a:gd name="connsiteY1" fmla="*/ 0 h 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7000" h="5250" extrusionOk="0">
                  <a:moveTo>
                    <a:pt x="0" y="0"/>
                  </a:moveTo>
                  <a:lnTo>
                    <a:pt x="567000" y="0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" name="Полилиния: фигура 13"/>
            <p:cNvSpPr/>
            <p:nvPr/>
          </p:nvSpPr>
          <p:spPr bwMode="auto">
            <a:xfrm>
              <a:off x="3189000" y="1675514"/>
              <a:ext cx="567000" cy="5250"/>
            </a:xfrm>
            <a:custGeom>
              <a:avLst/>
              <a:gdLst>
                <a:gd name="connsiteX0" fmla="*/ 0 w 567000"/>
                <a:gd name="connsiteY0" fmla="*/ 0 h 5250"/>
                <a:gd name="connsiteX1" fmla="*/ 567000 w 567000"/>
                <a:gd name="connsiteY1" fmla="*/ 0 h 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7000" h="5250" extrusionOk="0">
                  <a:moveTo>
                    <a:pt x="0" y="0"/>
                  </a:moveTo>
                  <a:lnTo>
                    <a:pt x="567000" y="0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Полилиния: фигура 14"/>
            <p:cNvSpPr/>
            <p:nvPr/>
          </p:nvSpPr>
          <p:spPr bwMode="auto">
            <a:xfrm>
              <a:off x="3189000" y="1813500"/>
              <a:ext cx="317625" cy="5250"/>
            </a:xfrm>
            <a:custGeom>
              <a:avLst/>
              <a:gdLst>
                <a:gd name="connsiteX0" fmla="*/ 0 w 317625"/>
                <a:gd name="connsiteY0" fmla="*/ 0 h 5250"/>
                <a:gd name="connsiteX1" fmla="*/ 317625 w 317625"/>
                <a:gd name="connsiteY1" fmla="*/ 0 h 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25" h="5250" extrusionOk="0">
                  <a:moveTo>
                    <a:pt x="0" y="0"/>
                  </a:moveTo>
                  <a:cubicBezTo>
                    <a:pt x="217875" y="0"/>
                    <a:pt x="317625" y="0"/>
                    <a:pt x="317625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Полилиния: фигура 15"/>
            <p:cNvSpPr/>
            <p:nvPr/>
          </p:nvSpPr>
          <p:spPr bwMode="auto">
            <a:xfrm>
              <a:off x="3567156" y="1276589"/>
              <a:ext cx="639387" cy="694410"/>
            </a:xfrm>
            <a:custGeom>
              <a:avLst/>
              <a:gdLst>
                <a:gd name="connsiteX0" fmla="*/ 510242 w 639387"/>
                <a:gd name="connsiteY0" fmla="*/ 4209 h 694410"/>
                <a:gd name="connsiteX1" fmla="*/ 634357 w 639387"/>
                <a:gd name="connsiteY1" fmla="*/ 119452 h 694410"/>
                <a:gd name="connsiteX2" fmla="*/ 635313 w 639387"/>
                <a:gd name="connsiteY2" fmla="*/ 141565 h 694410"/>
                <a:gd name="connsiteX3" fmla="*/ 611468 w 639387"/>
                <a:gd name="connsiteY3" fmla="*/ 167909 h 694410"/>
                <a:gd name="connsiteX4" fmla="*/ 600968 w 639387"/>
                <a:gd name="connsiteY4" fmla="*/ 187786 h 694410"/>
                <a:gd name="connsiteX5" fmla="*/ 590468 w 639387"/>
                <a:gd name="connsiteY5" fmla="*/ 198286 h 694410"/>
                <a:gd name="connsiteX6" fmla="*/ 572093 w 639387"/>
                <a:gd name="connsiteY6" fmla="*/ 219286 h 694410"/>
                <a:gd name="connsiteX7" fmla="*/ 558968 w 639387"/>
                <a:gd name="connsiteY7" fmla="*/ 225901 h 694410"/>
                <a:gd name="connsiteX8" fmla="*/ 486539 w 639387"/>
                <a:gd name="connsiteY8" fmla="*/ 305911 h 694410"/>
                <a:gd name="connsiteX9" fmla="*/ 450891 w 639387"/>
                <a:gd name="connsiteY9" fmla="*/ 345286 h 694410"/>
                <a:gd name="connsiteX10" fmla="*/ 194250 w 639387"/>
                <a:gd name="connsiteY10" fmla="*/ 628786 h 694410"/>
                <a:gd name="connsiteX11" fmla="*/ 0 w 639387"/>
                <a:gd name="connsiteY11" fmla="*/ 694411 h 694410"/>
                <a:gd name="connsiteX12" fmla="*/ 34125 w 639387"/>
                <a:gd name="connsiteY12" fmla="*/ 489661 h 694410"/>
                <a:gd name="connsiteX13" fmla="*/ 415170 w 639387"/>
                <a:gd name="connsiteY13" fmla="*/ 82786 h 694410"/>
                <a:gd name="connsiteX14" fmla="*/ 422468 w 639387"/>
                <a:gd name="connsiteY14" fmla="*/ 64411 h 694410"/>
                <a:gd name="connsiteX15" fmla="*/ 435593 w 639387"/>
                <a:gd name="connsiteY15" fmla="*/ 53911 h 694410"/>
                <a:gd name="connsiteX16" fmla="*/ 453968 w 639387"/>
                <a:gd name="connsiteY16" fmla="*/ 32911 h 694410"/>
                <a:gd name="connsiteX17" fmla="*/ 466793 w 639387"/>
                <a:gd name="connsiteY17" fmla="*/ 27661 h 694410"/>
                <a:gd name="connsiteX18" fmla="*/ 488030 w 639387"/>
                <a:gd name="connsiteY18" fmla="*/ 4981 h 694410"/>
                <a:gd name="connsiteX19" fmla="*/ 510242 w 639387"/>
                <a:gd name="connsiteY19" fmla="*/ 4209 h 694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39387" h="694410" extrusionOk="0">
                  <a:moveTo>
                    <a:pt x="510242" y="4209"/>
                  </a:moveTo>
                  <a:lnTo>
                    <a:pt x="634357" y="119452"/>
                  </a:lnTo>
                  <a:cubicBezTo>
                    <a:pt x="640673" y="125321"/>
                    <a:pt x="641099" y="135175"/>
                    <a:pt x="635313" y="141565"/>
                  </a:cubicBezTo>
                  <a:lnTo>
                    <a:pt x="611468" y="167909"/>
                  </a:lnTo>
                  <a:lnTo>
                    <a:pt x="600968" y="187786"/>
                  </a:lnTo>
                  <a:lnTo>
                    <a:pt x="590468" y="198286"/>
                  </a:lnTo>
                  <a:lnTo>
                    <a:pt x="572093" y="219286"/>
                  </a:lnTo>
                  <a:lnTo>
                    <a:pt x="558968" y="225901"/>
                  </a:lnTo>
                  <a:lnTo>
                    <a:pt x="486539" y="305911"/>
                  </a:lnTo>
                  <a:lnTo>
                    <a:pt x="450891" y="345286"/>
                  </a:lnTo>
                  <a:lnTo>
                    <a:pt x="194250" y="628786"/>
                  </a:lnTo>
                  <a:lnTo>
                    <a:pt x="0" y="694411"/>
                  </a:lnTo>
                  <a:lnTo>
                    <a:pt x="34125" y="489661"/>
                  </a:lnTo>
                  <a:lnTo>
                    <a:pt x="415170" y="82786"/>
                  </a:lnTo>
                  <a:lnTo>
                    <a:pt x="422468" y="64411"/>
                  </a:lnTo>
                  <a:lnTo>
                    <a:pt x="435593" y="53911"/>
                  </a:lnTo>
                  <a:lnTo>
                    <a:pt x="453968" y="32911"/>
                  </a:lnTo>
                  <a:lnTo>
                    <a:pt x="466793" y="27661"/>
                  </a:lnTo>
                  <a:lnTo>
                    <a:pt x="488030" y="4981"/>
                  </a:lnTo>
                  <a:cubicBezTo>
                    <a:pt x="493957" y="-1346"/>
                    <a:pt x="503890" y="-1692"/>
                    <a:pt x="510242" y="4209"/>
                  </a:cubicBezTo>
                  <a:close/>
                </a:path>
              </a:pathLst>
            </a:custGeom>
            <a:solidFill>
              <a:srgbClr val="4BD0A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Полилиния: фигура 16"/>
            <p:cNvSpPr/>
            <p:nvPr/>
          </p:nvSpPr>
          <p:spPr bwMode="auto">
            <a:xfrm>
              <a:off x="3582750" y="1766248"/>
              <a:ext cx="173624" cy="173575"/>
            </a:xfrm>
            <a:custGeom>
              <a:avLst/>
              <a:gdLst>
                <a:gd name="connsiteX0" fmla="*/ 15750 w 173624"/>
                <a:gd name="connsiteY0" fmla="*/ 326 h 173575"/>
                <a:gd name="connsiteX1" fmla="*/ 0 w 173624"/>
                <a:gd name="connsiteY1" fmla="*/ 102701 h 173575"/>
                <a:gd name="connsiteX2" fmla="*/ 47250 w 173624"/>
                <a:gd name="connsiteY2" fmla="*/ 126326 h 173575"/>
                <a:gd name="connsiteX3" fmla="*/ 78750 w 173624"/>
                <a:gd name="connsiteY3" fmla="*/ 173576 h 173575"/>
                <a:gd name="connsiteX4" fmla="*/ 170625 w 173624"/>
                <a:gd name="connsiteY4" fmla="*/ 147326 h 173575"/>
                <a:gd name="connsiteX5" fmla="*/ 162750 w 173624"/>
                <a:gd name="connsiteY5" fmla="*/ 113201 h 173575"/>
                <a:gd name="connsiteX6" fmla="*/ 123375 w 173624"/>
                <a:gd name="connsiteY6" fmla="*/ 97451 h 173575"/>
                <a:gd name="connsiteX7" fmla="*/ 112875 w 173624"/>
                <a:gd name="connsiteY7" fmla="*/ 55451 h 173575"/>
                <a:gd name="connsiteX8" fmla="*/ 65625 w 173624"/>
                <a:gd name="connsiteY8" fmla="*/ 44951 h 173575"/>
                <a:gd name="connsiteX9" fmla="*/ 47250 w 173624"/>
                <a:gd name="connsiteY9" fmla="*/ 8201 h 173575"/>
                <a:gd name="connsiteX10" fmla="*/ 15750 w 173624"/>
                <a:gd name="connsiteY10" fmla="*/ 326 h 173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3624" h="173575" extrusionOk="0">
                  <a:moveTo>
                    <a:pt x="15750" y="326"/>
                  </a:moveTo>
                  <a:lnTo>
                    <a:pt x="0" y="102701"/>
                  </a:lnTo>
                  <a:cubicBezTo>
                    <a:pt x="10500" y="106202"/>
                    <a:pt x="34650" y="115826"/>
                    <a:pt x="47250" y="126326"/>
                  </a:cubicBezTo>
                  <a:cubicBezTo>
                    <a:pt x="59850" y="136826"/>
                    <a:pt x="73500" y="162204"/>
                    <a:pt x="78750" y="173576"/>
                  </a:cubicBezTo>
                  <a:lnTo>
                    <a:pt x="170625" y="147326"/>
                  </a:lnTo>
                  <a:cubicBezTo>
                    <a:pt x="174127" y="144701"/>
                    <a:pt x="177450" y="134201"/>
                    <a:pt x="162750" y="113201"/>
                  </a:cubicBezTo>
                  <a:cubicBezTo>
                    <a:pt x="148050" y="92201"/>
                    <a:pt x="130373" y="93954"/>
                    <a:pt x="123375" y="97451"/>
                  </a:cubicBezTo>
                  <a:cubicBezTo>
                    <a:pt x="124252" y="88704"/>
                    <a:pt x="123375" y="68051"/>
                    <a:pt x="112875" y="55451"/>
                  </a:cubicBezTo>
                  <a:cubicBezTo>
                    <a:pt x="102375" y="42850"/>
                    <a:pt x="77002" y="43202"/>
                    <a:pt x="65625" y="44951"/>
                  </a:cubicBezTo>
                  <a:cubicBezTo>
                    <a:pt x="63877" y="36204"/>
                    <a:pt x="57750" y="16600"/>
                    <a:pt x="47250" y="8201"/>
                  </a:cubicBezTo>
                  <a:cubicBezTo>
                    <a:pt x="36750" y="-199"/>
                    <a:pt x="21877" y="-546"/>
                    <a:pt x="15750" y="3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Полилиния: фигура 17"/>
            <p:cNvSpPr/>
            <p:nvPr/>
          </p:nvSpPr>
          <p:spPr bwMode="auto">
            <a:xfrm>
              <a:off x="3564921" y="1280421"/>
              <a:ext cx="637469" cy="690977"/>
            </a:xfrm>
            <a:custGeom>
              <a:avLst/>
              <a:gdLst>
                <a:gd name="connsiteX0" fmla="*/ 191945 w 637469"/>
                <a:gd name="connsiteY0" fmla="*/ 630046 h 690977"/>
                <a:gd name="connsiteX1" fmla="*/ 138469 w 637469"/>
                <a:gd name="connsiteY1" fmla="*/ 580297 h 690977"/>
                <a:gd name="connsiteX2" fmla="*/ 191945 w 637469"/>
                <a:gd name="connsiteY2" fmla="*/ 630046 h 690977"/>
                <a:gd name="connsiteX3" fmla="*/ 95970 w 637469"/>
                <a:gd name="connsiteY3" fmla="*/ 660512 h 690977"/>
                <a:gd name="connsiteX4" fmla="*/ 191945 w 637469"/>
                <a:gd name="connsiteY4" fmla="*/ 630046 h 690977"/>
                <a:gd name="connsiteX5" fmla="*/ 466494 w 637469"/>
                <a:gd name="connsiteY5" fmla="*/ 329583 h 690977"/>
                <a:gd name="connsiteX6" fmla="*/ 500167 w 637469"/>
                <a:gd name="connsiteY6" fmla="*/ 292728 h 690977"/>
                <a:gd name="connsiteX7" fmla="*/ 566528 w 637469"/>
                <a:gd name="connsiteY7" fmla="*/ 220110 h 690977"/>
                <a:gd name="connsiteX8" fmla="*/ 32419 w 637469"/>
                <a:gd name="connsiteY8" fmla="*/ 481644 h 690977"/>
                <a:gd name="connsiteX9" fmla="*/ 414251 w 637469"/>
                <a:gd name="connsiteY9" fmla="*/ 78455 h 690977"/>
                <a:gd name="connsiteX10" fmla="*/ 32419 w 637469"/>
                <a:gd name="connsiteY10" fmla="*/ 481644 h 690977"/>
                <a:gd name="connsiteX11" fmla="*/ 84992 w 637469"/>
                <a:gd name="connsiteY11" fmla="*/ 530553 h 690977"/>
                <a:gd name="connsiteX12" fmla="*/ 32419 w 637469"/>
                <a:gd name="connsiteY12" fmla="*/ 481644 h 690977"/>
                <a:gd name="connsiteX13" fmla="*/ 16212 w 637469"/>
                <a:gd name="connsiteY13" fmla="*/ 586313 h 690977"/>
                <a:gd name="connsiteX14" fmla="*/ 466494 w 637469"/>
                <a:gd name="connsiteY14" fmla="*/ 25319 h 690977"/>
                <a:gd name="connsiteX15" fmla="*/ 478952 w 637469"/>
                <a:gd name="connsiteY15" fmla="*/ 10903 h 690977"/>
                <a:gd name="connsiteX16" fmla="*/ 524076 w 637469"/>
                <a:gd name="connsiteY16" fmla="*/ 8288 h 690977"/>
                <a:gd name="connsiteX17" fmla="*/ 627265 w 637469"/>
                <a:gd name="connsiteY17" fmla="*/ 102941 h 690977"/>
                <a:gd name="connsiteX18" fmla="*/ 630226 w 637469"/>
                <a:gd name="connsiteY18" fmla="*/ 146253 h 690977"/>
                <a:gd name="connsiteX19" fmla="*/ 616003 w 637469"/>
                <a:gd name="connsiteY19" fmla="*/ 163415 h 690977"/>
                <a:gd name="connsiteX20" fmla="*/ 466494 w 637469"/>
                <a:gd name="connsiteY20" fmla="*/ 25319 h 690977"/>
                <a:gd name="connsiteX21" fmla="*/ 464016 w 637469"/>
                <a:gd name="connsiteY21" fmla="*/ 24962 h 690977"/>
                <a:gd name="connsiteX22" fmla="*/ 439136 w 637469"/>
                <a:gd name="connsiteY22" fmla="*/ 51711 h 690977"/>
                <a:gd name="connsiteX23" fmla="*/ 466494 w 637469"/>
                <a:gd name="connsiteY23" fmla="*/ 25319 h 690977"/>
                <a:gd name="connsiteX24" fmla="*/ 616003 w 637469"/>
                <a:gd name="connsiteY24" fmla="*/ 163415 h 690977"/>
                <a:gd name="connsiteX25" fmla="*/ 616003 w 637469"/>
                <a:gd name="connsiteY25" fmla="*/ 163415 h 690977"/>
                <a:gd name="connsiteX26" fmla="*/ 616292 w 637469"/>
                <a:gd name="connsiteY26" fmla="*/ 166613 h 690977"/>
                <a:gd name="connsiteX27" fmla="*/ 591407 w 637469"/>
                <a:gd name="connsiteY27" fmla="*/ 193361 h 690977"/>
                <a:gd name="connsiteX28" fmla="*/ 414251 w 637469"/>
                <a:gd name="connsiteY28" fmla="*/ 78455 h 690977"/>
                <a:gd name="connsiteX29" fmla="*/ 439136 w 637469"/>
                <a:gd name="connsiteY29" fmla="*/ 51711 h 690977"/>
                <a:gd name="connsiteX30" fmla="*/ 414251 w 637469"/>
                <a:gd name="connsiteY30" fmla="*/ 78455 h 690977"/>
                <a:gd name="connsiteX31" fmla="*/ 460903 w 637469"/>
                <a:gd name="connsiteY31" fmla="*/ 119184 h 690977"/>
                <a:gd name="connsiteX32" fmla="*/ 566528 w 637469"/>
                <a:gd name="connsiteY32" fmla="*/ 220110 h 690977"/>
                <a:gd name="connsiteX33" fmla="*/ 591407 w 637469"/>
                <a:gd name="connsiteY33" fmla="*/ 193361 h 690977"/>
                <a:gd name="connsiteX34" fmla="*/ 566528 w 637469"/>
                <a:gd name="connsiteY34" fmla="*/ 220110 h 690977"/>
                <a:gd name="connsiteX35" fmla="*/ 521666 w 637469"/>
                <a:gd name="connsiteY35" fmla="*/ 175706 h 690977"/>
                <a:gd name="connsiteX36" fmla="*/ 439136 w 637469"/>
                <a:gd name="connsiteY36" fmla="*/ 51711 h 690977"/>
                <a:gd name="connsiteX37" fmla="*/ 450634 w 637469"/>
                <a:gd name="connsiteY37" fmla="*/ 60836 h 690977"/>
                <a:gd name="connsiteX38" fmla="*/ 591407 w 637469"/>
                <a:gd name="connsiteY38" fmla="*/ 193361 h 690977"/>
                <a:gd name="connsiteX39" fmla="*/ 582309 w 637469"/>
                <a:gd name="connsiteY39" fmla="*/ 186710 h 690977"/>
                <a:gd name="connsiteX40" fmla="*/ 84992 w 637469"/>
                <a:gd name="connsiteY40" fmla="*/ 530553 h 690977"/>
                <a:gd name="connsiteX41" fmla="*/ 138469 w 637469"/>
                <a:gd name="connsiteY41" fmla="*/ 580297 h 690977"/>
                <a:gd name="connsiteX42" fmla="*/ 84992 w 637469"/>
                <a:gd name="connsiteY42" fmla="*/ 530553 h 690977"/>
                <a:gd name="connsiteX43" fmla="*/ 178967 w 637469"/>
                <a:gd name="connsiteY43" fmla="*/ 427711 h 690977"/>
                <a:gd name="connsiteX44" fmla="*/ 138469 w 637469"/>
                <a:gd name="connsiteY44" fmla="*/ 580297 h 690977"/>
                <a:gd name="connsiteX45" fmla="*/ 330067 w 637469"/>
                <a:gd name="connsiteY45" fmla="*/ 378004 h 690977"/>
                <a:gd name="connsiteX46" fmla="*/ 95970 w 637469"/>
                <a:gd name="connsiteY46" fmla="*/ 660512 h 690977"/>
                <a:gd name="connsiteX47" fmla="*/ 0 w 637469"/>
                <a:gd name="connsiteY47" fmla="*/ 690977 h 690977"/>
                <a:gd name="connsiteX48" fmla="*/ 16212 w 637469"/>
                <a:gd name="connsiteY48" fmla="*/ 586313 h 690977"/>
                <a:gd name="connsiteX49" fmla="*/ 95970 w 637469"/>
                <a:gd name="connsiteY49" fmla="*/ 660512 h 690977"/>
                <a:gd name="connsiteX50" fmla="*/ 16212 w 637469"/>
                <a:gd name="connsiteY50" fmla="*/ 586313 h 690977"/>
                <a:gd name="connsiteX51" fmla="*/ 460903 w 637469"/>
                <a:gd name="connsiteY51" fmla="*/ 119184 h 690977"/>
                <a:gd name="connsiteX52" fmla="*/ 521666 w 637469"/>
                <a:gd name="connsiteY52" fmla="*/ 175706 h 690977"/>
                <a:gd name="connsiteX53" fmla="*/ 460903 w 637469"/>
                <a:gd name="connsiteY53" fmla="*/ 119184 h 690977"/>
                <a:gd name="connsiteX54" fmla="*/ 272947 w 637469"/>
                <a:gd name="connsiteY54" fmla="*/ 324869 h 690977"/>
                <a:gd name="connsiteX55" fmla="*/ 521666 w 637469"/>
                <a:gd name="connsiteY55" fmla="*/ 175706 h 690977"/>
                <a:gd name="connsiteX56" fmla="*/ 425864 w 637469"/>
                <a:gd name="connsiteY56" fmla="*/ 276852 h 69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637469" h="690977" extrusionOk="0">
                  <a:moveTo>
                    <a:pt x="191945" y="630046"/>
                  </a:moveTo>
                  <a:cubicBezTo>
                    <a:pt x="188207" y="590214"/>
                    <a:pt x="175056" y="581032"/>
                    <a:pt x="138469" y="580297"/>
                  </a:cubicBezTo>
                  <a:moveTo>
                    <a:pt x="191945" y="630046"/>
                  </a:moveTo>
                  <a:lnTo>
                    <a:pt x="95970" y="660512"/>
                  </a:lnTo>
                  <a:moveTo>
                    <a:pt x="191945" y="630046"/>
                  </a:moveTo>
                  <a:lnTo>
                    <a:pt x="466494" y="329583"/>
                  </a:lnTo>
                  <a:lnTo>
                    <a:pt x="500167" y="292728"/>
                  </a:lnTo>
                  <a:lnTo>
                    <a:pt x="566528" y="220110"/>
                  </a:lnTo>
                  <a:moveTo>
                    <a:pt x="32419" y="481644"/>
                  </a:moveTo>
                  <a:lnTo>
                    <a:pt x="414251" y="78455"/>
                  </a:lnTo>
                  <a:moveTo>
                    <a:pt x="32419" y="481644"/>
                  </a:moveTo>
                  <a:cubicBezTo>
                    <a:pt x="69625" y="482810"/>
                    <a:pt x="77212" y="497751"/>
                    <a:pt x="84992" y="530553"/>
                  </a:cubicBezTo>
                  <a:moveTo>
                    <a:pt x="32419" y="481644"/>
                  </a:moveTo>
                  <a:lnTo>
                    <a:pt x="16212" y="586313"/>
                  </a:lnTo>
                  <a:moveTo>
                    <a:pt x="466494" y="25319"/>
                  </a:moveTo>
                  <a:lnTo>
                    <a:pt x="478952" y="10903"/>
                  </a:lnTo>
                  <a:cubicBezTo>
                    <a:pt x="490570" y="-2537"/>
                    <a:pt x="510988" y="-3718"/>
                    <a:pt x="524076" y="8288"/>
                  </a:cubicBezTo>
                  <a:lnTo>
                    <a:pt x="627265" y="102941"/>
                  </a:lnTo>
                  <a:cubicBezTo>
                    <a:pt x="639628" y="114286"/>
                    <a:pt x="640931" y="133333"/>
                    <a:pt x="630226" y="146253"/>
                  </a:cubicBezTo>
                  <a:lnTo>
                    <a:pt x="616003" y="163415"/>
                  </a:lnTo>
                  <a:moveTo>
                    <a:pt x="466494" y="25319"/>
                  </a:moveTo>
                  <a:lnTo>
                    <a:pt x="464016" y="24962"/>
                  </a:lnTo>
                  <a:cubicBezTo>
                    <a:pt x="454419" y="28007"/>
                    <a:pt x="440486" y="42986"/>
                    <a:pt x="439136" y="51711"/>
                  </a:cubicBezTo>
                  <a:moveTo>
                    <a:pt x="466494" y="25319"/>
                  </a:moveTo>
                  <a:cubicBezTo>
                    <a:pt x="519561" y="71094"/>
                    <a:pt x="562889" y="110138"/>
                    <a:pt x="616003" y="163415"/>
                  </a:cubicBezTo>
                  <a:moveTo>
                    <a:pt x="616003" y="163415"/>
                  </a:moveTo>
                  <a:lnTo>
                    <a:pt x="616292" y="166613"/>
                  </a:lnTo>
                  <a:cubicBezTo>
                    <a:pt x="613945" y="176409"/>
                    <a:pt x="600012" y="191387"/>
                    <a:pt x="591407" y="193361"/>
                  </a:cubicBezTo>
                  <a:moveTo>
                    <a:pt x="414251" y="78455"/>
                  </a:moveTo>
                  <a:cubicBezTo>
                    <a:pt x="418588" y="66527"/>
                    <a:pt x="428542" y="55827"/>
                    <a:pt x="439136" y="51711"/>
                  </a:cubicBezTo>
                  <a:moveTo>
                    <a:pt x="414251" y="78455"/>
                  </a:moveTo>
                  <a:cubicBezTo>
                    <a:pt x="431671" y="93407"/>
                    <a:pt x="446827" y="106621"/>
                    <a:pt x="460903" y="119184"/>
                  </a:cubicBezTo>
                  <a:moveTo>
                    <a:pt x="566528" y="220110"/>
                  </a:moveTo>
                  <a:cubicBezTo>
                    <a:pt x="581233" y="214304"/>
                    <a:pt x="588247" y="200396"/>
                    <a:pt x="591407" y="193361"/>
                  </a:cubicBezTo>
                  <a:moveTo>
                    <a:pt x="566528" y="220110"/>
                  </a:moveTo>
                  <a:cubicBezTo>
                    <a:pt x="549995" y="203489"/>
                    <a:pt x="535458" y="189077"/>
                    <a:pt x="521666" y="175706"/>
                  </a:cubicBezTo>
                  <a:moveTo>
                    <a:pt x="439136" y="51711"/>
                  </a:moveTo>
                  <a:lnTo>
                    <a:pt x="450634" y="60836"/>
                  </a:lnTo>
                  <a:moveTo>
                    <a:pt x="591407" y="193361"/>
                  </a:moveTo>
                  <a:lnTo>
                    <a:pt x="582309" y="186710"/>
                  </a:lnTo>
                  <a:moveTo>
                    <a:pt x="84992" y="530553"/>
                  </a:moveTo>
                  <a:cubicBezTo>
                    <a:pt x="110334" y="514210"/>
                    <a:pt x="157999" y="546576"/>
                    <a:pt x="138469" y="580297"/>
                  </a:cubicBezTo>
                  <a:moveTo>
                    <a:pt x="84992" y="530553"/>
                  </a:moveTo>
                  <a:lnTo>
                    <a:pt x="178967" y="427711"/>
                  </a:lnTo>
                  <a:moveTo>
                    <a:pt x="138469" y="580297"/>
                  </a:moveTo>
                  <a:lnTo>
                    <a:pt x="330067" y="378004"/>
                  </a:lnTo>
                  <a:moveTo>
                    <a:pt x="95970" y="660512"/>
                  </a:moveTo>
                  <a:lnTo>
                    <a:pt x="0" y="690977"/>
                  </a:lnTo>
                  <a:lnTo>
                    <a:pt x="16212" y="586313"/>
                  </a:lnTo>
                  <a:moveTo>
                    <a:pt x="95970" y="660512"/>
                  </a:moveTo>
                  <a:cubicBezTo>
                    <a:pt x="80929" y="614217"/>
                    <a:pt x="60559" y="601103"/>
                    <a:pt x="16212" y="586313"/>
                  </a:cubicBezTo>
                  <a:moveTo>
                    <a:pt x="460903" y="119184"/>
                  </a:moveTo>
                  <a:cubicBezTo>
                    <a:pt x="482276" y="138252"/>
                    <a:pt x="501149" y="155824"/>
                    <a:pt x="521666" y="175706"/>
                  </a:cubicBezTo>
                  <a:moveTo>
                    <a:pt x="460903" y="119184"/>
                  </a:moveTo>
                  <a:lnTo>
                    <a:pt x="272947" y="324869"/>
                  </a:lnTo>
                  <a:moveTo>
                    <a:pt x="521666" y="175706"/>
                  </a:moveTo>
                  <a:lnTo>
                    <a:pt x="425864" y="276852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9" name="Полилиния: фигура 18"/>
            <p:cNvSpPr/>
            <p:nvPr/>
          </p:nvSpPr>
          <p:spPr bwMode="auto">
            <a:xfrm>
              <a:off x="3761250" y="1745250"/>
              <a:ext cx="149625" cy="165375"/>
            </a:xfrm>
            <a:custGeom>
              <a:avLst/>
              <a:gdLst>
                <a:gd name="connsiteX0" fmla="*/ 149625 w 149625"/>
                <a:gd name="connsiteY0" fmla="*/ 36750 h 165375"/>
                <a:gd name="connsiteX1" fmla="*/ 0 w 149625"/>
                <a:gd name="connsiteY1" fmla="*/ 165375 h 165375"/>
                <a:gd name="connsiteX2" fmla="*/ 149625 w 149625"/>
                <a:gd name="connsiteY2" fmla="*/ 0 h 165375"/>
                <a:gd name="connsiteX3" fmla="*/ 149625 w 149625"/>
                <a:gd name="connsiteY3" fmla="*/ 36750 h 165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625" h="165375" extrusionOk="0">
                  <a:moveTo>
                    <a:pt x="149625" y="36750"/>
                  </a:moveTo>
                  <a:lnTo>
                    <a:pt x="0" y="165375"/>
                  </a:lnTo>
                  <a:lnTo>
                    <a:pt x="149625" y="0"/>
                  </a:lnTo>
                  <a:lnTo>
                    <a:pt x="149625" y="36750"/>
                  </a:lnTo>
                  <a:close/>
                </a:path>
              </a:pathLst>
            </a:custGeom>
            <a:solidFill>
              <a:srgbClr val="0000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4261065" y="1461137"/>
              <a:ext cx="90877" cy="30180"/>
            </a:xfrm>
            <a:custGeom>
              <a:avLst/>
              <a:gdLst>
                <a:gd name="connsiteX0" fmla="*/ 0 w 90877"/>
                <a:gd name="connsiteY0" fmla="*/ 4 h 30180"/>
                <a:gd name="connsiteX1" fmla="*/ 90877 w 90877"/>
                <a:gd name="connsiteY1" fmla="*/ 30181 h 30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877" h="30180" extrusionOk="0">
                  <a:moveTo>
                    <a:pt x="0" y="4"/>
                  </a:moveTo>
                  <a:cubicBezTo>
                    <a:pt x="0" y="4"/>
                    <a:pt x="37979" y="-1020"/>
                    <a:pt x="90877" y="30181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1" name="Полилиния: фигура 20"/>
            <p:cNvSpPr/>
            <p:nvPr/>
          </p:nvSpPr>
          <p:spPr bwMode="auto">
            <a:xfrm>
              <a:off x="4265097" y="1369496"/>
              <a:ext cx="103031" cy="23898"/>
            </a:xfrm>
            <a:custGeom>
              <a:avLst/>
              <a:gdLst>
                <a:gd name="connsiteX0" fmla="*/ 0 w 103031"/>
                <a:gd name="connsiteY0" fmla="*/ 23898 h 23898"/>
                <a:gd name="connsiteX1" fmla="*/ 103031 w 103031"/>
                <a:gd name="connsiteY1" fmla="*/ 0 h 23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031" h="23898" extrusionOk="0">
                  <a:moveTo>
                    <a:pt x="0" y="23898"/>
                  </a:moveTo>
                  <a:cubicBezTo>
                    <a:pt x="0" y="23898"/>
                    <a:pt x="46441" y="121"/>
                    <a:pt x="103031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2" name="Полилиния: фигура 21"/>
            <p:cNvSpPr/>
            <p:nvPr/>
          </p:nvSpPr>
          <p:spPr bwMode="auto">
            <a:xfrm>
              <a:off x="4228011" y="1262323"/>
              <a:ext cx="81227" cy="62784"/>
            </a:xfrm>
            <a:custGeom>
              <a:avLst/>
              <a:gdLst>
                <a:gd name="connsiteX0" fmla="*/ 0 w 81227"/>
                <a:gd name="connsiteY0" fmla="*/ 62785 h 62784"/>
                <a:gd name="connsiteX1" fmla="*/ 81228 w 81227"/>
                <a:gd name="connsiteY1" fmla="*/ 0 h 62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227" h="62784" extrusionOk="0">
                  <a:moveTo>
                    <a:pt x="0" y="62785"/>
                  </a:moveTo>
                  <a:cubicBezTo>
                    <a:pt x="41680" y="44908"/>
                    <a:pt x="81228" y="0"/>
                    <a:pt x="81228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0AD8117-6E98-E44B-7B51-4CAA08ACCCE8}"/>
              </a:ext>
            </a:extLst>
          </p:cNvPr>
          <p:cNvSpPr txBox="1"/>
          <p:nvPr/>
        </p:nvSpPr>
        <p:spPr bwMode="auto">
          <a:xfrm>
            <a:off x="354010" y="1198258"/>
            <a:ext cx="6648770" cy="1575560"/>
          </a:xfrm>
          <a:prstGeom prst="rect">
            <a:avLst/>
          </a:prstGeom>
          <a:noFill/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L="2286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  <a:defRPr/>
            </a:pPr>
            <a:r>
              <a:rPr lang="ru-RU" sz="11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Заявки приходят на общую корпоративную почту </a:t>
            </a:r>
            <a:r>
              <a:rPr lang="ru-RU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 </a:t>
            </a:r>
            <a:r>
              <a:rPr lang="ru-RU" sz="11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телефон, их просматривает один сотрудник - оператор кол-центра;</a:t>
            </a:r>
            <a:endParaRPr lang="en-US" sz="1100" b="0" i="0" dirty="0"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286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  <a:defRPr/>
            </a:pPr>
            <a:r>
              <a:rPr lang="ru-RU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Данные из заявки вручную копируются </a:t>
            </a:r>
            <a:r>
              <a:rPr lang="ru-RU" sz="11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 CRM;</a:t>
            </a:r>
            <a:endParaRPr lang="en-US" sz="1100" b="0" i="0" dirty="0"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286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  <a:defRPr/>
            </a:pPr>
            <a:r>
              <a:rPr lang="ru-RU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</a:t>
            </a:r>
            <a:r>
              <a:rPr lang="ru-RU" sz="11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енеджер (распределение заявок по менеджерам осуществляется случайным образом) получает заявку и звонит клиенту, чтобы уточнить детали;</a:t>
            </a:r>
            <a:endParaRPr lang="en-US" sz="1100" b="0" i="0" dirty="0"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286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  <a:defRPr/>
            </a:pPr>
            <a:r>
              <a:rPr lang="ru-RU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</a:t>
            </a:r>
            <a:r>
              <a:rPr lang="ru-RU" sz="11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осле согласования деталей заказа делает расчёт в Excel и направляет предложение клиенту.</a:t>
            </a:r>
            <a:endParaRPr lang="ru-RU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40B095-843C-666A-9EBF-4D9D1861E0A3}"/>
              </a:ext>
            </a:extLst>
          </p:cNvPr>
          <p:cNvSpPr txBox="1"/>
          <p:nvPr/>
        </p:nvSpPr>
        <p:spPr bwMode="auto">
          <a:xfrm>
            <a:off x="348268" y="3274144"/>
            <a:ext cx="6343757" cy="1537344"/>
          </a:xfrm>
          <a:prstGeom prst="rect">
            <a:avLst/>
          </a:prstGeom>
          <a:noFill/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L="171450" indent="-171450">
              <a:spcBef>
                <a:spcPts val="600"/>
              </a:spcBef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ru-RU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среднее время обработки одной заявки – 1.5 дня</a:t>
            </a:r>
          </a:p>
          <a:p>
            <a:pPr marL="171450" indent="-171450">
              <a:spcBef>
                <a:spcPts val="600"/>
              </a:spcBef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ru-RU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часто возникают ошибки: пропущенные заявки, дубли, потеря контакта с клиентом</a:t>
            </a:r>
          </a:p>
          <a:p>
            <a:pPr marL="171450" indent="-171450">
              <a:spcBef>
                <a:spcPts val="600"/>
              </a:spcBef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ru-RU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среднее количество заявок в день: 12</a:t>
            </a:r>
          </a:p>
          <a:p>
            <a:pPr marL="171450" indent="-171450">
              <a:spcBef>
                <a:spcPts val="600"/>
              </a:spcBef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ru-RU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количество менеджеров: 3</a:t>
            </a:r>
          </a:p>
          <a:p>
            <a:pPr marL="171450" indent="-171450">
              <a:spcBef>
                <a:spcPts val="600"/>
              </a:spcBef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ru-RU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конверсия заявок в сделки: 40%</a:t>
            </a:r>
          </a:p>
          <a:p>
            <a:pPr marL="171450" indent="-171450">
              <a:spcBef>
                <a:spcPts val="600"/>
              </a:spcBef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ru-RU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потери из-за ошибок: до 15% заявок в месяц. </a:t>
            </a:r>
            <a:endParaRPr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429B21-BD23-6C22-980D-0919D91E949A}"/>
              </a:ext>
            </a:extLst>
          </p:cNvPr>
          <p:cNvSpPr txBox="1"/>
          <p:nvPr/>
        </p:nvSpPr>
        <p:spPr bwMode="auto">
          <a:xfrm>
            <a:off x="355681" y="2886297"/>
            <a:ext cx="6343757" cy="279435"/>
          </a:xfrm>
          <a:prstGeom prst="rect">
            <a:avLst/>
          </a:prstGeom>
          <a:noFill/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R="0" lvl="0" algn="l">
              <a:lnSpc>
                <a:spcPct val="1000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ts val="1900"/>
              <a:defRPr/>
            </a:pPr>
            <a:r>
              <a:rPr lang="ru-RU" sz="1600" u="sng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Дополнительная информация: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621981" name="Google Shape;1221;p126"/>
          <p:cNvSpPr/>
          <p:nvPr/>
        </p:nvSpPr>
        <p:spPr bwMode="auto">
          <a:xfrm>
            <a:off x="331200" y="266400"/>
            <a:ext cx="7052220" cy="440120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ru-RU" sz="2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Цель работы</a:t>
            </a:r>
            <a:endParaRPr sz="2800" b="1" i="0" u="none" strike="noStrike" cap="none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0033568" name="Google Shape;1222;p126"/>
          <p:cNvSpPr/>
          <p:nvPr/>
        </p:nvSpPr>
        <p:spPr bwMode="auto">
          <a:xfrm>
            <a:off x="6557143" y="2556208"/>
            <a:ext cx="2232299" cy="2232299"/>
          </a:xfrm>
          <a:prstGeom prst="ellipse">
            <a:avLst/>
          </a:prstGeom>
          <a:noFill/>
          <a:ln w="9525" cap="flat" cmpd="sng">
            <a:solidFill>
              <a:srgbClr val="C4C4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4" tIns="45724" rIns="45724" bIns="45724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7087585" y="3086982"/>
            <a:ext cx="1404878" cy="1170750"/>
            <a:chOff x="2963250" y="957750"/>
            <a:chExt cx="1404878" cy="1170750"/>
          </a:xfrm>
        </p:grpSpPr>
        <p:sp>
          <p:nvSpPr>
            <p:cNvPr id="3" name="Прямоугольник: скругленные углы 2"/>
            <p:cNvSpPr/>
            <p:nvPr/>
          </p:nvSpPr>
          <p:spPr bwMode="auto">
            <a:xfrm>
              <a:off x="3105000" y="1036500"/>
              <a:ext cx="876750" cy="1092000"/>
            </a:xfrm>
            <a:prstGeom prst="roundRect">
              <a:avLst>
                <a:gd name="adj" fmla="val 6549"/>
              </a:avLst>
            </a:prstGeom>
            <a:solidFill>
              <a:srgbClr val="F3F4F7"/>
            </a:solidFill>
            <a:ln w="63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" name="Полилиния: фигура 3"/>
            <p:cNvSpPr/>
            <p:nvPr/>
          </p:nvSpPr>
          <p:spPr bwMode="auto">
            <a:xfrm>
              <a:off x="3031500" y="957750"/>
              <a:ext cx="876750" cy="1097250"/>
            </a:xfrm>
            <a:custGeom>
              <a:avLst/>
              <a:gdLst>
                <a:gd name="connsiteX0" fmla="*/ 876750 w 876750"/>
                <a:gd name="connsiteY0" fmla="*/ 1044750 h 1097250"/>
                <a:gd name="connsiteX1" fmla="*/ 876750 w 876750"/>
                <a:gd name="connsiteY1" fmla="*/ 52500 h 1097250"/>
                <a:gd name="connsiteX2" fmla="*/ 824250 w 876750"/>
                <a:gd name="connsiteY2" fmla="*/ 0 h 1097250"/>
                <a:gd name="connsiteX3" fmla="*/ 632783 w 876750"/>
                <a:gd name="connsiteY3" fmla="*/ 0 h 1097250"/>
                <a:gd name="connsiteX4" fmla="*/ 585533 w 876750"/>
                <a:gd name="connsiteY4" fmla="*/ 0 h 1097250"/>
                <a:gd name="connsiteX5" fmla="*/ 52500 w 876750"/>
                <a:gd name="connsiteY5" fmla="*/ 0 h 1097250"/>
                <a:gd name="connsiteX6" fmla="*/ 0 w 876750"/>
                <a:gd name="connsiteY6" fmla="*/ 52500 h 1097250"/>
                <a:gd name="connsiteX7" fmla="*/ 0 w 876750"/>
                <a:gd name="connsiteY7" fmla="*/ 223503 h 1097250"/>
                <a:gd name="connsiteX8" fmla="*/ 0 w 876750"/>
                <a:gd name="connsiteY8" fmla="*/ 890253 h 1097250"/>
                <a:gd name="connsiteX9" fmla="*/ 0 w 876750"/>
                <a:gd name="connsiteY9" fmla="*/ 1044750 h 1097250"/>
                <a:gd name="connsiteX10" fmla="*/ 52500 w 876750"/>
                <a:gd name="connsiteY10" fmla="*/ 1097250 h 1097250"/>
                <a:gd name="connsiteX11" fmla="*/ 123375 w 876750"/>
                <a:gd name="connsiteY11" fmla="*/ 1097250 h 1097250"/>
                <a:gd name="connsiteX12" fmla="*/ 183750 w 876750"/>
                <a:gd name="connsiteY12" fmla="*/ 1097250 h 1097250"/>
                <a:gd name="connsiteX13" fmla="*/ 824250 w 876750"/>
                <a:gd name="connsiteY13" fmla="*/ 1097250 h 1097250"/>
                <a:gd name="connsiteX14" fmla="*/ 876750 w 876750"/>
                <a:gd name="connsiteY14" fmla="*/ 1044750 h 109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6750" h="1097250" extrusionOk="0">
                  <a:moveTo>
                    <a:pt x="876750" y="1044750"/>
                  </a:moveTo>
                  <a:lnTo>
                    <a:pt x="876750" y="52500"/>
                  </a:lnTo>
                  <a:cubicBezTo>
                    <a:pt x="876750" y="23504"/>
                    <a:pt x="853246" y="0"/>
                    <a:pt x="824250" y="0"/>
                  </a:cubicBezTo>
                  <a:lnTo>
                    <a:pt x="632783" y="0"/>
                  </a:lnTo>
                  <a:lnTo>
                    <a:pt x="585533" y="0"/>
                  </a:lnTo>
                  <a:lnTo>
                    <a:pt x="52500" y="0"/>
                  </a:lnTo>
                  <a:cubicBezTo>
                    <a:pt x="23504" y="0"/>
                    <a:pt x="0" y="23504"/>
                    <a:pt x="0" y="52500"/>
                  </a:cubicBezTo>
                  <a:lnTo>
                    <a:pt x="0" y="223503"/>
                  </a:lnTo>
                  <a:lnTo>
                    <a:pt x="0" y="890253"/>
                  </a:lnTo>
                  <a:lnTo>
                    <a:pt x="0" y="1044750"/>
                  </a:lnTo>
                  <a:cubicBezTo>
                    <a:pt x="0" y="1073746"/>
                    <a:pt x="23504" y="1097250"/>
                    <a:pt x="52500" y="1097250"/>
                  </a:cubicBezTo>
                  <a:lnTo>
                    <a:pt x="123375" y="1097250"/>
                  </a:lnTo>
                  <a:lnTo>
                    <a:pt x="183750" y="1097250"/>
                  </a:lnTo>
                  <a:lnTo>
                    <a:pt x="824250" y="1097250"/>
                  </a:lnTo>
                  <a:cubicBezTo>
                    <a:pt x="853246" y="1097250"/>
                    <a:pt x="876750" y="1073746"/>
                    <a:pt x="876750" y="1044750"/>
                  </a:cubicBezTo>
                  <a:close/>
                </a:path>
              </a:pathLst>
            </a:custGeom>
            <a:solidFill>
              <a:srgbClr val="FFFFFF"/>
            </a:solidFill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" name="Полилиния: фигура 4"/>
            <p:cNvSpPr/>
            <p:nvPr/>
          </p:nvSpPr>
          <p:spPr bwMode="auto">
            <a:xfrm>
              <a:off x="2963250" y="1053431"/>
              <a:ext cx="120870" cy="120865"/>
            </a:xfrm>
            <a:custGeom>
              <a:avLst/>
              <a:gdLst>
                <a:gd name="connsiteX0" fmla="*/ 120871 w 120870"/>
                <a:gd name="connsiteY0" fmla="*/ 60433 h 120865"/>
                <a:gd name="connsiteX1" fmla="*/ 60433 w 120870"/>
                <a:gd name="connsiteY1" fmla="*/ 0 h 120865"/>
                <a:gd name="connsiteX2" fmla="*/ 0 w 120870"/>
                <a:gd name="connsiteY2" fmla="*/ 60433 h 120865"/>
                <a:gd name="connsiteX3" fmla="*/ 60433 w 120870"/>
                <a:gd name="connsiteY3" fmla="*/ 120865 h 120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870" h="120865" extrusionOk="0">
                  <a:moveTo>
                    <a:pt x="120871" y="60433"/>
                  </a:moveTo>
                  <a:cubicBezTo>
                    <a:pt x="120871" y="27053"/>
                    <a:pt x="93812" y="0"/>
                    <a:pt x="60433" y="0"/>
                  </a:cubicBezTo>
                  <a:cubicBezTo>
                    <a:pt x="27059" y="0"/>
                    <a:pt x="0" y="27053"/>
                    <a:pt x="0" y="60433"/>
                  </a:cubicBezTo>
                  <a:cubicBezTo>
                    <a:pt x="0" y="93807"/>
                    <a:pt x="27059" y="120865"/>
                    <a:pt x="60433" y="120865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" name="Полилиния: фигура 5"/>
            <p:cNvSpPr/>
            <p:nvPr/>
          </p:nvSpPr>
          <p:spPr bwMode="auto">
            <a:xfrm>
              <a:off x="2963250" y="1251203"/>
              <a:ext cx="120870" cy="120870"/>
            </a:xfrm>
            <a:custGeom>
              <a:avLst/>
              <a:gdLst>
                <a:gd name="connsiteX0" fmla="*/ 120871 w 120870"/>
                <a:gd name="connsiteY0" fmla="*/ 60438 h 120870"/>
                <a:gd name="connsiteX1" fmla="*/ 60433 w 120870"/>
                <a:gd name="connsiteY1" fmla="*/ 0 h 120870"/>
                <a:gd name="connsiteX2" fmla="*/ 0 w 120870"/>
                <a:gd name="connsiteY2" fmla="*/ 60438 h 120870"/>
                <a:gd name="connsiteX3" fmla="*/ 60433 w 120870"/>
                <a:gd name="connsiteY3" fmla="*/ 120871 h 12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870" h="120870" extrusionOk="0">
                  <a:moveTo>
                    <a:pt x="120871" y="60438"/>
                  </a:moveTo>
                  <a:cubicBezTo>
                    <a:pt x="120871" y="27059"/>
                    <a:pt x="93812" y="0"/>
                    <a:pt x="60433" y="0"/>
                  </a:cubicBezTo>
                  <a:cubicBezTo>
                    <a:pt x="27059" y="0"/>
                    <a:pt x="0" y="27059"/>
                    <a:pt x="0" y="60438"/>
                  </a:cubicBezTo>
                  <a:cubicBezTo>
                    <a:pt x="0" y="93812"/>
                    <a:pt x="27059" y="120871"/>
                    <a:pt x="60433" y="120871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2963250" y="1448992"/>
              <a:ext cx="120870" cy="120870"/>
            </a:xfrm>
            <a:custGeom>
              <a:avLst/>
              <a:gdLst>
                <a:gd name="connsiteX0" fmla="*/ 120871 w 120870"/>
                <a:gd name="connsiteY0" fmla="*/ 60438 h 120870"/>
                <a:gd name="connsiteX1" fmla="*/ 60433 w 120870"/>
                <a:gd name="connsiteY1" fmla="*/ 0 h 120870"/>
                <a:gd name="connsiteX2" fmla="*/ 0 w 120870"/>
                <a:gd name="connsiteY2" fmla="*/ 60438 h 120870"/>
                <a:gd name="connsiteX3" fmla="*/ 60433 w 120870"/>
                <a:gd name="connsiteY3" fmla="*/ 120871 h 12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870" h="120870" extrusionOk="0">
                  <a:moveTo>
                    <a:pt x="120871" y="60438"/>
                  </a:moveTo>
                  <a:cubicBezTo>
                    <a:pt x="120871" y="27058"/>
                    <a:pt x="93812" y="0"/>
                    <a:pt x="60433" y="0"/>
                  </a:cubicBezTo>
                  <a:cubicBezTo>
                    <a:pt x="27059" y="0"/>
                    <a:pt x="0" y="27058"/>
                    <a:pt x="0" y="60438"/>
                  </a:cubicBezTo>
                  <a:cubicBezTo>
                    <a:pt x="0" y="93812"/>
                    <a:pt x="27059" y="120871"/>
                    <a:pt x="60433" y="120871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Полилиния: фигура 7"/>
            <p:cNvSpPr/>
            <p:nvPr/>
          </p:nvSpPr>
          <p:spPr bwMode="auto">
            <a:xfrm>
              <a:off x="2963250" y="1646780"/>
              <a:ext cx="120870" cy="120870"/>
            </a:xfrm>
            <a:custGeom>
              <a:avLst/>
              <a:gdLst>
                <a:gd name="connsiteX0" fmla="*/ 120871 w 120870"/>
                <a:gd name="connsiteY0" fmla="*/ 60433 h 120870"/>
                <a:gd name="connsiteX1" fmla="*/ 60433 w 120870"/>
                <a:gd name="connsiteY1" fmla="*/ 0 h 120870"/>
                <a:gd name="connsiteX2" fmla="*/ 0 w 120870"/>
                <a:gd name="connsiteY2" fmla="*/ 60433 h 120870"/>
                <a:gd name="connsiteX3" fmla="*/ 60433 w 120870"/>
                <a:gd name="connsiteY3" fmla="*/ 120871 h 12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870" h="120870" extrusionOk="0">
                  <a:moveTo>
                    <a:pt x="120871" y="60433"/>
                  </a:moveTo>
                  <a:cubicBezTo>
                    <a:pt x="120871" y="27059"/>
                    <a:pt x="93812" y="0"/>
                    <a:pt x="60433" y="0"/>
                  </a:cubicBezTo>
                  <a:cubicBezTo>
                    <a:pt x="27059" y="0"/>
                    <a:pt x="0" y="27059"/>
                    <a:pt x="0" y="60433"/>
                  </a:cubicBezTo>
                  <a:cubicBezTo>
                    <a:pt x="0" y="93812"/>
                    <a:pt x="27059" y="120871"/>
                    <a:pt x="60433" y="120871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" name="Полилиния: фигура 8"/>
            <p:cNvSpPr/>
            <p:nvPr/>
          </p:nvSpPr>
          <p:spPr bwMode="auto">
            <a:xfrm>
              <a:off x="2963250" y="1844558"/>
              <a:ext cx="120870" cy="120870"/>
            </a:xfrm>
            <a:custGeom>
              <a:avLst/>
              <a:gdLst>
                <a:gd name="connsiteX0" fmla="*/ 120871 w 120870"/>
                <a:gd name="connsiteY0" fmla="*/ 60433 h 120870"/>
                <a:gd name="connsiteX1" fmla="*/ 60433 w 120870"/>
                <a:gd name="connsiteY1" fmla="*/ 0 h 120870"/>
                <a:gd name="connsiteX2" fmla="*/ 0 w 120870"/>
                <a:gd name="connsiteY2" fmla="*/ 60433 h 120870"/>
                <a:gd name="connsiteX3" fmla="*/ 60433 w 120870"/>
                <a:gd name="connsiteY3" fmla="*/ 120871 h 12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870" h="120870" extrusionOk="0">
                  <a:moveTo>
                    <a:pt x="120871" y="60433"/>
                  </a:moveTo>
                  <a:cubicBezTo>
                    <a:pt x="120871" y="27059"/>
                    <a:pt x="93812" y="0"/>
                    <a:pt x="60433" y="0"/>
                  </a:cubicBezTo>
                  <a:cubicBezTo>
                    <a:pt x="27059" y="0"/>
                    <a:pt x="0" y="27059"/>
                    <a:pt x="0" y="60433"/>
                  </a:cubicBezTo>
                  <a:cubicBezTo>
                    <a:pt x="0" y="93812"/>
                    <a:pt x="27059" y="120871"/>
                    <a:pt x="60433" y="120871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" name="Полилиния: фигура 9"/>
            <p:cNvSpPr/>
            <p:nvPr/>
          </p:nvSpPr>
          <p:spPr bwMode="auto">
            <a:xfrm>
              <a:off x="3189000" y="1141500"/>
              <a:ext cx="577500" cy="5250"/>
            </a:xfrm>
            <a:custGeom>
              <a:avLst/>
              <a:gdLst>
                <a:gd name="connsiteX0" fmla="*/ 0 w 577500"/>
                <a:gd name="connsiteY0" fmla="*/ 0 h 5250"/>
                <a:gd name="connsiteX1" fmla="*/ 352501 w 577500"/>
                <a:gd name="connsiteY1" fmla="*/ 0 h 5250"/>
                <a:gd name="connsiteX2" fmla="*/ 415002 w 577500"/>
                <a:gd name="connsiteY2" fmla="*/ 0 h 5250"/>
                <a:gd name="connsiteX3" fmla="*/ 577500 w 577500"/>
                <a:gd name="connsiteY3" fmla="*/ 0 h 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7500" h="5250" extrusionOk="0">
                  <a:moveTo>
                    <a:pt x="0" y="0"/>
                  </a:moveTo>
                  <a:lnTo>
                    <a:pt x="352501" y="0"/>
                  </a:lnTo>
                  <a:moveTo>
                    <a:pt x="415002" y="0"/>
                  </a:moveTo>
                  <a:lnTo>
                    <a:pt x="577500" y="0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 bwMode="auto">
            <a:xfrm>
              <a:off x="3189000" y="1409250"/>
              <a:ext cx="572250" cy="5250"/>
            </a:xfrm>
            <a:custGeom>
              <a:avLst/>
              <a:gdLst>
                <a:gd name="connsiteX0" fmla="*/ 0 w 572250"/>
                <a:gd name="connsiteY0" fmla="*/ 0 h 5250"/>
                <a:gd name="connsiteX1" fmla="*/ 95529 w 572250"/>
                <a:gd name="connsiteY1" fmla="*/ 0 h 5250"/>
                <a:gd name="connsiteX2" fmla="*/ 572250 w 572250"/>
                <a:gd name="connsiteY2" fmla="*/ 0 h 5250"/>
                <a:gd name="connsiteX3" fmla="*/ 145157 w 572250"/>
                <a:gd name="connsiteY3" fmla="*/ 0 h 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2250" h="5250" extrusionOk="0">
                  <a:moveTo>
                    <a:pt x="0" y="0"/>
                  </a:moveTo>
                  <a:lnTo>
                    <a:pt x="95529" y="0"/>
                  </a:lnTo>
                  <a:moveTo>
                    <a:pt x="572250" y="0"/>
                  </a:moveTo>
                  <a:lnTo>
                    <a:pt x="145157" y="0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2" name="Полилиния: фигура 11"/>
            <p:cNvSpPr/>
            <p:nvPr/>
          </p:nvSpPr>
          <p:spPr bwMode="auto">
            <a:xfrm>
              <a:off x="3189000" y="1272750"/>
              <a:ext cx="567000" cy="5250"/>
            </a:xfrm>
            <a:custGeom>
              <a:avLst/>
              <a:gdLst>
                <a:gd name="connsiteX0" fmla="*/ 0 w 567000"/>
                <a:gd name="connsiteY0" fmla="*/ 0 h 5250"/>
                <a:gd name="connsiteX1" fmla="*/ 567000 w 567000"/>
                <a:gd name="connsiteY1" fmla="*/ 0 h 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7000" h="5250" extrusionOk="0">
                  <a:moveTo>
                    <a:pt x="0" y="0"/>
                  </a:moveTo>
                  <a:lnTo>
                    <a:pt x="567000" y="0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Полилиния: фигура 12"/>
            <p:cNvSpPr/>
            <p:nvPr/>
          </p:nvSpPr>
          <p:spPr bwMode="auto">
            <a:xfrm>
              <a:off x="3189000" y="1541261"/>
              <a:ext cx="567000" cy="5250"/>
            </a:xfrm>
            <a:custGeom>
              <a:avLst/>
              <a:gdLst>
                <a:gd name="connsiteX0" fmla="*/ 0 w 567000"/>
                <a:gd name="connsiteY0" fmla="*/ 0 h 5250"/>
                <a:gd name="connsiteX1" fmla="*/ 567000 w 567000"/>
                <a:gd name="connsiteY1" fmla="*/ 0 h 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7000" h="5250" extrusionOk="0">
                  <a:moveTo>
                    <a:pt x="0" y="0"/>
                  </a:moveTo>
                  <a:lnTo>
                    <a:pt x="567000" y="0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" name="Полилиния: фигура 13"/>
            <p:cNvSpPr/>
            <p:nvPr/>
          </p:nvSpPr>
          <p:spPr bwMode="auto">
            <a:xfrm>
              <a:off x="3189000" y="1675514"/>
              <a:ext cx="567000" cy="5250"/>
            </a:xfrm>
            <a:custGeom>
              <a:avLst/>
              <a:gdLst>
                <a:gd name="connsiteX0" fmla="*/ 0 w 567000"/>
                <a:gd name="connsiteY0" fmla="*/ 0 h 5250"/>
                <a:gd name="connsiteX1" fmla="*/ 567000 w 567000"/>
                <a:gd name="connsiteY1" fmla="*/ 0 h 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7000" h="5250" extrusionOk="0">
                  <a:moveTo>
                    <a:pt x="0" y="0"/>
                  </a:moveTo>
                  <a:lnTo>
                    <a:pt x="567000" y="0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Полилиния: фигура 14"/>
            <p:cNvSpPr/>
            <p:nvPr/>
          </p:nvSpPr>
          <p:spPr bwMode="auto">
            <a:xfrm>
              <a:off x="3189000" y="1813500"/>
              <a:ext cx="317625" cy="5250"/>
            </a:xfrm>
            <a:custGeom>
              <a:avLst/>
              <a:gdLst>
                <a:gd name="connsiteX0" fmla="*/ 0 w 317625"/>
                <a:gd name="connsiteY0" fmla="*/ 0 h 5250"/>
                <a:gd name="connsiteX1" fmla="*/ 317625 w 317625"/>
                <a:gd name="connsiteY1" fmla="*/ 0 h 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25" h="5250" extrusionOk="0">
                  <a:moveTo>
                    <a:pt x="0" y="0"/>
                  </a:moveTo>
                  <a:cubicBezTo>
                    <a:pt x="217875" y="0"/>
                    <a:pt x="317625" y="0"/>
                    <a:pt x="317625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Полилиния: фигура 15"/>
            <p:cNvSpPr/>
            <p:nvPr/>
          </p:nvSpPr>
          <p:spPr bwMode="auto">
            <a:xfrm>
              <a:off x="3567156" y="1276589"/>
              <a:ext cx="639387" cy="694410"/>
            </a:xfrm>
            <a:custGeom>
              <a:avLst/>
              <a:gdLst>
                <a:gd name="connsiteX0" fmla="*/ 510242 w 639387"/>
                <a:gd name="connsiteY0" fmla="*/ 4209 h 694410"/>
                <a:gd name="connsiteX1" fmla="*/ 634357 w 639387"/>
                <a:gd name="connsiteY1" fmla="*/ 119452 h 694410"/>
                <a:gd name="connsiteX2" fmla="*/ 635313 w 639387"/>
                <a:gd name="connsiteY2" fmla="*/ 141565 h 694410"/>
                <a:gd name="connsiteX3" fmla="*/ 611468 w 639387"/>
                <a:gd name="connsiteY3" fmla="*/ 167909 h 694410"/>
                <a:gd name="connsiteX4" fmla="*/ 600968 w 639387"/>
                <a:gd name="connsiteY4" fmla="*/ 187786 h 694410"/>
                <a:gd name="connsiteX5" fmla="*/ 590468 w 639387"/>
                <a:gd name="connsiteY5" fmla="*/ 198286 h 694410"/>
                <a:gd name="connsiteX6" fmla="*/ 572093 w 639387"/>
                <a:gd name="connsiteY6" fmla="*/ 219286 h 694410"/>
                <a:gd name="connsiteX7" fmla="*/ 558968 w 639387"/>
                <a:gd name="connsiteY7" fmla="*/ 225901 h 694410"/>
                <a:gd name="connsiteX8" fmla="*/ 486539 w 639387"/>
                <a:gd name="connsiteY8" fmla="*/ 305911 h 694410"/>
                <a:gd name="connsiteX9" fmla="*/ 450891 w 639387"/>
                <a:gd name="connsiteY9" fmla="*/ 345286 h 694410"/>
                <a:gd name="connsiteX10" fmla="*/ 194250 w 639387"/>
                <a:gd name="connsiteY10" fmla="*/ 628786 h 694410"/>
                <a:gd name="connsiteX11" fmla="*/ 0 w 639387"/>
                <a:gd name="connsiteY11" fmla="*/ 694411 h 694410"/>
                <a:gd name="connsiteX12" fmla="*/ 34125 w 639387"/>
                <a:gd name="connsiteY12" fmla="*/ 489661 h 694410"/>
                <a:gd name="connsiteX13" fmla="*/ 415170 w 639387"/>
                <a:gd name="connsiteY13" fmla="*/ 82786 h 694410"/>
                <a:gd name="connsiteX14" fmla="*/ 422468 w 639387"/>
                <a:gd name="connsiteY14" fmla="*/ 64411 h 694410"/>
                <a:gd name="connsiteX15" fmla="*/ 435593 w 639387"/>
                <a:gd name="connsiteY15" fmla="*/ 53911 h 694410"/>
                <a:gd name="connsiteX16" fmla="*/ 453968 w 639387"/>
                <a:gd name="connsiteY16" fmla="*/ 32911 h 694410"/>
                <a:gd name="connsiteX17" fmla="*/ 466793 w 639387"/>
                <a:gd name="connsiteY17" fmla="*/ 27661 h 694410"/>
                <a:gd name="connsiteX18" fmla="*/ 488030 w 639387"/>
                <a:gd name="connsiteY18" fmla="*/ 4981 h 694410"/>
                <a:gd name="connsiteX19" fmla="*/ 510242 w 639387"/>
                <a:gd name="connsiteY19" fmla="*/ 4209 h 694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39387" h="694410" extrusionOk="0">
                  <a:moveTo>
                    <a:pt x="510242" y="4209"/>
                  </a:moveTo>
                  <a:lnTo>
                    <a:pt x="634357" y="119452"/>
                  </a:lnTo>
                  <a:cubicBezTo>
                    <a:pt x="640673" y="125321"/>
                    <a:pt x="641099" y="135175"/>
                    <a:pt x="635313" y="141565"/>
                  </a:cubicBezTo>
                  <a:lnTo>
                    <a:pt x="611468" y="167909"/>
                  </a:lnTo>
                  <a:lnTo>
                    <a:pt x="600968" y="187786"/>
                  </a:lnTo>
                  <a:lnTo>
                    <a:pt x="590468" y="198286"/>
                  </a:lnTo>
                  <a:lnTo>
                    <a:pt x="572093" y="219286"/>
                  </a:lnTo>
                  <a:lnTo>
                    <a:pt x="558968" y="225901"/>
                  </a:lnTo>
                  <a:lnTo>
                    <a:pt x="486539" y="305911"/>
                  </a:lnTo>
                  <a:lnTo>
                    <a:pt x="450891" y="345286"/>
                  </a:lnTo>
                  <a:lnTo>
                    <a:pt x="194250" y="628786"/>
                  </a:lnTo>
                  <a:lnTo>
                    <a:pt x="0" y="694411"/>
                  </a:lnTo>
                  <a:lnTo>
                    <a:pt x="34125" y="489661"/>
                  </a:lnTo>
                  <a:lnTo>
                    <a:pt x="415170" y="82786"/>
                  </a:lnTo>
                  <a:lnTo>
                    <a:pt x="422468" y="64411"/>
                  </a:lnTo>
                  <a:lnTo>
                    <a:pt x="435593" y="53911"/>
                  </a:lnTo>
                  <a:lnTo>
                    <a:pt x="453968" y="32911"/>
                  </a:lnTo>
                  <a:lnTo>
                    <a:pt x="466793" y="27661"/>
                  </a:lnTo>
                  <a:lnTo>
                    <a:pt x="488030" y="4981"/>
                  </a:lnTo>
                  <a:cubicBezTo>
                    <a:pt x="493957" y="-1346"/>
                    <a:pt x="503890" y="-1692"/>
                    <a:pt x="510242" y="4209"/>
                  </a:cubicBezTo>
                  <a:close/>
                </a:path>
              </a:pathLst>
            </a:custGeom>
            <a:solidFill>
              <a:srgbClr val="4BD0A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Полилиния: фигура 16"/>
            <p:cNvSpPr/>
            <p:nvPr/>
          </p:nvSpPr>
          <p:spPr bwMode="auto">
            <a:xfrm>
              <a:off x="3582750" y="1766248"/>
              <a:ext cx="173624" cy="173575"/>
            </a:xfrm>
            <a:custGeom>
              <a:avLst/>
              <a:gdLst>
                <a:gd name="connsiteX0" fmla="*/ 15750 w 173624"/>
                <a:gd name="connsiteY0" fmla="*/ 326 h 173575"/>
                <a:gd name="connsiteX1" fmla="*/ 0 w 173624"/>
                <a:gd name="connsiteY1" fmla="*/ 102701 h 173575"/>
                <a:gd name="connsiteX2" fmla="*/ 47250 w 173624"/>
                <a:gd name="connsiteY2" fmla="*/ 126326 h 173575"/>
                <a:gd name="connsiteX3" fmla="*/ 78750 w 173624"/>
                <a:gd name="connsiteY3" fmla="*/ 173576 h 173575"/>
                <a:gd name="connsiteX4" fmla="*/ 170625 w 173624"/>
                <a:gd name="connsiteY4" fmla="*/ 147326 h 173575"/>
                <a:gd name="connsiteX5" fmla="*/ 162750 w 173624"/>
                <a:gd name="connsiteY5" fmla="*/ 113201 h 173575"/>
                <a:gd name="connsiteX6" fmla="*/ 123375 w 173624"/>
                <a:gd name="connsiteY6" fmla="*/ 97451 h 173575"/>
                <a:gd name="connsiteX7" fmla="*/ 112875 w 173624"/>
                <a:gd name="connsiteY7" fmla="*/ 55451 h 173575"/>
                <a:gd name="connsiteX8" fmla="*/ 65625 w 173624"/>
                <a:gd name="connsiteY8" fmla="*/ 44951 h 173575"/>
                <a:gd name="connsiteX9" fmla="*/ 47250 w 173624"/>
                <a:gd name="connsiteY9" fmla="*/ 8201 h 173575"/>
                <a:gd name="connsiteX10" fmla="*/ 15750 w 173624"/>
                <a:gd name="connsiteY10" fmla="*/ 326 h 173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3624" h="173575" extrusionOk="0">
                  <a:moveTo>
                    <a:pt x="15750" y="326"/>
                  </a:moveTo>
                  <a:lnTo>
                    <a:pt x="0" y="102701"/>
                  </a:lnTo>
                  <a:cubicBezTo>
                    <a:pt x="10500" y="106202"/>
                    <a:pt x="34650" y="115826"/>
                    <a:pt x="47250" y="126326"/>
                  </a:cubicBezTo>
                  <a:cubicBezTo>
                    <a:pt x="59850" y="136826"/>
                    <a:pt x="73500" y="162204"/>
                    <a:pt x="78750" y="173576"/>
                  </a:cubicBezTo>
                  <a:lnTo>
                    <a:pt x="170625" y="147326"/>
                  </a:lnTo>
                  <a:cubicBezTo>
                    <a:pt x="174127" y="144701"/>
                    <a:pt x="177450" y="134201"/>
                    <a:pt x="162750" y="113201"/>
                  </a:cubicBezTo>
                  <a:cubicBezTo>
                    <a:pt x="148050" y="92201"/>
                    <a:pt x="130373" y="93954"/>
                    <a:pt x="123375" y="97451"/>
                  </a:cubicBezTo>
                  <a:cubicBezTo>
                    <a:pt x="124252" y="88704"/>
                    <a:pt x="123375" y="68051"/>
                    <a:pt x="112875" y="55451"/>
                  </a:cubicBezTo>
                  <a:cubicBezTo>
                    <a:pt x="102375" y="42850"/>
                    <a:pt x="77002" y="43202"/>
                    <a:pt x="65625" y="44951"/>
                  </a:cubicBezTo>
                  <a:cubicBezTo>
                    <a:pt x="63877" y="36204"/>
                    <a:pt x="57750" y="16600"/>
                    <a:pt x="47250" y="8201"/>
                  </a:cubicBezTo>
                  <a:cubicBezTo>
                    <a:pt x="36750" y="-199"/>
                    <a:pt x="21877" y="-546"/>
                    <a:pt x="15750" y="3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Полилиния: фигура 17"/>
            <p:cNvSpPr/>
            <p:nvPr/>
          </p:nvSpPr>
          <p:spPr bwMode="auto">
            <a:xfrm>
              <a:off x="3564921" y="1280421"/>
              <a:ext cx="637469" cy="690977"/>
            </a:xfrm>
            <a:custGeom>
              <a:avLst/>
              <a:gdLst>
                <a:gd name="connsiteX0" fmla="*/ 191945 w 637469"/>
                <a:gd name="connsiteY0" fmla="*/ 630046 h 690977"/>
                <a:gd name="connsiteX1" fmla="*/ 138469 w 637469"/>
                <a:gd name="connsiteY1" fmla="*/ 580297 h 690977"/>
                <a:gd name="connsiteX2" fmla="*/ 191945 w 637469"/>
                <a:gd name="connsiteY2" fmla="*/ 630046 h 690977"/>
                <a:gd name="connsiteX3" fmla="*/ 95970 w 637469"/>
                <a:gd name="connsiteY3" fmla="*/ 660512 h 690977"/>
                <a:gd name="connsiteX4" fmla="*/ 191945 w 637469"/>
                <a:gd name="connsiteY4" fmla="*/ 630046 h 690977"/>
                <a:gd name="connsiteX5" fmla="*/ 466494 w 637469"/>
                <a:gd name="connsiteY5" fmla="*/ 329583 h 690977"/>
                <a:gd name="connsiteX6" fmla="*/ 500167 w 637469"/>
                <a:gd name="connsiteY6" fmla="*/ 292728 h 690977"/>
                <a:gd name="connsiteX7" fmla="*/ 566528 w 637469"/>
                <a:gd name="connsiteY7" fmla="*/ 220110 h 690977"/>
                <a:gd name="connsiteX8" fmla="*/ 32419 w 637469"/>
                <a:gd name="connsiteY8" fmla="*/ 481644 h 690977"/>
                <a:gd name="connsiteX9" fmla="*/ 414251 w 637469"/>
                <a:gd name="connsiteY9" fmla="*/ 78455 h 690977"/>
                <a:gd name="connsiteX10" fmla="*/ 32419 w 637469"/>
                <a:gd name="connsiteY10" fmla="*/ 481644 h 690977"/>
                <a:gd name="connsiteX11" fmla="*/ 84992 w 637469"/>
                <a:gd name="connsiteY11" fmla="*/ 530553 h 690977"/>
                <a:gd name="connsiteX12" fmla="*/ 32419 w 637469"/>
                <a:gd name="connsiteY12" fmla="*/ 481644 h 690977"/>
                <a:gd name="connsiteX13" fmla="*/ 16212 w 637469"/>
                <a:gd name="connsiteY13" fmla="*/ 586313 h 690977"/>
                <a:gd name="connsiteX14" fmla="*/ 466494 w 637469"/>
                <a:gd name="connsiteY14" fmla="*/ 25319 h 690977"/>
                <a:gd name="connsiteX15" fmla="*/ 478952 w 637469"/>
                <a:gd name="connsiteY15" fmla="*/ 10903 h 690977"/>
                <a:gd name="connsiteX16" fmla="*/ 524076 w 637469"/>
                <a:gd name="connsiteY16" fmla="*/ 8288 h 690977"/>
                <a:gd name="connsiteX17" fmla="*/ 627265 w 637469"/>
                <a:gd name="connsiteY17" fmla="*/ 102941 h 690977"/>
                <a:gd name="connsiteX18" fmla="*/ 630226 w 637469"/>
                <a:gd name="connsiteY18" fmla="*/ 146253 h 690977"/>
                <a:gd name="connsiteX19" fmla="*/ 616003 w 637469"/>
                <a:gd name="connsiteY19" fmla="*/ 163415 h 690977"/>
                <a:gd name="connsiteX20" fmla="*/ 466494 w 637469"/>
                <a:gd name="connsiteY20" fmla="*/ 25319 h 690977"/>
                <a:gd name="connsiteX21" fmla="*/ 464016 w 637469"/>
                <a:gd name="connsiteY21" fmla="*/ 24962 h 690977"/>
                <a:gd name="connsiteX22" fmla="*/ 439136 w 637469"/>
                <a:gd name="connsiteY22" fmla="*/ 51711 h 690977"/>
                <a:gd name="connsiteX23" fmla="*/ 466494 w 637469"/>
                <a:gd name="connsiteY23" fmla="*/ 25319 h 690977"/>
                <a:gd name="connsiteX24" fmla="*/ 616003 w 637469"/>
                <a:gd name="connsiteY24" fmla="*/ 163415 h 690977"/>
                <a:gd name="connsiteX25" fmla="*/ 616003 w 637469"/>
                <a:gd name="connsiteY25" fmla="*/ 163415 h 690977"/>
                <a:gd name="connsiteX26" fmla="*/ 616292 w 637469"/>
                <a:gd name="connsiteY26" fmla="*/ 166613 h 690977"/>
                <a:gd name="connsiteX27" fmla="*/ 591407 w 637469"/>
                <a:gd name="connsiteY27" fmla="*/ 193361 h 690977"/>
                <a:gd name="connsiteX28" fmla="*/ 414251 w 637469"/>
                <a:gd name="connsiteY28" fmla="*/ 78455 h 690977"/>
                <a:gd name="connsiteX29" fmla="*/ 439136 w 637469"/>
                <a:gd name="connsiteY29" fmla="*/ 51711 h 690977"/>
                <a:gd name="connsiteX30" fmla="*/ 414251 w 637469"/>
                <a:gd name="connsiteY30" fmla="*/ 78455 h 690977"/>
                <a:gd name="connsiteX31" fmla="*/ 460903 w 637469"/>
                <a:gd name="connsiteY31" fmla="*/ 119184 h 690977"/>
                <a:gd name="connsiteX32" fmla="*/ 566528 w 637469"/>
                <a:gd name="connsiteY32" fmla="*/ 220110 h 690977"/>
                <a:gd name="connsiteX33" fmla="*/ 591407 w 637469"/>
                <a:gd name="connsiteY33" fmla="*/ 193361 h 690977"/>
                <a:gd name="connsiteX34" fmla="*/ 566528 w 637469"/>
                <a:gd name="connsiteY34" fmla="*/ 220110 h 690977"/>
                <a:gd name="connsiteX35" fmla="*/ 521666 w 637469"/>
                <a:gd name="connsiteY35" fmla="*/ 175706 h 690977"/>
                <a:gd name="connsiteX36" fmla="*/ 439136 w 637469"/>
                <a:gd name="connsiteY36" fmla="*/ 51711 h 690977"/>
                <a:gd name="connsiteX37" fmla="*/ 450634 w 637469"/>
                <a:gd name="connsiteY37" fmla="*/ 60836 h 690977"/>
                <a:gd name="connsiteX38" fmla="*/ 591407 w 637469"/>
                <a:gd name="connsiteY38" fmla="*/ 193361 h 690977"/>
                <a:gd name="connsiteX39" fmla="*/ 582309 w 637469"/>
                <a:gd name="connsiteY39" fmla="*/ 186710 h 690977"/>
                <a:gd name="connsiteX40" fmla="*/ 84992 w 637469"/>
                <a:gd name="connsiteY40" fmla="*/ 530553 h 690977"/>
                <a:gd name="connsiteX41" fmla="*/ 138469 w 637469"/>
                <a:gd name="connsiteY41" fmla="*/ 580297 h 690977"/>
                <a:gd name="connsiteX42" fmla="*/ 84992 w 637469"/>
                <a:gd name="connsiteY42" fmla="*/ 530553 h 690977"/>
                <a:gd name="connsiteX43" fmla="*/ 178967 w 637469"/>
                <a:gd name="connsiteY43" fmla="*/ 427711 h 690977"/>
                <a:gd name="connsiteX44" fmla="*/ 138469 w 637469"/>
                <a:gd name="connsiteY44" fmla="*/ 580297 h 690977"/>
                <a:gd name="connsiteX45" fmla="*/ 330067 w 637469"/>
                <a:gd name="connsiteY45" fmla="*/ 378004 h 690977"/>
                <a:gd name="connsiteX46" fmla="*/ 95970 w 637469"/>
                <a:gd name="connsiteY46" fmla="*/ 660512 h 690977"/>
                <a:gd name="connsiteX47" fmla="*/ 0 w 637469"/>
                <a:gd name="connsiteY47" fmla="*/ 690977 h 690977"/>
                <a:gd name="connsiteX48" fmla="*/ 16212 w 637469"/>
                <a:gd name="connsiteY48" fmla="*/ 586313 h 690977"/>
                <a:gd name="connsiteX49" fmla="*/ 95970 w 637469"/>
                <a:gd name="connsiteY49" fmla="*/ 660512 h 690977"/>
                <a:gd name="connsiteX50" fmla="*/ 16212 w 637469"/>
                <a:gd name="connsiteY50" fmla="*/ 586313 h 690977"/>
                <a:gd name="connsiteX51" fmla="*/ 460903 w 637469"/>
                <a:gd name="connsiteY51" fmla="*/ 119184 h 690977"/>
                <a:gd name="connsiteX52" fmla="*/ 521666 w 637469"/>
                <a:gd name="connsiteY52" fmla="*/ 175706 h 690977"/>
                <a:gd name="connsiteX53" fmla="*/ 460903 w 637469"/>
                <a:gd name="connsiteY53" fmla="*/ 119184 h 690977"/>
                <a:gd name="connsiteX54" fmla="*/ 272947 w 637469"/>
                <a:gd name="connsiteY54" fmla="*/ 324869 h 690977"/>
                <a:gd name="connsiteX55" fmla="*/ 521666 w 637469"/>
                <a:gd name="connsiteY55" fmla="*/ 175706 h 690977"/>
                <a:gd name="connsiteX56" fmla="*/ 425864 w 637469"/>
                <a:gd name="connsiteY56" fmla="*/ 276852 h 69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637469" h="690977" extrusionOk="0">
                  <a:moveTo>
                    <a:pt x="191945" y="630046"/>
                  </a:moveTo>
                  <a:cubicBezTo>
                    <a:pt x="188207" y="590214"/>
                    <a:pt x="175056" y="581032"/>
                    <a:pt x="138469" y="580297"/>
                  </a:cubicBezTo>
                  <a:moveTo>
                    <a:pt x="191945" y="630046"/>
                  </a:moveTo>
                  <a:lnTo>
                    <a:pt x="95970" y="660512"/>
                  </a:lnTo>
                  <a:moveTo>
                    <a:pt x="191945" y="630046"/>
                  </a:moveTo>
                  <a:lnTo>
                    <a:pt x="466494" y="329583"/>
                  </a:lnTo>
                  <a:lnTo>
                    <a:pt x="500167" y="292728"/>
                  </a:lnTo>
                  <a:lnTo>
                    <a:pt x="566528" y="220110"/>
                  </a:lnTo>
                  <a:moveTo>
                    <a:pt x="32419" y="481644"/>
                  </a:moveTo>
                  <a:lnTo>
                    <a:pt x="414251" y="78455"/>
                  </a:lnTo>
                  <a:moveTo>
                    <a:pt x="32419" y="481644"/>
                  </a:moveTo>
                  <a:cubicBezTo>
                    <a:pt x="69625" y="482810"/>
                    <a:pt x="77212" y="497751"/>
                    <a:pt x="84992" y="530553"/>
                  </a:cubicBezTo>
                  <a:moveTo>
                    <a:pt x="32419" y="481644"/>
                  </a:moveTo>
                  <a:lnTo>
                    <a:pt x="16212" y="586313"/>
                  </a:lnTo>
                  <a:moveTo>
                    <a:pt x="466494" y="25319"/>
                  </a:moveTo>
                  <a:lnTo>
                    <a:pt x="478952" y="10903"/>
                  </a:lnTo>
                  <a:cubicBezTo>
                    <a:pt x="490570" y="-2537"/>
                    <a:pt x="510988" y="-3718"/>
                    <a:pt x="524076" y="8288"/>
                  </a:cubicBezTo>
                  <a:lnTo>
                    <a:pt x="627265" y="102941"/>
                  </a:lnTo>
                  <a:cubicBezTo>
                    <a:pt x="639628" y="114286"/>
                    <a:pt x="640931" y="133333"/>
                    <a:pt x="630226" y="146253"/>
                  </a:cubicBezTo>
                  <a:lnTo>
                    <a:pt x="616003" y="163415"/>
                  </a:lnTo>
                  <a:moveTo>
                    <a:pt x="466494" y="25319"/>
                  </a:moveTo>
                  <a:lnTo>
                    <a:pt x="464016" y="24962"/>
                  </a:lnTo>
                  <a:cubicBezTo>
                    <a:pt x="454419" y="28007"/>
                    <a:pt x="440486" y="42986"/>
                    <a:pt x="439136" y="51711"/>
                  </a:cubicBezTo>
                  <a:moveTo>
                    <a:pt x="466494" y="25319"/>
                  </a:moveTo>
                  <a:cubicBezTo>
                    <a:pt x="519561" y="71094"/>
                    <a:pt x="562889" y="110138"/>
                    <a:pt x="616003" y="163415"/>
                  </a:cubicBezTo>
                  <a:moveTo>
                    <a:pt x="616003" y="163415"/>
                  </a:moveTo>
                  <a:lnTo>
                    <a:pt x="616292" y="166613"/>
                  </a:lnTo>
                  <a:cubicBezTo>
                    <a:pt x="613945" y="176409"/>
                    <a:pt x="600012" y="191387"/>
                    <a:pt x="591407" y="193361"/>
                  </a:cubicBezTo>
                  <a:moveTo>
                    <a:pt x="414251" y="78455"/>
                  </a:moveTo>
                  <a:cubicBezTo>
                    <a:pt x="418588" y="66527"/>
                    <a:pt x="428542" y="55827"/>
                    <a:pt x="439136" y="51711"/>
                  </a:cubicBezTo>
                  <a:moveTo>
                    <a:pt x="414251" y="78455"/>
                  </a:moveTo>
                  <a:cubicBezTo>
                    <a:pt x="431671" y="93407"/>
                    <a:pt x="446827" y="106621"/>
                    <a:pt x="460903" y="119184"/>
                  </a:cubicBezTo>
                  <a:moveTo>
                    <a:pt x="566528" y="220110"/>
                  </a:moveTo>
                  <a:cubicBezTo>
                    <a:pt x="581233" y="214304"/>
                    <a:pt x="588247" y="200396"/>
                    <a:pt x="591407" y="193361"/>
                  </a:cubicBezTo>
                  <a:moveTo>
                    <a:pt x="566528" y="220110"/>
                  </a:moveTo>
                  <a:cubicBezTo>
                    <a:pt x="549995" y="203489"/>
                    <a:pt x="535458" y="189077"/>
                    <a:pt x="521666" y="175706"/>
                  </a:cubicBezTo>
                  <a:moveTo>
                    <a:pt x="439136" y="51711"/>
                  </a:moveTo>
                  <a:lnTo>
                    <a:pt x="450634" y="60836"/>
                  </a:lnTo>
                  <a:moveTo>
                    <a:pt x="591407" y="193361"/>
                  </a:moveTo>
                  <a:lnTo>
                    <a:pt x="582309" y="186710"/>
                  </a:lnTo>
                  <a:moveTo>
                    <a:pt x="84992" y="530553"/>
                  </a:moveTo>
                  <a:cubicBezTo>
                    <a:pt x="110334" y="514210"/>
                    <a:pt x="157999" y="546576"/>
                    <a:pt x="138469" y="580297"/>
                  </a:cubicBezTo>
                  <a:moveTo>
                    <a:pt x="84992" y="530553"/>
                  </a:moveTo>
                  <a:lnTo>
                    <a:pt x="178967" y="427711"/>
                  </a:lnTo>
                  <a:moveTo>
                    <a:pt x="138469" y="580297"/>
                  </a:moveTo>
                  <a:lnTo>
                    <a:pt x="330067" y="378004"/>
                  </a:lnTo>
                  <a:moveTo>
                    <a:pt x="95970" y="660512"/>
                  </a:moveTo>
                  <a:lnTo>
                    <a:pt x="0" y="690977"/>
                  </a:lnTo>
                  <a:lnTo>
                    <a:pt x="16212" y="586313"/>
                  </a:lnTo>
                  <a:moveTo>
                    <a:pt x="95970" y="660512"/>
                  </a:moveTo>
                  <a:cubicBezTo>
                    <a:pt x="80929" y="614217"/>
                    <a:pt x="60559" y="601103"/>
                    <a:pt x="16212" y="586313"/>
                  </a:cubicBezTo>
                  <a:moveTo>
                    <a:pt x="460903" y="119184"/>
                  </a:moveTo>
                  <a:cubicBezTo>
                    <a:pt x="482276" y="138252"/>
                    <a:pt x="501149" y="155824"/>
                    <a:pt x="521666" y="175706"/>
                  </a:cubicBezTo>
                  <a:moveTo>
                    <a:pt x="460903" y="119184"/>
                  </a:moveTo>
                  <a:lnTo>
                    <a:pt x="272947" y="324869"/>
                  </a:lnTo>
                  <a:moveTo>
                    <a:pt x="521666" y="175706"/>
                  </a:moveTo>
                  <a:lnTo>
                    <a:pt x="425864" y="276852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9" name="Полилиния: фигура 18"/>
            <p:cNvSpPr/>
            <p:nvPr/>
          </p:nvSpPr>
          <p:spPr bwMode="auto">
            <a:xfrm>
              <a:off x="3761250" y="1745250"/>
              <a:ext cx="149625" cy="165375"/>
            </a:xfrm>
            <a:custGeom>
              <a:avLst/>
              <a:gdLst>
                <a:gd name="connsiteX0" fmla="*/ 149625 w 149625"/>
                <a:gd name="connsiteY0" fmla="*/ 36750 h 165375"/>
                <a:gd name="connsiteX1" fmla="*/ 0 w 149625"/>
                <a:gd name="connsiteY1" fmla="*/ 165375 h 165375"/>
                <a:gd name="connsiteX2" fmla="*/ 149625 w 149625"/>
                <a:gd name="connsiteY2" fmla="*/ 0 h 165375"/>
                <a:gd name="connsiteX3" fmla="*/ 149625 w 149625"/>
                <a:gd name="connsiteY3" fmla="*/ 36750 h 165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625" h="165375" extrusionOk="0">
                  <a:moveTo>
                    <a:pt x="149625" y="36750"/>
                  </a:moveTo>
                  <a:lnTo>
                    <a:pt x="0" y="165375"/>
                  </a:lnTo>
                  <a:lnTo>
                    <a:pt x="149625" y="0"/>
                  </a:lnTo>
                  <a:lnTo>
                    <a:pt x="149625" y="36750"/>
                  </a:lnTo>
                  <a:close/>
                </a:path>
              </a:pathLst>
            </a:custGeom>
            <a:solidFill>
              <a:srgbClr val="0000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4261065" y="1461137"/>
              <a:ext cx="90877" cy="30180"/>
            </a:xfrm>
            <a:custGeom>
              <a:avLst/>
              <a:gdLst>
                <a:gd name="connsiteX0" fmla="*/ 0 w 90877"/>
                <a:gd name="connsiteY0" fmla="*/ 4 h 30180"/>
                <a:gd name="connsiteX1" fmla="*/ 90877 w 90877"/>
                <a:gd name="connsiteY1" fmla="*/ 30181 h 30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877" h="30180" extrusionOk="0">
                  <a:moveTo>
                    <a:pt x="0" y="4"/>
                  </a:moveTo>
                  <a:cubicBezTo>
                    <a:pt x="0" y="4"/>
                    <a:pt x="37979" y="-1020"/>
                    <a:pt x="90877" y="30181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1" name="Полилиния: фигура 20"/>
            <p:cNvSpPr/>
            <p:nvPr/>
          </p:nvSpPr>
          <p:spPr bwMode="auto">
            <a:xfrm>
              <a:off x="4265097" y="1369496"/>
              <a:ext cx="103031" cy="23898"/>
            </a:xfrm>
            <a:custGeom>
              <a:avLst/>
              <a:gdLst>
                <a:gd name="connsiteX0" fmla="*/ 0 w 103031"/>
                <a:gd name="connsiteY0" fmla="*/ 23898 h 23898"/>
                <a:gd name="connsiteX1" fmla="*/ 103031 w 103031"/>
                <a:gd name="connsiteY1" fmla="*/ 0 h 23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031" h="23898" extrusionOk="0">
                  <a:moveTo>
                    <a:pt x="0" y="23898"/>
                  </a:moveTo>
                  <a:cubicBezTo>
                    <a:pt x="0" y="23898"/>
                    <a:pt x="46441" y="121"/>
                    <a:pt x="103031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2" name="Полилиния: фигура 21"/>
            <p:cNvSpPr/>
            <p:nvPr/>
          </p:nvSpPr>
          <p:spPr bwMode="auto">
            <a:xfrm>
              <a:off x="4228011" y="1262323"/>
              <a:ext cx="81227" cy="62784"/>
            </a:xfrm>
            <a:custGeom>
              <a:avLst/>
              <a:gdLst>
                <a:gd name="connsiteX0" fmla="*/ 0 w 81227"/>
                <a:gd name="connsiteY0" fmla="*/ 62785 h 62784"/>
                <a:gd name="connsiteX1" fmla="*/ 81228 w 81227"/>
                <a:gd name="connsiteY1" fmla="*/ 0 h 62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227" h="62784" extrusionOk="0">
                  <a:moveTo>
                    <a:pt x="0" y="62785"/>
                  </a:moveTo>
                  <a:cubicBezTo>
                    <a:pt x="41680" y="44908"/>
                    <a:pt x="81228" y="0"/>
                    <a:pt x="81228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0AD8117-6E98-E44B-7B51-4CAA08ACCCE8}"/>
              </a:ext>
            </a:extLst>
          </p:cNvPr>
          <p:cNvSpPr txBox="1"/>
          <p:nvPr/>
        </p:nvSpPr>
        <p:spPr bwMode="auto">
          <a:xfrm>
            <a:off x="331200" y="948548"/>
            <a:ext cx="7852680" cy="628634"/>
          </a:xfrm>
          <a:prstGeom prst="rect">
            <a:avLst/>
          </a:prstGeom>
          <a:noFill/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R="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defRPr/>
            </a:pPr>
            <a:r>
              <a:rPr lang="ru-RU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Повысить операционную эффективность отдела продаж компании «</a:t>
            </a:r>
            <a:r>
              <a:rPr lang="ru-RU" sz="12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АльфаСнаб</a:t>
            </a:r>
            <a:r>
              <a:rPr lang="ru-RU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» и увеличить доходность бизнеса за счёт сокращения цикла обработки заявок и минимизации потерь клиентов, вызванных человеческим фактором.</a:t>
            </a:r>
            <a:endParaRPr lang="ru-RU" sz="105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6F766B-D935-4D89-B902-B5D62AA4B8C1}"/>
              </a:ext>
            </a:extLst>
          </p:cNvPr>
          <p:cNvSpPr txBox="1"/>
          <p:nvPr/>
        </p:nvSpPr>
        <p:spPr bwMode="auto">
          <a:xfrm>
            <a:off x="790239" y="1819210"/>
            <a:ext cx="5682239" cy="1776320"/>
          </a:xfrm>
          <a:prstGeom prst="rect">
            <a:avLst/>
          </a:prstGeom>
          <a:noFill/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L="285750" indent="-285750" algn="l">
              <a:lnSpc>
                <a:spcPts val="2000"/>
              </a:lnSpc>
              <a:buFont typeface="Wingdings" panose="05000000000000000000" pitchFamily="2" charset="2"/>
              <a:buChar char="§"/>
            </a:pPr>
            <a:r>
              <a:rPr lang="ru-RU" sz="1200" b="1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Сократить время обработки заявки </a:t>
            </a:r>
            <a:r>
              <a:rPr lang="ru-RU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 текущих 1.5 дней до уровня нескольких часов.</a:t>
            </a:r>
          </a:p>
          <a:p>
            <a:pPr marL="285750" indent="-285750" algn="l">
              <a:lnSpc>
                <a:spcPts val="2000"/>
              </a:lnSpc>
              <a:buFont typeface="Wingdings" panose="05000000000000000000" pitchFamily="2" charset="2"/>
              <a:buChar char="§"/>
            </a:pPr>
            <a:r>
              <a:rPr lang="ru-RU" sz="1200" b="1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Снизить уровень операционных потерь</a:t>
            </a:r>
            <a:r>
              <a:rPr lang="ru-RU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(пропущенные заявки, дубли, потеря контакта) с 15% до уровня статистической погрешности.</a:t>
            </a:r>
          </a:p>
          <a:p>
            <a:pPr marL="285750" indent="-285750" algn="l">
              <a:lnSpc>
                <a:spcPts val="2000"/>
              </a:lnSpc>
              <a:buFont typeface="Wingdings" panose="05000000000000000000" pitchFamily="2" charset="2"/>
              <a:buChar char="§"/>
            </a:pPr>
            <a:r>
              <a:rPr lang="ru-RU" sz="1200" b="1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Повысить конверсию</a:t>
            </a:r>
            <a:r>
              <a:rPr lang="ru-RU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входящего потока в сделку за счёт ускорения реакции и обработки новой заявки.</a:t>
            </a:r>
          </a:p>
          <a:p>
            <a:pPr marL="285750" indent="-285750" algn="l">
              <a:lnSpc>
                <a:spcPts val="2000"/>
              </a:lnSpc>
              <a:buFont typeface="Wingdings" panose="05000000000000000000" pitchFamily="2" charset="2"/>
              <a:buChar char="§"/>
            </a:pPr>
            <a:r>
              <a:rPr lang="ru-RU" sz="1200" b="1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Устранить «бутылочное горлышко»</a:t>
            </a:r>
            <a:r>
              <a:rPr lang="ru-RU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на этапе ручного ввода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333088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621981" name="Google Shape;1221;p126"/>
          <p:cNvSpPr/>
          <p:nvPr/>
        </p:nvSpPr>
        <p:spPr bwMode="auto">
          <a:xfrm>
            <a:off x="331200" y="266400"/>
            <a:ext cx="7052220" cy="440120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ru-RU" sz="28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Схема AS IS (текущий процесс)</a:t>
            </a:r>
            <a:endParaRPr lang="ru-RU" sz="2800" b="1" i="0" u="none" strike="noStrike" cap="none">
              <a:solidFill>
                <a:srgbClr val="000000"/>
              </a:solidFill>
              <a:latin typeface="Open Sans"/>
              <a:cs typeface="Open Sans"/>
            </a:endParaRPr>
          </a:p>
        </p:txBody>
      </p:sp>
      <p:pic>
        <p:nvPicPr>
          <p:cNvPr id="15" name="Рисунок 14" descr="Изображение выглядит как текст, снимок экрана, диаграмм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B7E0074-E300-B207-5A8A-727802D74D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71" r="6448"/>
          <a:stretch/>
        </p:blipFill>
        <p:spPr>
          <a:xfrm>
            <a:off x="1865950" y="706520"/>
            <a:ext cx="5412100" cy="44369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621981" name="Google Shape;1221;p126"/>
          <p:cNvSpPr/>
          <p:nvPr/>
        </p:nvSpPr>
        <p:spPr bwMode="auto">
          <a:xfrm>
            <a:off x="331200" y="266400"/>
            <a:ext cx="7052220" cy="440120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ru-RU" sz="28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Анализ проблем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AS IS</a:t>
            </a:r>
            <a:endParaRPr lang="ru-RU" sz="2800" b="1" i="0" u="none" strike="noStrike" cap="none">
              <a:solidFill>
                <a:srgbClr val="000000"/>
              </a:solidFill>
              <a:latin typeface="Open Sans"/>
              <a:cs typeface="Open Sans"/>
            </a:endParaRPr>
          </a:p>
        </p:txBody>
      </p:sp>
      <p:graphicFrame>
        <p:nvGraphicFramePr>
          <p:cNvPr id="21" name="Таблица 20">
            <a:extLst>
              <a:ext uri="{FF2B5EF4-FFF2-40B4-BE49-F238E27FC236}">
                <a16:creationId xmlns:a16="http://schemas.microsoft.com/office/drawing/2014/main" id="{1BE62D38-8DB7-F0C0-E058-225EFF11F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478402"/>
              </p:ext>
            </p:extLst>
          </p:nvPr>
        </p:nvGraphicFramePr>
        <p:xfrm>
          <a:off x="331200" y="807211"/>
          <a:ext cx="8381358" cy="4055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2099">
                  <a:extLst>
                    <a:ext uri="{9D8B030D-6E8A-4147-A177-3AD203B41FA5}">
                      <a16:colId xmlns:a16="http://schemas.microsoft.com/office/drawing/2014/main" val="227344601"/>
                    </a:ext>
                  </a:extLst>
                </a:gridCol>
                <a:gridCol w="2273817">
                  <a:extLst>
                    <a:ext uri="{9D8B030D-6E8A-4147-A177-3AD203B41FA5}">
                      <a16:colId xmlns:a16="http://schemas.microsoft.com/office/drawing/2014/main" val="1243120364"/>
                    </a:ext>
                  </a:extLst>
                </a:gridCol>
                <a:gridCol w="2905442">
                  <a:extLst>
                    <a:ext uri="{9D8B030D-6E8A-4147-A177-3AD203B41FA5}">
                      <a16:colId xmlns:a16="http://schemas.microsoft.com/office/drawing/2014/main" val="2437900474"/>
                    </a:ext>
                  </a:extLst>
                </a:gridCol>
              </a:tblGrid>
              <a:tr h="43143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Узкое место (точка сбоя)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Причина возникновения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Влияние на бизнес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8888408"/>
                  </a:ext>
                </a:extLst>
              </a:tr>
              <a:tr h="579796">
                <a:tc>
                  <a:txBody>
                    <a:bodyPr/>
                    <a:lstStyle/>
                    <a:p>
                      <a:r>
                        <a:rPr lang="ru-RU" sz="1100" dirty="0"/>
                        <a:t>Единственный оператор, обрабатывающий заявки клиента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Отсутствие интеграции / автоматизации между </a:t>
                      </a:r>
                      <a:r>
                        <a:rPr lang="en-US" sz="1100" dirty="0"/>
                        <a:t>email</a:t>
                      </a:r>
                      <a:r>
                        <a:rPr lang="ru-RU" sz="1100" dirty="0"/>
                        <a:t> и </a:t>
                      </a:r>
                      <a:r>
                        <a:rPr lang="en-US" sz="1100" dirty="0"/>
                        <a:t>CRM</a:t>
                      </a:r>
                      <a:endParaRPr lang="ru-RU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Потеря клиента на старте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759813"/>
                  </a:ext>
                </a:extLst>
              </a:tr>
              <a:tr h="579796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Ручной перенос данных из почты в CRM</a:t>
                      </a:r>
                      <a:endParaRPr lang="ru-RU" sz="1100" dirty="0"/>
                    </a:p>
                    <a:p>
                      <a:endParaRPr lang="ru-RU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Человеческий фактор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Временные потери (среднее время обработки заявки – 1.5 дня)</a:t>
                      </a:r>
                    </a:p>
                    <a:p>
                      <a:endParaRPr lang="ru-RU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805271"/>
                  </a:ext>
                </a:extLst>
              </a:tr>
              <a:tr h="579796">
                <a:tc>
                  <a:txBody>
                    <a:bodyPr/>
                    <a:lstStyle/>
                    <a:p>
                      <a:r>
                        <a:rPr lang="ru-RU" sz="1100" dirty="0"/>
                        <a:t>Потеря или/и дублирование заявок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100" dirty="0"/>
                        <a:t>Человеческий фактор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Потеря клиента </a:t>
                      </a:r>
                    </a:p>
                    <a:p>
                      <a:r>
                        <a:rPr lang="ru-RU" sz="1100" dirty="0"/>
                        <a:t>Временные потери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126318"/>
                  </a:ext>
                </a:extLst>
              </a:tr>
              <a:tr h="579796">
                <a:tc>
                  <a:txBody>
                    <a:bodyPr/>
                    <a:lstStyle/>
                    <a:p>
                      <a:r>
                        <a:rPr lang="ru-RU" sz="1100" dirty="0"/>
                        <a:t>Принцип распределения заявок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Отсутствует алгоритм распределения заявок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Временные потери на обработку заявок (один менеджер занят, другой простаивает)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295280"/>
                  </a:ext>
                </a:extLst>
              </a:tr>
              <a:tr h="579796">
                <a:tc>
                  <a:txBody>
                    <a:bodyPr/>
                    <a:lstStyle/>
                    <a:p>
                      <a:r>
                        <a:rPr lang="ru-RU" sz="1100" dirty="0"/>
                        <a:t>Звонок клиенту для уточнения деталей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Отсутствует форма и обязательные поля в шаблоне заявки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Временные потери в попытках дозвонится до клиента</a:t>
                      </a:r>
                    </a:p>
                    <a:p>
                      <a:r>
                        <a:rPr lang="ru-RU" sz="1100" dirty="0"/>
                        <a:t>Потеря клиента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230999"/>
                  </a:ext>
                </a:extLst>
              </a:tr>
              <a:tr h="579796">
                <a:tc>
                  <a:txBody>
                    <a:bodyPr/>
                    <a:lstStyle/>
                    <a:p>
                      <a:r>
                        <a:rPr lang="ru-RU" sz="1100" dirty="0"/>
                        <a:t>Ручной расчет по заявке и отправка предложения клиенту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Отсутствует автоматическая калькуляция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Потеря клиента из-за задержки при подготовке расчета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69776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621981" name="Google Shape;1221;p126"/>
          <p:cNvSpPr/>
          <p:nvPr/>
        </p:nvSpPr>
        <p:spPr bwMode="auto">
          <a:xfrm>
            <a:off x="331200" y="266400"/>
            <a:ext cx="7052220" cy="880241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ru-RU" sz="2800" b="1" i="0" u="none" strike="noStrike" cap="none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Схема TO BE (оптимизированный процесс)</a:t>
            </a:r>
          </a:p>
        </p:txBody>
      </p:sp>
      <p:graphicFrame>
        <p:nvGraphicFramePr>
          <p:cNvPr id="30" name="Объект 29">
            <a:extLst>
              <a:ext uri="{FF2B5EF4-FFF2-40B4-BE49-F238E27FC236}">
                <a16:creationId xmlns:a16="http://schemas.microsoft.com/office/drawing/2014/main" id="{E1B46BDD-84A5-D797-988D-F1E32C4AEA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5375579"/>
              </p:ext>
            </p:extLst>
          </p:nvPr>
        </p:nvGraphicFramePr>
        <p:xfrm>
          <a:off x="7751452" y="1399001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DF" showAsIcon="1" r:id="rId3" imgW="914400" imgH="792338" progId="FoxitPhantomPDF.Document">
                  <p:link updateAutomatic="1"/>
                </p:oleObj>
              </mc:Choice>
              <mc:Fallback>
                <p:oleObj name="PDF" showAsIcon="1" r:id="rId3" imgW="914400" imgH="792338" progId="FoxitPhantomPDF.Document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51452" y="1399001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61EF38BB-A259-D991-32C1-C24E035E554E}"/>
              </a:ext>
            </a:extLst>
          </p:cNvPr>
          <p:cNvSpPr txBox="1"/>
          <p:nvPr/>
        </p:nvSpPr>
        <p:spPr bwMode="auto">
          <a:xfrm>
            <a:off x="354558" y="1259284"/>
            <a:ext cx="6343757" cy="279435"/>
          </a:xfrm>
          <a:prstGeom prst="rect">
            <a:avLst/>
          </a:prstGeom>
          <a:noFill/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R="0" lvl="0" algn="l">
              <a:lnSpc>
                <a:spcPct val="1000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ts val="1900"/>
              <a:defRPr/>
            </a:pPr>
            <a:r>
              <a:rPr lang="ru-RU" sz="1600" u="sng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Краткое описание ключевых изменений:</a:t>
            </a:r>
            <a:endParaRPr u="sng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D9A453-F0C3-8F3D-D85E-A6FE011CB80C}"/>
              </a:ext>
            </a:extLst>
          </p:cNvPr>
          <p:cNvSpPr txBox="1"/>
          <p:nvPr/>
        </p:nvSpPr>
        <p:spPr bwMode="auto">
          <a:xfrm>
            <a:off x="354558" y="1741514"/>
            <a:ext cx="6959012" cy="2529667"/>
          </a:xfrm>
          <a:prstGeom prst="rect">
            <a:avLst/>
          </a:prstGeom>
          <a:noFill/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  <a:defRPr/>
            </a:pP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Внедрение структурированного шаблона заявки и ликвидация ручного приёма.</a:t>
            </a:r>
            <a:b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ru-RU" sz="11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(вводится единый цифровой шаблон заявки с набором обязательных к заполнению полей)</a:t>
            </a:r>
            <a:endParaRPr lang="ru-RU" sz="12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  <a:defRPr/>
            </a:pP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Автоматический </a:t>
            </a: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парсинг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и валидация входящих заявок.</a:t>
            </a:r>
            <a:b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ru-RU" sz="11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(автоматическое извлечение данных и создание сделки в CRM; проверяется корректность и полнота данных)</a:t>
            </a:r>
          </a:p>
          <a:p>
            <a:pPr marL="342900" marR="0" lvl="0" indent="-342900" algn="l">
              <a:lnSpc>
                <a:spcPct val="1000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  <a:defRPr/>
            </a:pP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Категоризация и автоматическая обработка стандартных заявок.</a:t>
            </a:r>
            <a:b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ru-RU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ru-RU" sz="11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заявки, в которых не хватает данных, направляются менеджеру на уточнение)</a:t>
            </a:r>
            <a:endParaRPr lang="ru-RU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  <a:defRPr/>
            </a:pP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Автоматический расчет, генерация и отправка коммерческого предложения.</a:t>
            </a:r>
            <a:b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ru-RU" sz="11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(можно дополнительно внедрить систему отслеживания прочтения КП клиентом)</a:t>
            </a:r>
            <a:endParaRPr lang="ru-RU" sz="12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Google Shape;1222;p126">
            <a:extLst>
              <a:ext uri="{FF2B5EF4-FFF2-40B4-BE49-F238E27FC236}">
                <a16:creationId xmlns:a16="http://schemas.microsoft.com/office/drawing/2014/main" id="{D8763169-BD6F-2027-A93A-C518120B3230}"/>
              </a:ext>
            </a:extLst>
          </p:cNvPr>
          <p:cNvSpPr/>
          <p:nvPr/>
        </p:nvSpPr>
        <p:spPr bwMode="auto">
          <a:xfrm>
            <a:off x="6827210" y="2856870"/>
            <a:ext cx="1962232" cy="1962000"/>
          </a:xfrm>
          <a:prstGeom prst="ellipse">
            <a:avLst/>
          </a:prstGeom>
          <a:noFill/>
          <a:ln w="9525" cap="flat" cmpd="sng">
            <a:solidFill>
              <a:srgbClr val="C4C4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4" tIns="45724" rIns="45724" bIns="45724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6889EC1B-1292-C02D-7429-4AECC7319DD5}"/>
              </a:ext>
            </a:extLst>
          </p:cNvPr>
          <p:cNvGrpSpPr/>
          <p:nvPr/>
        </p:nvGrpSpPr>
        <p:grpSpPr bwMode="auto">
          <a:xfrm>
            <a:off x="7288909" y="3354820"/>
            <a:ext cx="1150545" cy="877446"/>
            <a:chOff x="4072892" y="293053"/>
            <a:chExt cx="1308898" cy="978153"/>
          </a:xfrm>
        </p:grpSpPr>
        <p:sp>
          <p:nvSpPr>
            <p:cNvPr id="35" name="Прямоугольник: скругленные углы 34">
              <a:extLst>
                <a:ext uri="{FF2B5EF4-FFF2-40B4-BE49-F238E27FC236}">
                  <a16:creationId xmlns:a16="http://schemas.microsoft.com/office/drawing/2014/main" id="{2FDDA9A9-B1A8-C274-51F6-7451D775A076}"/>
                </a:ext>
              </a:extLst>
            </p:cNvPr>
            <p:cNvSpPr/>
            <p:nvPr/>
          </p:nvSpPr>
          <p:spPr bwMode="auto">
            <a:xfrm>
              <a:off x="4137977" y="361854"/>
              <a:ext cx="1243814" cy="909352"/>
            </a:xfrm>
            <a:prstGeom prst="roundRect">
              <a:avLst>
                <a:gd name="adj" fmla="val 5891"/>
              </a:avLst>
            </a:prstGeom>
            <a:solidFill>
              <a:srgbClr val="F3F4F7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4552586F-8AD3-DEF3-AA0B-964ABFBD138D}"/>
                </a:ext>
              </a:extLst>
            </p:cNvPr>
            <p:cNvSpPr/>
            <p:nvPr/>
          </p:nvSpPr>
          <p:spPr bwMode="auto">
            <a:xfrm>
              <a:off x="4073628" y="293053"/>
              <a:ext cx="1233419" cy="908250"/>
            </a:xfrm>
            <a:prstGeom prst="roundRect">
              <a:avLst>
                <a:gd name="adj" fmla="val 5898"/>
              </a:avLst>
            </a:prstGeom>
            <a:solidFill>
              <a:srgbClr val="FFFFFF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7" name="Полилиния: фигура 36">
              <a:extLst>
                <a:ext uri="{FF2B5EF4-FFF2-40B4-BE49-F238E27FC236}">
                  <a16:creationId xmlns:a16="http://schemas.microsoft.com/office/drawing/2014/main" id="{76C25425-5524-42A5-8C22-E829ACCE6617}"/>
                </a:ext>
              </a:extLst>
            </p:cNvPr>
            <p:cNvSpPr/>
            <p:nvPr/>
          </p:nvSpPr>
          <p:spPr bwMode="auto">
            <a:xfrm>
              <a:off x="4072892" y="293053"/>
              <a:ext cx="1234154" cy="908250"/>
            </a:xfrm>
            <a:custGeom>
              <a:avLst/>
              <a:gdLst>
                <a:gd name="connsiteX0" fmla="*/ 824 w 1234154"/>
                <a:gd name="connsiteY0" fmla="*/ 133875 h 908250"/>
                <a:gd name="connsiteX1" fmla="*/ 1234154 w 1234154"/>
                <a:gd name="connsiteY1" fmla="*/ 133875 h 908250"/>
                <a:gd name="connsiteX2" fmla="*/ 824 w 1234154"/>
                <a:gd name="connsiteY2" fmla="*/ 133875 h 908250"/>
                <a:gd name="connsiteX3" fmla="*/ 824 w 1234154"/>
                <a:gd name="connsiteY3" fmla="*/ 52500 h 908250"/>
                <a:gd name="connsiteX4" fmla="*/ 53324 w 1234154"/>
                <a:gd name="connsiteY4" fmla="*/ 0 h 908250"/>
                <a:gd name="connsiteX5" fmla="*/ 1181654 w 1234154"/>
                <a:gd name="connsiteY5" fmla="*/ 0 h 908250"/>
                <a:gd name="connsiteX6" fmla="*/ 1234154 w 1234154"/>
                <a:gd name="connsiteY6" fmla="*/ 52500 h 908250"/>
                <a:gd name="connsiteX7" fmla="*/ 1234154 w 1234154"/>
                <a:gd name="connsiteY7" fmla="*/ 855750 h 908250"/>
                <a:gd name="connsiteX8" fmla="*/ 1181654 w 1234154"/>
                <a:gd name="connsiteY8" fmla="*/ 908250 h 908250"/>
                <a:gd name="connsiteX9" fmla="*/ 52642 w 1234154"/>
                <a:gd name="connsiteY9" fmla="*/ 908250 h 908250"/>
                <a:gd name="connsiteX10" fmla="*/ 147 w 1234154"/>
                <a:gd name="connsiteY10" fmla="*/ 856438 h 908250"/>
                <a:gd name="connsiteX11" fmla="*/ 0 w 1234154"/>
                <a:gd name="connsiteY11" fmla="*/ 845250 h 908250"/>
                <a:gd name="connsiteX12" fmla="*/ 0 w 1234154"/>
                <a:gd name="connsiteY12" fmla="*/ 778890 h 908250"/>
                <a:gd name="connsiteX13" fmla="*/ 0 w 1234154"/>
                <a:gd name="connsiteY13" fmla="*/ 713029 h 908250"/>
                <a:gd name="connsiteX14" fmla="*/ 824 w 1234154"/>
                <a:gd name="connsiteY14" fmla="*/ 133875 h 90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34154" h="908250" extrusionOk="0">
                  <a:moveTo>
                    <a:pt x="824" y="133875"/>
                  </a:moveTo>
                  <a:lnTo>
                    <a:pt x="1234154" y="133875"/>
                  </a:lnTo>
                  <a:moveTo>
                    <a:pt x="824" y="133875"/>
                  </a:moveTo>
                  <a:lnTo>
                    <a:pt x="824" y="52500"/>
                  </a:lnTo>
                  <a:cubicBezTo>
                    <a:pt x="824" y="23504"/>
                    <a:pt x="24329" y="0"/>
                    <a:pt x="53324" y="0"/>
                  </a:cubicBezTo>
                  <a:lnTo>
                    <a:pt x="1181654" y="0"/>
                  </a:lnTo>
                  <a:cubicBezTo>
                    <a:pt x="1210650" y="0"/>
                    <a:pt x="1234154" y="23504"/>
                    <a:pt x="1234154" y="52500"/>
                  </a:cubicBezTo>
                  <a:lnTo>
                    <a:pt x="1234154" y="855750"/>
                  </a:lnTo>
                  <a:cubicBezTo>
                    <a:pt x="1234154" y="884746"/>
                    <a:pt x="1210650" y="908250"/>
                    <a:pt x="1181654" y="908250"/>
                  </a:cubicBezTo>
                  <a:lnTo>
                    <a:pt x="52642" y="908250"/>
                  </a:lnTo>
                  <a:cubicBezTo>
                    <a:pt x="23914" y="908250"/>
                    <a:pt x="520" y="885160"/>
                    <a:pt x="147" y="856438"/>
                  </a:cubicBezTo>
                  <a:lnTo>
                    <a:pt x="0" y="845250"/>
                  </a:lnTo>
                  <a:lnTo>
                    <a:pt x="0" y="778890"/>
                  </a:lnTo>
                  <a:lnTo>
                    <a:pt x="0" y="713029"/>
                  </a:lnTo>
                  <a:lnTo>
                    <a:pt x="824" y="133875"/>
                  </a:lnTo>
                  <a:close/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8" name="Полилиния: фигура 37">
              <a:extLst>
                <a:ext uri="{FF2B5EF4-FFF2-40B4-BE49-F238E27FC236}">
                  <a16:creationId xmlns:a16="http://schemas.microsoft.com/office/drawing/2014/main" id="{557C2959-CCF6-5781-7AEE-734540F0C2ED}"/>
                </a:ext>
              </a:extLst>
            </p:cNvPr>
            <p:cNvSpPr/>
            <p:nvPr/>
          </p:nvSpPr>
          <p:spPr bwMode="auto">
            <a:xfrm>
              <a:off x="4135214" y="362410"/>
              <a:ext cx="1243814" cy="908250"/>
            </a:xfrm>
            <a:custGeom>
              <a:avLst/>
              <a:gdLst>
                <a:gd name="connsiteX0" fmla="*/ 1173102 w 1243814"/>
                <a:gd name="connsiteY0" fmla="*/ 0 h 908250"/>
                <a:gd name="connsiteX1" fmla="*/ 1191314 w 1243814"/>
                <a:gd name="connsiteY1" fmla="*/ 0 h 908250"/>
                <a:gd name="connsiteX2" fmla="*/ 1243814 w 1243814"/>
                <a:gd name="connsiteY2" fmla="*/ 52500 h 908250"/>
                <a:gd name="connsiteX3" fmla="*/ 1243814 w 1243814"/>
                <a:gd name="connsiteY3" fmla="*/ 317625 h 908250"/>
                <a:gd name="connsiteX4" fmla="*/ 1243814 w 1243814"/>
                <a:gd name="connsiteY4" fmla="*/ 364875 h 908250"/>
                <a:gd name="connsiteX5" fmla="*/ 1243814 w 1243814"/>
                <a:gd name="connsiteY5" fmla="*/ 855750 h 908250"/>
                <a:gd name="connsiteX6" fmla="*/ 1191314 w 1243814"/>
                <a:gd name="connsiteY6" fmla="*/ 908250 h 908250"/>
                <a:gd name="connsiteX7" fmla="*/ 918477 w 1243814"/>
                <a:gd name="connsiteY7" fmla="*/ 908250 h 908250"/>
                <a:gd name="connsiteX8" fmla="*/ 52500 w 1243814"/>
                <a:gd name="connsiteY8" fmla="*/ 908250 h 908250"/>
                <a:gd name="connsiteX9" fmla="*/ 0 w 1243814"/>
                <a:gd name="connsiteY9" fmla="*/ 855750 h 908250"/>
                <a:gd name="connsiteX10" fmla="*/ 0 w 1243814"/>
                <a:gd name="connsiteY10" fmla="*/ 840378 h 90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43814" h="908250" extrusionOk="0">
                  <a:moveTo>
                    <a:pt x="1173102" y="0"/>
                  </a:moveTo>
                  <a:lnTo>
                    <a:pt x="1191314" y="0"/>
                  </a:lnTo>
                  <a:cubicBezTo>
                    <a:pt x="1220310" y="0"/>
                    <a:pt x="1243814" y="23504"/>
                    <a:pt x="1243814" y="52500"/>
                  </a:cubicBezTo>
                  <a:lnTo>
                    <a:pt x="1243814" y="317625"/>
                  </a:lnTo>
                  <a:lnTo>
                    <a:pt x="1243814" y="364875"/>
                  </a:lnTo>
                  <a:lnTo>
                    <a:pt x="1243814" y="855750"/>
                  </a:lnTo>
                  <a:cubicBezTo>
                    <a:pt x="1243814" y="884746"/>
                    <a:pt x="1220310" y="908250"/>
                    <a:pt x="1191314" y="908250"/>
                  </a:cubicBezTo>
                  <a:lnTo>
                    <a:pt x="918477" y="908250"/>
                  </a:lnTo>
                  <a:lnTo>
                    <a:pt x="52500" y="908250"/>
                  </a:lnTo>
                  <a:cubicBezTo>
                    <a:pt x="23504" y="908250"/>
                    <a:pt x="0" y="884746"/>
                    <a:pt x="0" y="855750"/>
                  </a:cubicBezTo>
                  <a:lnTo>
                    <a:pt x="0" y="840378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D0CC062B-FDA0-59C8-81B4-7EC7B24202A6}"/>
                </a:ext>
              </a:extLst>
            </p:cNvPr>
            <p:cNvSpPr/>
            <p:nvPr/>
          </p:nvSpPr>
          <p:spPr bwMode="auto">
            <a:xfrm>
              <a:off x="5308154" y="362783"/>
              <a:ext cx="28875" cy="274790"/>
            </a:xfrm>
            <a:custGeom>
              <a:avLst/>
              <a:gdLst>
                <a:gd name="connsiteX0" fmla="*/ 3497 w 28875"/>
                <a:gd name="connsiteY0" fmla="*/ 274790 h 274790"/>
                <a:gd name="connsiteX1" fmla="*/ 0 w 28875"/>
                <a:gd name="connsiteY1" fmla="*/ 0 h 274790"/>
                <a:gd name="connsiteX2" fmla="*/ 28875 w 28875"/>
                <a:gd name="connsiteY2" fmla="*/ 0 h 274790"/>
                <a:gd name="connsiteX3" fmla="*/ 3497 w 28875"/>
                <a:gd name="connsiteY3" fmla="*/ 274790 h 274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875" h="274790" extrusionOk="0">
                  <a:moveTo>
                    <a:pt x="3497" y="274790"/>
                  </a:moveTo>
                  <a:lnTo>
                    <a:pt x="0" y="0"/>
                  </a:lnTo>
                  <a:lnTo>
                    <a:pt x="28875" y="0"/>
                  </a:lnTo>
                  <a:lnTo>
                    <a:pt x="3497" y="274790"/>
                  </a:lnTo>
                  <a:close/>
                </a:path>
              </a:pathLst>
            </a:custGeom>
            <a:solidFill>
              <a:srgbClr val="000000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0" name="Полилиния: фигура 39">
              <a:extLst>
                <a:ext uri="{FF2B5EF4-FFF2-40B4-BE49-F238E27FC236}">
                  <a16:creationId xmlns:a16="http://schemas.microsoft.com/office/drawing/2014/main" id="{5B4D0D2C-CB46-0BA8-F0F1-9C1A33DE8D94}"/>
                </a:ext>
              </a:extLst>
            </p:cNvPr>
            <p:cNvSpPr/>
            <p:nvPr/>
          </p:nvSpPr>
          <p:spPr bwMode="auto">
            <a:xfrm>
              <a:off x="4232298" y="338654"/>
              <a:ext cx="52431" cy="52431"/>
            </a:xfrm>
            <a:custGeom>
              <a:avLst/>
              <a:gdLst>
                <a:gd name="connsiteX0" fmla="*/ 26213 w 52431"/>
                <a:gd name="connsiteY0" fmla="*/ 52432 h 52431"/>
                <a:gd name="connsiteX1" fmla="*/ 52432 w 52431"/>
                <a:gd name="connsiteY1" fmla="*/ 26213 h 52431"/>
                <a:gd name="connsiteX2" fmla="*/ 26213 w 52431"/>
                <a:gd name="connsiteY2" fmla="*/ 0 h 52431"/>
                <a:gd name="connsiteX3" fmla="*/ 0 w 52431"/>
                <a:gd name="connsiteY3" fmla="*/ 26213 h 52431"/>
                <a:gd name="connsiteX4" fmla="*/ 26213 w 52431"/>
                <a:gd name="connsiteY4" fmla="*/ 52432 h 5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31" h="52431" extrusionOk="0">
                  <a:moveTo>
                    <a:pt x="26213" y="52432"/>
                  </a:moveTo>
                  <a:cubicBezTo>
                    <a:pt x="40693" y="52432"/>
                    <a:pt x="52432" y="40693"/>
                    <a:pt x="52432" y="26213"/>
                  </a:cubicBezTo>
                  <a:cubicBezTo>
                    <a:pt x="52432" y="11734"/>
                    <a:pt x="40693" y="0"/>
                    <a:pt x="26213" y="0"/>
                  </a:cubicBezTo>
                  <a:cubicBezTo>
                    <a:pt x="11734" y="0"/>
                    <a:pt x="0" y="11734"/>
                    <a:pt x="0" y="26213"/>
                  </a:cubicBezTo>
                  <a:cubicBezTo>
                    <a:pt x="0" y="40693"/>
                    <a:pt x="11734" y="52432"/>
                    <a:pt x="26213" y="52432"/>
                  </a:cubicBezTo>
                  <a:close/>
                </a:path>
              </a:pathLst>
            </a:custGeom>
            <a:solidFill>
              <a:srgbClr val="F3F4F7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1" name="Полилиния: фигура 40">
              <a:extLst>
                <a:ext uri="{FF2B5EF4-FFF2-40B4-BE49-F238E27FC236}">
                  <a16:creationId xmlns:a16="http://schemas.microsoft.com/office/drawing/2014/main" id="{ED527E4C-2AAF-8BC6-7F92-197E10C9FD12}"/>
                </a:ext>
              </a:extLst>
            </p:cNvPr>
            <p:cNvSpPr/>
            <p:nvPr/>
          </p:nvSpPr>
          <p:spPr bwMode="auto">
            <a:xfrm>
              <a:off x="4145637" y="338654"/>
              <a:ext cx="52436" cy="52431"/>
            </a:xfrm>
            <a:custGeom>
              <a:avLst/>
              <a:gdLst>
                <a:gd name="connsiteX0" fmla="*/ 26219 w 52436"/>
                <a:gd name="connsiteY0" fmla="*/ 52432 h 52431"/>
                <a:gd name="connsiteX1" fmla="*/ 52437 w 52436"/>
                <a:gd name="connsiteY1" fmla="*/ 26213 h 52431"/>
                <a:gd name="connsiteX2" fmla="*/ 26219 w 52436"/>
                <a:gd name="connsiteY2" fmla="*/ 0 h 52431"/>
                <a:gd name="connsiteX3" fmla="*/ 0 w 52436"/>
                <a:gd name="connsiteY3" fmla="*/ 26213 h 52431"/>
                <a:gd name="connsiteX4" fmla="*/ 26219 w 52436"/>
                <a:gd name="connsiteY4" fmla="*/ 52432 h 5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36" h="52431" extrusionOk="0">
                  <a:moveTo>
                    <a:pt x="26219" y="52432"/>
                  </a:moveTo>
                  <a:cubicBezTo>
                    <a:pt x="40698" y="52432"/>
                    <a:pt x="52437" y="40693"/>
                    <a:pt x="52437" y="26213"/>
                  </a:cubicBezTo>
                  <a:cubicBezTo>
                    <a:pt x="52437" y="11734"/>
                    <a:pt x="40698" y="0"/>
                    <a:pt x="26219" y="0"/>
                  </a:cubicBezTo>
                  <a:cubicBezTo>
                    <a:pt x="11739" y="0"/>
                    <a:pt x="0" y="11734"/>
                    <a:pt x="0" y="26213"/>
                  </a:cubicBezTo>
                  <a:cubicBezTo>
                    <a:pt x="0" y="40693"/>
                    <a:pt x="11739" y="52432"/>
                    <a:pt x="26219" y="52432"/>
                  </a:cubicBezTo>
                  <a:close/>
                </a:path>
              </a:pathLst>
            </a:custGeom>
            <a:solidFill>
              <a:srgbClr val="F3F4F7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2" name="Полилиния: фигура 41">
              <a:extLst>
                <a:ext uri="{FF2B5EF4-FFF2-40B4-BE49-F238E27FC236}">
                  <a16:creationId xmlns:a16="http://schemas.microsoft.com/office/drawing/2014/main" id="{12B19320-77A6-202B-059D-DA702CA4A408}"/>
                </a:ext>
              </a:extLst>
            </p:cNvPr>
            <p:cNvSpPr/>
            <p:nvPr/>
          </p:nvSpPr>
          <p:spPr bwMode="auto">
            <a:xfrm>
              <a:off x="4318955" y="338654"/>
              <a:ext cx="52431" cy="52431"/>
            </a:xfrm>
            <a:custGeom>
              <a:avLst/>
              <a:gdLst>
                <a:gd name="connsiteX0" fmla="*/ 26219 w 52431"/>
                <a:gd name="connsiteY0" fmla="*/ 52432 h 52431"/>
                <a:gd name="connsiteX1" fmla="*/ 52432 w 52431"/>
                <a:gd name="connsiteY1" fmla="*/ 26213 h 52431"/>
                <a:gd name="connsiteX2" fmla="*/ 26219 w 52431"/>
                <a:gd name="connsiteY2" fmla="*/ 0 h 52431"/>
                <a:gd name="connsiteX3" fmla="*/ 0 w 52431"/>
                <a:gd name="connsiteY3" fmla="*/ 26213 h 52431"/>
                <a:gd name="connsiteX4" fmla="*/ 26219 w 52431"/>
                <a:gd name="connsiteY4" fmla="*/ 52432 h 5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31" h="52431" extrusionOk="0">
                  <a:moveTo>
                    <a:pt x="26219" y="52432"/>
                  </a:moveTo>
                  <a:cubicBezTo>
                    <a:pt x="40698" y="52432"/>
                    <a:pt x="52432" y="40693"/>
                    <a:pt x="52432" y="26213"/>
                  </a:cubicBezTo>
                  <a:cubicBezTo>
                    <a:pt x="52432" y="11734"/>
                    <a:pt x="40698" y="0"/>
                    <a:pt x="26219" y="0"/>
                  </a:cubicBezTo>
                  <a:cubicBezTo>
                    <a:pt x="11739" y="0"/>
                    <a:pt x="0" y="11734"/>
                    <a:pt x="0" y="26213"/>
                  </a:cubicBezTo>
                  <a:cubicBezTo>
                    <a:pt x="0" y="40693"/>
                    <a:pt x="11739" y="52432"/>
                    <a:pt x="26219" y="52432"/>
                  </a:cubicBezTo>
                  <a:close/>
                </a:path>
              </a:pathLst>
            </a:custGeom>
            <a:solidFill>
              <a:srgbClr val="F3F4F7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3" name="Полилиния: фигура 42">
              <a:extLst>
                <a:ext uri="{FF2B5EF4-FFF2-40B4-BE49-F238E27FC236}">
                  <a16:creationId xmlns:a16="http://schemas.microsoft.com/office/drawing/2014/main" id="{DCDAE9CD-6914-9A51-365D-9EABE1C600DD}"/>
                </a:ext>
              </a:extLst>
            </p:cNvPr>
            <p:cNvSpPr/>
            <p:nvPr/>
          </p:nvSpPr>
          <p:spPr bwMode="auto">
            <a:xfrm>
              <a:off x="4253130" y="1007053"/>
              <a:ext cx="105000" cy="99750"/>
            </a:xfrm>
            <a:custGeom>
              <a:avLst/>
              <a:gdLst>
                <a:gd name="connsiteX0" fmla="*/ 0 w 105000"/>
                <a:gd name="connsiteY0" fmla="*/ 0 h 99750"/>
                <a:gd name="connsiteX1" fmla="*/ 105000 w 105000"/>
                <a:gd name="connsiteY1" fmla="*/ 0 h 99750"/>
                <a:gd name="connsiteX2" fmla="*/ 105000 w 105000"/>
                <a:gd name="connsiteY2" fmla="*/ 99750 h 99750"/>
                <a:gd name="connsiteX3" fmla="*/ 0 w 105000"/>
                <a:gd name="connsiteY3" fmla="*/ 99750 h 9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000" h="99750" extrusionOk="0">
                  <a:moveTo>
                    <a:pt x="0" y="0"/>
                  </a:moveTo>
                  <a:lnTo>
                    <a:pt x="105000" y="0"/>
                  </a:lnTo>
                  <a:lnTo>
                    <a:pt x="105000" y="99750"/>
                  </a:lnTo>
                  <a:lnTo>
                    <a:pt x="0" y="99750"/>
                  </a:lnTo>
                  <a:close/>
                </a:path>
              </a:pathLst>
            </a:custGeom>
            <a:solidFill>
              <a:srgbClr val="4BD0A0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4" name="Полилиния: фигура 43">
              <a:extLst>
                <a:ext uri="{FF2B5EF4-FFF2-40B4-BE49-F238E27FC236}">
                  <a16:creationId xmlns:a16="http://schemas.microsoft.com/office/drawing/2014/main" id="{A0682E23-F900-2492-FE4C-10F662296428}"/>
                </a:ext>
              </a:extLst>
            </p:cNvPr>
            <p:cNvSpPr/>
            <p:nvPr/>
          </p:nvSpPr>
          <p:spPr bwMode="auto">
            <a:xfrm>
              <a:off x="4389630" y="959803"/>
              <a:ext cx="110250" cy="147000"/>
            </a:xfrm>
            <a:custGeom>
              <a:avLst/>
              <a:gdLst>
                <a:gd name="connsiteX0" fmla="*/ 0 w 110250"/>
                <a:gd name="connsiteY0" fmla="*/ 0 h 147000"/>
                <a:gd name="connsiteX1" fmla="*/ 110250 w 110250"/>
                <a:gd name="connsiteY1" fmla="*/ 0 h 147000"/>
                <a:gd name="connsiteX2" fmla="*/ 110250 w 110250"/>
                <a:gd name="connsiteY2" fmla="*/ 147000 h 147000"/>
                <a:gd name="connsiteX3" fmla="*/ 0 w 110250"/>
                <a:gd name="connsiteY3" fmla="*/ 147000 h 14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250" h="147000" extrusionOk="0">
                  <a:moveTo>
                    <a:pt x="0" y="0"/>
                  </a:moveTo>
                  <a:lnTo>
                    <a:pt x="110250" y="0"/>
                  </a:lnTo>
                  <a:lnTo>
                    <a:pt x="110250" y="147000"/>
                  </a:lnTo>
                  <a:lnTo>
                    <a:pt x="0" y="147000"/>
                  </a:lnTo>
                  <a:close/>
                </a:path>
              </a:pathLst>
            </a:custGeom>
            <a:solidFill>
              <a:srgbClr val="4BD0A0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5" name="Полилиния: фигура 44">
              <a:extLst>
                <a:ext uri="{FF2B5EF4-FFF2-40B4-BE49-F238E27FC236}">
                  <a16:creationId xmlns:a16="http://schemas.microsoft.com/office/drawing/2014/main" id="{2C430B14-8483-6260-A87C-B62DB085C4E8}"/>
                </a:ext>
              </a:extLst>
            </p:cNvPr>
            <p:cNvSpPr/>
            <p:nvPr/>
          </p:nvSpPr>
          <p:spPr bwMode="auto">
            <a:xfrm>
              <a:off x="4531380" y="923053"/>
              <a:ext cx="105000" cy="183750"/>
            </a:xfrm>
            <a:custGeom>
              <a:avLst/>
              <a:gdLst>
                <a:gd name="connsiteX0" fmla="*/ 0 w 105000"/>
                <a:gd name="connsiteY0" fmla="*/ 0 h 183750"/>
                <a:gd name="connsiteX1" fmla="*/ 105000 w 105000"/>
                <a:gd name="connsiteY1" fmla="*/ 0 h 183750"/>
                <a:gd name="connsiteX2" fmla="*/ 105000 w 105000"/>
                <a:gd name="connsiteY2" fmla="*/ 183750 h 183750"/>
                <a:gd name="connsiteX3" fmla="*/ 0 w 105000"/>
                <a:gd name="connsiteY3" fmla="*/ 183750 h 18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000" h="183750" extrusionOk="0">
                  <a:moveTo>
                    <a:pt x="0" y="0"/>
                  </a:moveTo>
                  <a:lnTo>
                    <a:pt x="105000" y="0"/>
                  </a:lnTo>
                  <a:lnTo>
                    <a:pt x="105000" y="183750"/>
                  </a:lnTo>
                  <a:lnTo>
                    <a:pt x="0" y="183750"/>
                  </a:lnTo>
                  <a:close/>
                </a:path>
              </a:pathLst>
            </a:custGeom>
            <a:solidFill>
              <a:srgbClr val="4BD0A0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6" name="Полилиния: фигура 45">
              <a:extLst>
                <a:ext uri="{FF2B5EF4-FFF2-40B4-BE49-F238E27FC236}">
                  <a16:creationId xmlns:a16="http://schemas.microsoft.com/office/drawing/2014/main" id="{A5CA3601-364E-3FF2-665C-B0AA22D28988}"/>
                </a:ext>
              </a:extLst>
            </p:cNvPr>
            <p:cNvSpPr/>
            <p:nvPr/>
          </p:nvSpPr>
          <p:spPr bwMode="auto">
            <a:xfrm>
              <a:off x="4768633" y="889862"/>
              <a:ext cx="321872" cy="5250"/>
            </a:xfrm>
            <a:custGeom>
              <a:avLst/>
              <a:gdLst>
                <a:gd name="connsiteX0" fmla="*/ 0 w 321872"/>
                <a:gd name="connsiteY0" fmla="*/ 0 h 5250"/>
                <a:gd name="connsiteX1" fmla="*/ 321872 w 321872"/>
                <a:gd name="connsiteY1" fmla="*/ 0 h 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1872" h="5250" extrusionOk="0">
                  <a:moveTo>
                    <a:pt x="0" y="0"/>
                  </a:moveTo>
                  <a:lnTo>
                    <a:pt x="321872" y="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7" name="Полилиния: фигура 46">
              <a:extLst>
                <a:ext uri="{FF2B5EF4-FFF2-40B4-BE49-F238E27FC236}">
                  <a16:creationId xmlns:a16="http://schemas.microsoft.com/office/drawing/2014/main" id="{B2BAE601-B2F7-AAA0-8367-19AF83662815}"/>
                </a:ext>
              </a:extLst>
            </p:cNvPr>
            <p:cNvSpPr/>
            <p:nvPr/>
          </p:nvSpPr>
          <p:spPr bwMode="auto">
            <a:xfrm>
              <a:off x="4768633" y="931594"/>
              <a:ext cx="290372" cy="5250"/>
            </a:xfrm>
            <a:custGeom>
              <a:avLst/>
              <a:gdLst>
                <a:gd name="connsiteX0" fmla="*/ 0 w 290372"/>
                <a:gd name="connsiteY0" fmla="*/ 0 h 5250"/>
                <a:gd name="connsiteX1" fmla="*/ 290372 w 290372"/>
                <a:gd name="connsiteY1" fmla="*/ 0 h 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0372" h="5250" extrusionOk="0">
                  <a:moveTo>
                    <a:pt x="0" y="0"/>
                  </a:moveTo>
                  <a:lnTo>
                    <a:pt x="290372" y="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8" name="Полилиния: фигура 47">
              <a:extLst>
                <a:ext uri="{FF2B5EF4-FFF2-40B4-BE49-F238E27FC236}">
                  <a16:creationId xmlns:a16="http://schemas.microsoft.com/office/drawing/2014/main" id="{774226AE-37A8-0ACF-6A3C-B3EFE6783D61}"/>
                </a:ext>
              </a:extLst>
            </p:cNvPr>
            <p:cNvSpPr/>
            <p:nvPr/>
          </p:nvSpPr>
          <p:spPr bwMode="auto">
            <a:xfrm>
              <a:off x="4252306" y="497803"/>
              <a:ext cx="383207" cy="374356"/>
            </a:xfrm>
            <a:custGeom>
              <a:avLst/>
              <a:gdLst>
                <a:gd name="connsiteX0" fmla="*/ 383208 w 383208"/>
                <a:gd name="connsiteY0" fmla="*/ 374357 h 374356"/>
                <a:gd name="connsiteX1" fmla="*/ 0 w 383208"/>
                <a:gd name="connsiteY1" fmla="*/ 374357 h 374356"/>
                <a:gd name="connsiteX2" fmla="*/ 0 w 383208"/>
                <a:gd name="connsiteY2" fmla="*/ 0 h 3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3208" h="374356" extrusionOk="0">
                  <a:moveTo>
                    <a:pt x="383208" y="374357"/>
                  </a:moveTo>
                  <a:lnTo>
                    <a:pt x="0" y="374357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9" name="Полилиния: фигура 48">
              <a:extLst>
                <a:ext uri="{FF2B5EF4-FFF2-40B4-BE49-F238E27FC236}">
                  <a16:creationId xmlns:a16="http://schemas.microsoft.com/office/drawing/2014/main" id="{E3E18599-238A-D413-E54C-3BDE51D04C0A}"/>
                </a:ext>
              </a:extLst>
            </p:cNvPr>
            <p:cNvSpPr/>
            <p:nvPr/>
          </p:nvSpPr>
          <p:spPr bwMode="auto">
            <a:xfrm>
              <a:off x="4252306" y="497803"/>
              <a:ext cx="383207" cy="374356"/>
            </a:xfrm>
            <a:custGeom>
              <a:avLst/>
              <a:gdLst>
                <a:gd name="connsiteX0" fmla="*/ 383208 w 383208"/>
                <a:gd name="connsiteY0" fmla="*/ 374357 h 374356"/>
                <a:gd name="connsiteX1" fmla="*/ 0 w 383208"/>
                <a:gd name="connsiteY1" fmla="*/ 374357 h 374356"/>
                <a:gd name="connsiteX2" fmla="*/ 0 w 383208"/>
                <a:gd name="connsiteY2" fmla="*/ 0 h 3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3208" h="374356" extrusionOk="0">
                  <a:moveTo>
                    <a:pt x="383208" y="374357"/>
                  </a:moveTo>
                  <a:lnTo>
                    <a:pt x="0" y="374357"/>
                  </a:lnTo>
                  <a:lnTo>
                    <a:pt x="0" y="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0" name="Полилиния: фигура 49">
              <a:extLst>
                <a:ext uri="{FF2B5EF4-FFF2-40B4-BE49-F238E27FC236}">
                  <a16:creationId xmlns:a16="http://schemas.microsoft.com/office/drawing/2014/main" id="{F77EA70B-C89D-A6D1-316D-64B08C947C66}"/>
                </a:ext>
              </a:extLst>
            </p:cNvPr>
            <p:cNvSpPr/>
            <p:nvPr/>
          </p:nvSpPr>
          <p:spPr bwMode="auto">
            <a:xfrm>
              <a:off x="4295130" y="616164"/>
              <a:ext cx="325662" cy="197295"/>
            </a:xfrm>
            <a:custGeom>
              <a:avLst/>
              <a:gdLst>
                <a:gd name="connsiteX0" fmla="*/ 0 w 325662"/>
                <a:gd name="connsiteY0" fmla="*/ 197295 h 197295"/>
                <a:gd name="connsiteX1" fmla="*/ 65132 w 325662"/>
                <a:gd name="connsiteY1" fmla="*/ 110665 h 197295"/>
                <a:gd name="connsiteX2" fmla="*/ 115721 w 325662"/>
                <a:gd name="connsiteY2" fmla="*/ 165044 h 197295"/>
                <a:gd name="connsiteX3" fmla="*/ 247884 w 325662"/>
                <a:gd name="connsiteY3" fmla="*/ 9487 h 197295"/>
                <a:gd name="connsiteX4" fmla="*/ 284561 w 325662"/>
                <a:gd name="connsiteY4" fmla="*/ 56280 h 197295"/>
                <a:gd name="connsiteX5" fmla="*/ 325663 w 325662"/>
                <a:gd name="connsiteY5" fmla="*/ 0 h 197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5662" h="197295" extrusionOk="0">
                  <a:moveTo>
                    <a:pt x="0" y="197295"/>
                  </a:moveTo>
                  <a:lnTo>
                    <a:pt x="65132" y="110665"/>
                  </a:lnTo>
                  <a:lnTo>
                    <a:pt x="115721" y="165044"/>
                  </a:lnTo>
                  <a:lnTo>
                    <a:pt x="247884" y="9487"/>
                  </a:lnTo>
                  <a:lnTo>
                    <a:pt x="284561" y="56280"/>
                  </a:lnTo>
                  <a:lnTo>
                    <a:pt x="325663" y="0"/>
                  </a:lnTo>
                </a:path>
              </a:pathLst>
            </a:custGeom>
            <a:solidFill>
              <a:srgbClr val="FFFFFF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1" name="Полилиния: фигура 50">
              <a:extLst>
                <a:ext uri="{FF2B5EF4-FFF2-40B4-BE49-F238E27FC236}">
                  <a16:creationId xmlns:a16="http://schemas.microsoft.com/office/drawing/2014/main" id="{044209D6-99D7-4A27-CAEE-E6E52A408FC1}"/>
                </a:ext>
              </a:extLst>
            </p:cNvPr>
            <p:cNvSpPr/>
            <p:nvPr/>
          </p:nvSpPr>
          <p:spPr bwMode="auto">
            <a:xfrm>
              <a:off x="4295130" y="616164"/>
              <a:ext cx="325662" cy="197295"/>
            </a:xfrm>
            <a:custGeom>
              <a:avLst/>
              <a:gdLst>
                <a:gd name="connsiteX0" fmla="*/ 0 w 325662"/>
                <a:gd name="connsiteY0" fmla="*/ 197295 h 197295"/>
                <a:gd name="connsiteX1" fmla="*/ 65132 w 325662"/>
                <a:gd name="connsiteY1" fmla="*/ 110665 h 197295"/>
                <a:gd name="connsiteX2" fmla="*/ 115721 w 325662"/>
                <a:gd name="connsiteY2" fmla="*/ 165044 h 197295"/>
                <a:gd name="connsiteX3" fmla="*/ 247884 w 325662"/>
                <a:gd name="connsiteY3" fmla="*/ 9487 h 197295"/>
                <a:gd name="connsiteX4" fmla="*/ 284561 w 325662"/>
                <a:gd name="connsiteY4" fmla="*/ 56280 h 197295"/>
                <a:gd name="connsiteX5" fmla="*/ 325663 w 325662"/>
                <a:gd name="connsiteY5" fmla="*/ 0 h 197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5662" h="197295" extrusionOk="0">
                  <a:moveTo>
                    <a:pt x="0" y="197295"/>
                  </a:moveTo>
                  <a:lnTo>
                    <a:pt x="65132" y="110665"/>
                  </a:lnTo>
                  <a:lnTo>
                    <a:pt x="115721" y="165044"/>
                  </a:lnTo>
                  <a:lnTo>
                    <a:pt x="247884" y="9487"/>
                  </a:lnTo>
                  <a:lnTo>
                    <a:pt x="284561" y="56280"/>
                  </a:lnTo>
                  <a:lnTo>
                    <a:pt x="325663" y="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2" name="Полилиния: фигура 51">
              <a:extLst>
                <a:ext uri="{FF2B5EF4-FFF2-40B4-BE49-F238E27FC236}">
                  <a16:creationId xmlns:a16="http://schemas.microsoft.com/office/drawing/2014/main" id="{97C34426-A2C0-5A83-CF96-A8B5CF4712C0}"/>
                </a:ext>
              </a:extLst>
            </p:cNvPr>
            <p:cNvSpPr/>
            <p:nvPr/>
          </p:nvSpPr>
          <p:spPr bwMode="auto">
            <a:xfrm>
              <a:off x="4767672" y="500929"/>
              <a:ext cx="290126" cy="295313"/>
            </a:xfrm>
            <a:custGeom>
              <a:avLst/>
              <a:gdLst>
                <a:gd name="connsiteX0" fmla="*/ 186460 w 290126"/>
                <a:gd name="connsiteY0" fmla="*/ 5190 h 295313"/>
                <a:gd name="connsiteX1" fmla="*/ 100774 w 290126"/>
                <a:gd name="connsiteY1" fmla="*/ 7641 h 295313"/>
                <a:gd name="connsiteX2" fmla="*/ 30886 w 290126"/>
                <a:gd name="connsiteY2" fmla="*/ 57286 h 295313"/>
                <a:gd name="connsiteX3" fmla="*/ 358 w 290126"/>
                <a:gd name="connsiteY3" fmla="*/ 137390 h 295313"/>
                <a:gd name="connsiteX4" fmla="*/ 19478 w 290126"/>
                <a:gd name="connsiteY4" fmla="*/ 220960 h 295313"/>
                <a:gd name="connsiteX5" fmla="*/ 81806 w 290126"/>
                <a:gd name="connsiteY5" fmla="*/ 279817 h 295313"/>
                <a:gd name="connsiteX6" fmla="*/ 166326 w 290126"/>
                <a:gd name="connsiteY6" fmla="*/ 294129 h 295313"/>
                <a:gd name="connsiteX7" fmla="*/ 244556 w 290126"/>
                <a:gd name="connsiteY7" fmla="*/ 259069 h 295313"/>
                <a:gd name="connsiteX8" fmla="*/ 290126 w 290126"/>
                <a:gd name="connsiteY8" fmla="*/ 186462 h 295313"/>
                <a:gd name="connsiteX9" fmla="*/ 147657 w 290126"/>
                <a:gd name="connsiteY9" fmla="*/ 147659 h 295313"/>
                <a:gd name="connsiteX10" fmla="*/ 186460 w 290126"/>
                <a:gd name="connsiteY10" fmla="*/ 5190 h 295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26" h="295313" extrusionOk="0">
                  <a:moveTo>
                    <a:pt x="186460" y="5190"/>
                  </a:moveTo>
                  <a:cubicBezTo>
                    <a:pt x="158283" y="-2486"/>
                    <a:pt x="128463" y="-1630"/>
                    <a:pt x="100774" y="7641"/>
                  </a:cubicBezTo>
                  <a:cubicBezTo>
                    <a:pt x="73081" y="16918"/>
                    <a:pt x="48757" y="34191"/>
                    <a:pt x="30886" y="57286"/>
                  </a:cubicBezTo>
                  <a:cubicBezTo>
                    <a:pt x="13015" y="80386"/>
                    <a:pt x="2389" y="108258"/>
                    <a:pt x="358" y="137390"/>
                  </a:cubicBezTo>
                  <a:cubicBezTo>
                    <a:pt x="-1674" y="166528"/>
                    <a:pt x="4983" y="195607"/>
                    <a:pt x="19478" y="220960"/>
                  </a:cubicBezTo>
                  <a:cubicBezTo>
                    <a:pt x="33979" y="246307"/>
                    <a:pt x="55666" y="266792"/>
                    <a:pt x="81806" y="279817"/>
                  </a:cubicBezTo>
                  <a:cubicBezTo>
                    <a:pt x="107946" y="292843"/>
                    <a:pt x="137357" y="297820"/>
                    <a:pt x="166326" y="294129"/>
                  </a:cubicBezTo>
                  <a:cubicBezTo>
                    <a:pt x="195295" y="290438"/>
                    <a:pt x="222522" y="278237"/>
                    <a:pt x="244556" y="259069"/>
                  </a:cubicBezTo>
                  <a:cubicBezTo>
                    <a:pt x="266591" y="239907"/>
                    <a:pt x="282451" y="214639"/>
                    <a:pt x="290126" y="186462"/>
                  </a:cubicBezTo>
                  <a:lnTo>
                    <a:pt x="147657" y="147659"/>
                  </a:lnTo>
                  <a:lnTo>
                    <a:pt x="186460" y="519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3" name="Полилиния: фигура 52">
              <a:extLst>
                <a:ext uri="{FF2B5EF4-FFF2-40B4-BE49-F238E27FC236}">
                  <a16:creationId xmlns:a16="http://schemas.microsoft.com/office/drawing/2014/main" id="{13045F51-EC10-FD08-6FDD-41F91B847997}"/>
                </a:ext>
              </a:extLst>
            </p:cNvPr>
            <p:cNvSpPr/>
            <p:nvPr/>
          </p:nvSpPr>
          <p:spPr bwMode="auto">
            <a:xfrm>
              <a:off x="4915544" y="502585"/>
              <a:ext cx="157088" cy="184086"/>
            </a:xfrm>
            <a:custGeom>
              <a:avLst/>
              <a:gdLst>
                <a:gd name="connsiteX0" fmla="*/ 153132 w 157088"/>
                <a:gd name="connsiteY0" fmla="*/ 184086 h 184086"/>
                <a:gd name="connsiteX1" fmla="*/ 138700 w 157088"/>
                <a:gd name="connsiteY1" fmla="*/ 74193 h 184086"/>
                <a:gd name="connsiteX2" fmla="*/ 56364 w 157088"/>
                <a:gd name="connsiteY2" fmla="*/ 0 h 184086"/>
                <a:gd name="connsiteX3" fmla="*/ 0 w 157088"/>
                <a:gd name="connsiteY3" fmla="*/ 145803 h 184086"/>
                <a:gd name="connsiteX4" fmla="*/ 153132 w 157088"/>
                <a:gd name="connsiteY4" fmla="*/ 184086 h 184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088" h="184086" extrusionOk="0">
                  <a:moveTo>
                    <a:pt x="153132" y="184086"/>
                  </a:moveTo>
                  <a:cubicBezTo>
                    <a:pt x="161553" y="146906"/>
                    <a:pt x="156434" y="107940"/>
                    <a:pt x="138700" y="74193"/>
                  </a:cubicBezTo>
                  <a:cubicBezTo>
                    <a:pt x="120960" y="40451"/>
                    <a:pt x="91765" y="14144"/>
                    <a:pt x="56364" y="0"/>
                  </a:cubicBezTo>
                  <a:lnTo>
                    <a:pt x="0" y="145803"/>
                  </a:lnTo>
                  <a:lnTo>
                    <a:pt x="153132" y="184086"/>
                  </a:lnTo>
                  <a:close/>
                </a:path>
              </a:pathLst>
            </a:custGeom>
            <a:solidFill>
              <a:srgbClr val="4BD0A0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4" name="Полилиния: фигура 53">
              <a:extLst>
                <a:ext uri="{FF2B5EF4-FFF2-40B4-BE49-F238E27FC236}">
                  <a16:creationId xmlns:a16="http://schemas.microsoft.com/office/drawing/2014/main" id="{FFCC926B-440D-6A2E-EFAB-4E967831947C}"/>
                </a:ext>
              </a:extLst>
            </p:cNvPr>
            <p:cNvSpPr/>
            <p:nvPr/>
          </p:nvSpPr>
          <p:spPr bwMode="auto">
            <a:xfrm>
              <a:off x="4915297" y="502591"/>
              <a:ext cx="156909" cy="184920"/>
            </a:xfrm>
            <a:custGeom>
              <a:avLst/>
              <a:gdLst>
                <a:gd name="connsiteX0" fmla="*/ 138947 w 156909"/>
                <a:gd name="connsiteY0" fmla="*/ 74198 h 184920"/>
                <a:gd name="connsiteX1" fmla="*/ 152817 w 156909"/>
                <a:gd name="connsiteY1" fmla="*/ 184921 h 184920"/>
                <a:gd name="connsiteX2" fmla="*/ 0 w 156909"/>
                <a:gd name="connsiteY2" fmla="*/ 145819 h 184920"/>
                <a:gd name="connsiteX3" fmla="*/ 56611 w 156909"/>
                <a:gd name="connsiteY3" fmla="*/ 0 h 184920"/>
                <a:gd name="connsiteX4" fmla="*/ 106549 w 156909"/>
                <a:gd name="connsiteY4" fmla="*/ 31505 h 184920"/>
                <a:gd name="connsiteX5" fmla="*/ 138947 w 156909"/>
                <a:gd name="connsiteY5" fmla="*/ 74198 h 184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909" h="184920" extrusionOk="0">
                  <a:moveTo>
                    <a:pt x="138947" y="74198"/>
                  </a:moveTo>
                  <a:cubicBezTo>
                    <a:pt x="156686" y="107940"/>
                    <a:pt x="161238" y="147740"/>
                    <a:pt x="152817" y="184921"/>
                  </a:cubicBezTo>
                  <a:lnTo>
                    <a:pt x="0" y="145819"/>
                  </a:lnTo>
                  <a:lnTo>
                    <a:pt x="56611" y="0"/>
                  </a:lnTo>
                  <a:cubicBezTo>
                    <a:pt x="71888" y="6106"/>
                    <a:pt x="89528" y="16291"/>
                    <a:pt x="106549" y="31505"/>
                  </a:cubicBezTo>
                  <a:cubicBezTo>
                    <a:pt x="120697" y="44158"/>
                    <a:pt x="129979" y="57136"/>
                    <a:pt x="138947" y="74198"/>
                  </a:cubicBezTo>
                  <a:close/>
                </a:path>
              </a:pathLst>
            </a:custGeom>
            <a:solidFill>
              <a:srgbClr val="4BD0A0"/>
            </a:solidFill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5" name="Полилиния: фигура 54">
              <a:extLst>
                <a:ext uri="{FF2B5EF4-FFF2-40B4-BE49-F238E27FC236}">
                  <a16:creationId xmlns:a16="http://schemas.microsoft.com/office/drawing/2014/main" id="{7A79CE6A-FCD7-5C35-5AA1-3E2A4F2A75F2}"/>
                </a:ext>
              </a:extLst>
            </p:cNvPr>
            <p:cNvSpPr/>
            <p:nvPr/>
          </p:nvSpPr>
          <p:spPr bwMode="auto">
            <a:xfrm>
              <a:off x="4915476" y="649302"/>
              <a:ext cx="142127" cy="44383"/>
            </a:xfrm>
            <a:custGeom>
              <a:avLst/>
              <a:gdLst>
                <a:gd name="connsiteX0" fmla="*/ 139577 w 142127"/>
                <a:gd name="connsiteY0" fmla="*/ 44384 h 44383"/>
                <a:gd name="connsiteX1" fmla="*/ 0 w 142127"/>
                <a:gd name="connsiteY1" fmla="*/ 0 h 44383"/>
                <a:gd name="connsiteX2" fmla="*/ 142128 w 142127"/>
                <a:gd name="connsiteY2" fmla="*/ 36162 h 44383"/>
                <a:gd name="connsiteX3" fmla="*/ 139577 w 142127"/>
                <a:gd name="connsiteY3" fmla="*/ 44384 h 4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127" h="44383" extrusionOk="0">
                  <a:moveTo>
                    <a:pt x="139577" y="44384"/>
                  </a:moveTo>
                  <a:lnTo>
                    <a:pt x="0" y="0"/>
                  </a:lnTo>
                  <a:lnTo>
                    <a:pt x="142128" y="36162"/>
                  </a:lnTo>
                  <a:lnTo>
                    <a:pt x="139577" y="44384"/>
                  </a:lnTo>
                  <a:close/>
                </a:path>
              </a:pathLst>
            </a:custGeom>
            <a:solidFill>
              <a:srgbClr val="0000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6" name="Полилиния: фигура 55">
              <a:extLst>
                <a:ext uri="{FF2B5EF4-FFF2-40B4-BE49-F238E27FC236}">
                  <a16:creationId xmlns:a16="http://schemas.microsoft.com/office/drawing/2014/main" id="{F98D7086-9266-EEBE-BD96-428367BEDD84}"/>
                </a:ext>
              </a:extLst>
            </p:cNvPr>
            <p:cNvSpPr/>
            <p:nvPr/>
          </p:nvSpPr>
          <p:spPr bwMode="auto">
            <a:xfrm>
              <a:off x="4772880" y="1064803"/>
              <a:ext cx="159353" cy="5250"/>
            </a:xfrm>
            <a:custGeom>
              <a:avLst/>
              <a:gdLst>
                <a:gd name="connsiteX0" fmla="*/ 0 w 159353"/>
                <a:gd name="connsiteY0" fmla="*/ 0 h 5250"/>
                <a:gd name="connsiteX1" fmla="*/ 159353 w 159353"/>
                <a:gd name="connsiteY1" fmla="*/ 0 h 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9353" h="5250" extrusionOk="0">
                  <a:moveTo>
                    <a:pt x="0" y="0"/>
                  </a:moveTo>
                  <a:lnTo>
                    <a:pt x="159353" y="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7" name="Полилиния: фигура 56">
              <a:extLst>
                <a:ext uri="{FF2B5EF4-FFF2-40B4-BE49-F238E27FC236}">
                  <a16:creationId xmlns:a16="http://schemas.microsoft.com/office/drawing/2014/main" id="{5070C31C-7F8F-1B1B-A793-1E6815F394C7}"/>
                </a:ext>
              </a:extLst>
            </p:cNvPr>
            <p:cNvSpPr/>
            <p:nvPr/>
          </p:nvSpPr>
          <p:spPr bwMode="auto">
            <a:xfrm>
              <a:off x="4772880" y="1106803"/>
              <a:ext cx="315000" cy="5250"/>
            </a:xfrm>
            <a:custGeom>
              <a:avLst/>
              <a:gdLst>
                <a:gd name="connsiteX0" fmla="*/ 0 w 315000"/>
                <a:gd name="connsiteY0" fmla="*/ 0 h 5250"/>
                <a:gd name="connsiteX1" fmla="*/ 56926 w 315000"/>
                <a:gd name="connsiteY1" fmla="*/ 0 h 5250"/>
                <a:gd name="connsiteX2" fmla="*/ 315000 w 315000"/>
                <a:gd name="connsiteY2" fmla="*/ 0 h 5250"/>
                <a:gd name="connsiteX3" fmla="*/ 83496 w 315000"/>
                <a:gd name="connsiteY3" fmla="*/ 0 h 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000" h="5250" extrusionOk="0">
                  <a:moveTo>
                    <a:pt x="0" y="0"/>
                  </a:moveTo>
                  <a:cubicBezTo>
                    <a:pt x="14564" y="0"/>
                    <a:pt x="43654" y="0"/>
                    <a:pt x="56926" y="0"/>
                  </a:cubicBezTo>
                  <a:moveTo>
                    <a:pt x="315000" y="0"/>
                  </a:moveTo>
                  <a:cubicBezTo>
                    <a:pt x="315000" y="0"/>
                    <a:pt x="224490" y="0"/>
                    <a:pt x="83496" y="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621981" name="Google Shape;1221;p126"/>
          <p:cNvSpPr/>
          <p:nvPr/>
        </p:nvSpPr>
        <p:spPr bwMode="auto">
          <a:xfrm>
            <a:off x="331199" y="266400"/>
            <a:ext cx="7052580" cy="440120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 i="0" u="none" strike="noStrike" cap="none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Сравнение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AS IS vs TO BE</a:t>
            </a:r>
            <a:endParaRPr lang="ru-RU" sz="2800" b="1" i="0" u="none" strike="noStrike" cap="none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2" name="Google Shape;1499;p14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7316095"/>
              </p:ext>
            </p:extLst>
          </p:nvPr>
        </p:nvGraphicFramePr>
        <p:xfrm>
          <a:off x="331199" y="829915"/>
          <a:ext cx="8428122" cy="40234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3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6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6280">
                  <a:extLst>
                    <a:ext uri="{9D8B030D-6E8A-4147-A177-3AD203B41FA5}">
                      <a16:colId xmlns:a16="http://schemas.microsoft.com/office/drawing/2014/main" val="4009069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ru-RU" sz="1200" b="1" u="none" strike="noStrike" cap="none" dirty="0">
                          <a:solidFill>
                            <a:schemeClr val="dk1"/>
                          </a:solidFill>
                          <a:latin typeface="Open Sans"/>
                          <a:cs typeface="Open Sans"/>
                        </a:rPr>
                        <a:t>Метрика</a:t>
                      </a:r>
                      <a:endParaRPr sz="1200" b="1" u="none" strike="noStrike" cap="none" dirty="0">
                        <a:solidFill>
                          <a:schemeClr val="dk1"/>
                        </a:solidFill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algn="ctr">
                      <a:solidFill>
                        <a:srgbClr val="C4C4C4"/>
                      </a:solidFill>
                    </a:lnR>
                    <a:lnT w="12699" algn="ctr">
                      <a:solidFill>
                        <a:srgbClr val="C4C4C4"/>
                      </a:solidFill>
                    </a:lnT>
                    <a:lnB w="12699" algn="ctr">
                      <a:solidFill>
                        <a:srgbClr val="C4C4C4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endParaRPr lang="ru-RU" sz="1200" b="1" u="none" strike="noStrike" cap="none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</a:rPr>
                        <a:t>AS IS</a:t>
                      </a:r>
                      <a:endParaRPr lang="ru-RU" sz="1200" b="1" u="none" strike="noStrike" cap="none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endParaRPr sz="1200" b="1" u="none" strike="noStrike" cap="none" dirty="0">
                        <a:solidFill>
                          <a:schemeClr val="dk1"/>
                        </a:solidFill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algn="ctr">
                      <a:solidFill>
                        <a:srgbClr val="C4C4C4"/>
                      </a:solidFill>
                    </a:lnR>
                    <a:lnT w="12699" algn="ctr">
                      <a:solidFill>
                        <a:srgbClr val="C4C4C4"/>
                      </a:solidFill>
                    </a:lnT>
                    <a:lnB w="12699" algn="ctr">
                      <a:solidFill>
                        <a:srgbClr val="C4C4C4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</a:rPr>
                        <a:t>TO BE</a:t>
                      </a:r>
                      <a:endParaRPr sz="1200" b="1" u="none" strike="noStrike" cap="none" dirty="0">
                        <a:solidFill>
                          <a:schemeClr val="dk1"/>
                        </a:solidFill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9" algn="ctr">
                      <a:solidFill>
                        <a:srgbClr val="C4C4C4"/>
                      </a:solidFill>
                    </a:lnT>
                    <a:lnB w="12699" algn="ctr">
                      <a:solidFill>
                        <a:srgbClr val="C4C4C4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ru-RU" sz="1200" b="1" u="none" strike="noStrike" cap="none" dirty="0">
                          <a:solidFill>
                            <a:schemeClr val="dk1"/>
                          </a:solidFill>
                          <a:latin typeface="Open Sans"/>
                          <a:cs typeface="Open Sans"/>
                        </a:rPr>
                        <a:t>Бизнес-эффект </a:t>
                      </a:r>
                      <a:endParaRPr sz="1200" b="1" u="none" strike="noStrike" cap="none" dirty="0">
                        <a:solidFill>
                          <a:schemeClr val="dk1"/>
                        </a:solidFill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algn="ctr">
                      <a:solidFill>
                        <a:srgbClr val="C4C4C4"/>
                      </a:solidFill>
                    </a:lnR>
                    <a:lnT w="12699" algn="ctr">
                      <a:solidFill>
                        <a:srgbClr val="C4C4C4"/>
                      </a:solidFill>
                    </a:lnT>
                    <a:lnB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Среднее время обработки заявки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algn="ctr">
                      <a:solidFill>
                        <a:srgbClr val="C4C4C4"/>
                      </a:solidFill>
                    </a:lnR>
                    <a:lnT w="12699" algn="ctr">
                      <a:solidFill>
                        <a:srgbClr val="C4C4C4"/>
                      </a:solidFill>
                    </a:lnT>
                    <a:lnB w="12699" algn="ctr">
                      <a:solidFill>
                        <a:srgbClr val="C4C4C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1.5 дня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algn="ctr">
                      <a:solidFill>
                        <a:srgbClr val="C4C4C4"/>
                      </a:solidFill>
                    </a:lnR>
                    <a:lnT w="12699" algn="ctr">
                      <a:solidFill>
                        <a:srgbClr val="C4C4C4"/>
                      </a:solidFill>
                    </a:lnT>
                    <a:lnB w="12699" algn="ctr">
                      <a:solidFill>
                        <a:srgbClr val="C4C4C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1-2 часа (авто-заявки) / 2-3 часа (для ручных заявок)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9" algn="ctr">
                      <a:solidFill>
                        <a:srgbClr val="C4C4C4"/>
                      </a:solidFill>
                    </a:lnT>
                    <a:lnB w="12699" algn="ctr">
                      <a:solidFill>
                        <a:srgbClr val="C4C4C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Сокращение более чем в 10 раз.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algn="ctr">
                      <a:solidFill>
                        <a:srgbClr val="C4C4C4"/>
                      </a:solidFill>
                    </a:lnR>
                    <a:lnT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Доля потерянных заявок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algn="ctr">
                      <a:solidFill>
                        <a:srgbClr val="C4C4C4"/>
                      </a:solidFill>
                    </a:lnR>
                    <a:lnT w="12699" algn="ctr">
                      <a:solidFill>
                        <a:srgbClr val="C4C4C4"/>
                      </a:solidFill>
                    </a:lnT>
                    <a:lnB w="12699" algn="ctr">
                      <a:solidFill>
                        <a:srgbClr val="C4C4C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15%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algn="ctr">
                      <a:solidFill>
                        <a:srgbClr val="C4C4C4"/>
                      </a:solidFill>
                    </a:lnR>
                    <a:lnT w="12699" algn="ctr">
                      <a:solidFill>
                        <a:srgbClr val="C4C4C4"/>
                      </a:solidFill>
                    </a:lnT>
                    <a:lnB w="12699" algn="ctr">
                      <a:solidFill>
                        <a:srgbClr val="C4C4C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en-US" sz="1000" u="none" strike="noStrike" cap="none" dirty="0">
                          <a:latin typeface="Open Sans"/>
                          <a:cs typeface="Open Sans"/>
                        </a:rPr>
                        <a:t>&lt;</a:t>
                      </a: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 </a:t>
                      </a:r>
                      <a:r>
                        <a:rPr lang="en-US" sz="1000" u="none" strike="noStrike" cap="none" dirty="0">
                          <a:latin typeface="Open Sans"/>
                          <a:cs typeface="Open Sans"/>
                        </a:rPr>
                        <a:t>2</a:t>
                      </a: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-3% (попадание в спам)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9" algn="ctr">
                      <a:solidFill>
                        <a:srgbClr val="C4C4C4"/>
                      </a:solidFill>
                    </a:lnT>
                    <a:lnB w="12699" algn="ctr">
                      <a:solidFill>
                        <a:srgbClr val="C4C4C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Потери остаются в рамках погрешности.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algn="ctr">
                      <a:solidFill>
                        <a:srgbClr val="C4C4C4"/>
                      </a:solidFill>
                    </a:lnR>
                    <a:lnT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Дублирование заявок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algn="ctr">
                      <a:solidFill>
                        <a:srgbClr val="C4C4C4"/>
                      </a:solidFill>
                    </a:lnR>
                    <a:lnT w="12699" algn="ctr">
                      <a:solidFill>
                        <a:srgbClr val="C4C4C4"/>
                      </a:solidFill>
                    </a:lnT>
                    <a:lnB w="12699" algn="ctr">
                      <a:solidFill>
                        <a:srgbClr val="C4C4C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регулярно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algn="ctr">
                      <a:solidFill>
                        <a:srgbClr val="C4C4C4"/>
                      </a:solidFill>
                    </a:lnR>
                    <a:lnT w="12699" algn="ctr">
                      <a:solidFill>
                        <a:srgbClr val="C4C4C4"/>
                      </a:solidFill>
                    </a:lnT>
                    <a:lnB w="12699" algn="ctr">
                      <a:solidFill>
                        <a:srgbClr val="C4C4C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en-US" sz="1000" u="none" strike="noStrike" cap="none" dirty="0">
                          <a:latin typeface="Open Sans"/>
                          <a:cs typeface="Open Sans"/>
                        </a:rPr>
                        <a:t>&lt;</a:t>
                      </a: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 1%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9" algn="ctr">
                      <a:solidFill>
                        <a:srgbClr val="C4C4C4"/>
                      </a:solidFill>
                    </a:lnT>
                    <a:lnB w="12699" algn="ctr">
                      <a:solidFill>
                        <a:srgbClr val="C4C4C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Двойные звонки клиенту минимизированы,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исключено дублирование среди менеджеров.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algn="ctr">
                      <a:solidFill>
                        <a:srgbClr val="C4C4C4"/>
                      </a:solidFill>
                    </a:lnR>
                    <a:lnT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Равномерность распределения загрузки среди менеджеров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algn="ctr">
                      <a:solidFill>
                        <a:srgbClr val="C4C4C4"/>
                      </a:solidFill>
                    </a:lnR>
                    <a:lnT w="12699" algn="ctr">
                      <a:solidFill>
                        <a:srgbClr val="C4C4C4"/>
                      </a:solidFill>
                    </a:lnT>
                    <a:lnB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низкая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algn="ctr">
                      <a:solidFill>
                        <a:srgbClr val="C4C4C4"/>
                      </a:solidFill>
                    </a:lnR>
                    <a:lnT w="12699" algn="ctr">
                      <a:solidFill>
                        <a:srgbClr val="C4C4C4"/>
                      </a:solidFill>
                    </a:lnT>
                    <a:lnB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высокая 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9" algn="ctr">
                      <a:solidFill>
                        <a:srgbClr val="C4C4C4"/>
                      </a:solidFill>
                    </a:lnT>
                    <a:lnB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Снижение выгорания, предсказуемость результатов, прозрачное распределение.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algn="ctr">
                      <a:solidFill>
                        <a:srgbClr val="C4C4C4"/>
                      </a:solidFill>
                    </a:lnR>
                    <a:lnT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Среднее количество заявок в день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9" algn="ctr">
                      <a:solidFill>
                        <a:srgbClr val="C4C4C4"/>
                      </a:solidFill>
                    </a:lnT>
                    <a:lnB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12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9" algn="ctr">
                      <a:solidFill>
                        <a:srgbClr val="C4C4C4"/>
                      </a:solidFill>
                    </a:lnT>
                    <a:lnB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en-US" sz="1000" u="none" strike="noStrike" cap="none" dirty="0">
                          <a:latin typeface="Open Sans"/>
                          <a:cs typeface="Open Sans"/>
                        </a:rPr>
                        <a:t>&gt; 20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9" algn="ctr">
                      <a:solidFill>
                        <a:srgbClr val="C4C4C4"/>
                      </a:solidFill>
                    </a:lnT>
                    <a:lnB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Увеличение числа заявок за счет увеличения пропускной способности. Также этот показатель может быть увеличен за счет вложений в рекламу.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9" algn="ctr">
                      <a:solidFill>
                        <a:srgbClr val="C4C4C4"/>
                      </a:solidFill>
                    </a:lnR>
                    <a:lnT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9404643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Количество менеджеров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9" algn="ctr">
                      <a:solidFill>
                        <a:srgbClr val="C4C4C4"/>
                      </a:solidFill>
                    </a:lnT>
                    <a:lnB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3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9" algn="ctr">
                      <a:solidFill>
                        <a:srgbClr val="C4C4C4"/>
                      </a:solidFill>
                    </a:lnT>
                    <a:lnB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2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9" algn="ctr">
                      <a:solidFill>
                        <a:srgbClr val="C4C4C4"/>
                      </a:solidFill>
                    </a:lnT>
                    <a:lnB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Сокращение за счет автоматизации ручных процессов.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9" algn="ctr">
                      <a:solidFill>
                        <a:srgbClr val="C4C4C4"/>
                      </a:solidFill>
                    </a:lnR>
                    <a:lnT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315834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Конверсия заявок в сделки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algn="ctr">
                      <a:solidFill>
                        <a:srgbClr val="C4C4C4"/>
                      </a:solidFill>
                    </a:lnL>
                    <a:lnR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9" algn="ctr">
                      <a:solidFill>
                        <a:srgbClr val="C4C4C4"/>
                      </a:solidFill>
                    </a:lnT>
                    <a:lnB w="12699" algn="ctr">
                      <a:solidFill>
                        <a:srgbClr val="C4C4C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40%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9" algn="ctr">
                      <a:solidFill>
                        <a:srgbClr val="C4C4C4"/>
                      </a:solidFill>
                    </a:lnT>
                    <a:lnB w="12699" algn="ctr">
                      <a:solidFill>
                        <a:srgbClr val="C4C4C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en-US" sz="1000" u="none" strike="noStrike" cap="none" dirty="0">
                          <a:latin typeface="Open Sans"/>
                          <a:cs typeface="Open Sans"/>
                        </a:rPr>
                        <a:t>&gt; 55%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9" algn="ctr">
                      <a:solidFill>
                        <a:srgbClr val="C4C4C4"/>
                      </a:solidFill>
                    </a:lnT>
                    <a:lnB w="12699" algn="ctr">
                      <a:solidFill>
                        <a:srgbClr val="C4C4C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roxima Nova"/>
                        <a:buNone/>
                        <a:defRPr/>
                      </a:pPr>
                      <a:r>
                        <a:rPr lang="ru-RU" sz="1000" u="none" strike="noStrike" cap="none" dirty="0">
                          <a:latin typeface="Open Sans"/>
                          <a:cs typeface="Open Sans"/>
                        </a:rPr>
                        <a:t>Рост за счет сокращения времени реакции и качества КП (+ перераспределение за счет вложения в рекламу).</a:t>
                      </a:r>
                      <a:endParaRPr sz="1000" u="none" strike="noStrike" cap="none" dirty="0">
                        <a:latin typeface="Open Sans"/>
                        <a:cs typeface="Open Sans"/>
                      </a:endParaRPr>
                    </a:p>
                  </a:txBody>
                  <a:tcPr marL="45724" marR="45724" marT="45724" marB="45724" anchor="ctr">
                    <a:lnL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9" algn="ctr">
                      <a:solidFill>
                        <a:srgbClr val="C4C4C4"/>
                      </a:solidFill>
                    </a:lnR>
                    <a:lnT w="12699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9" algn="ctr">
                      <a:solidFill>
                        <a:srgbClr val="C4C4C4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91766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621981" name="Google Shape;1221;p126"/>
          <p:cNvSpPr/>
          <p:nvPr/>
        </p:nvSpPr>
        <p:spPr bwMode="auto">
          <a:xfrm>
            <a:off x="331199" y="266400"/>
            <a:ext cx="7609143" cy="440120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ru-RU" sz="2800" b="1" dirty="0">
                <a:latin typeface="Open Sans"/>
                <a:ea typeface="Open Sans"/>
                <a:cs typeface="Open Sans"/>
              </a:rPr>
              <a:t>Дорожная карта </a:t>
            </a:r>
            <a:r>
              <a:rPr lang="ru-RU" sz="28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внедрения изменений</a:t>
            </a:r>
            <a:endParaRPr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49503E8A-E94E-934D-3BF9-7241D483E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250572"/>
              </p:ext>
            </p:extLst>
          </p:nvPr>
        </p:nvGraphicFramePr>
        <p:xfrm>
          <a:off x="220980" y="830151"/>
          <a:ext cx="8717279" cy="412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942">
                  <a:extLst>
                    <a:ext uri="{9D8B030D-6E8A-4147-A177-3AD203B41FA5}">
                      <a16:colId xmlns:a16="http://schemas.microsoft.com/office/drawing/2014/main" val="3406923383"/>
                    </a:ext>
                  </a:extLst>
                </a:gridCol>
                <a:gridCol w="2018263">
                  <a:extLst>
                    <a:ext uri="{9D8B030D-6E8A-4147-A177-3AD203B41FA5}">
                      <a16:colId xmlns:a16="http://schemas.microsoft.com/office/drawing/2014/main" val="959780189"/>
                    </a:ext>
                  </a:extLst>
                </a:gridCol>
                <a:gridCol w="2632227">
                  <a:extLst>
                    <a:ext uri="{9D8B030D-6E8A-4147-A177-3AD203B41FA5}">
                      <a16:colId xmlns:a16="http://schemas.microsoft.com/office/drawing/2014/main" val="2302115416"/>
                    </a:ext>
                  </a:extLst>
                </a:gridCol>
                <a:gridCol w="2173847">
                  <a:extLst>
                    <a:ext uri="{9D8B030D-6E8A-4147-A177-3AD203B41FA5}">
                      <a16:colId xmlns:a16="http://schemas.microsoft.com/office/drawing/2014/main" val="23045365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Этап внедрения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Сроки внедрения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Действия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Риски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137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Этап 1. Подготовка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Неделя 1 - 2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Разработка шаблона заявки;</a:t>
                      </a:r>
                    </a:p>
                    <a:p>
                      <a:pPr marL="285750" indent="-285750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Разработка регламента категоризации заявок;</a:t>
                      </a:r>
                    </a:p>
                    <a:p>
                      <a:pPr marL="285750" indent="-285750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Разработка регламента распределения заявок;</a:t>
                      </a:r>
                    </a:p>
                    <a:p>
                      <a:pPr marL="285750" indent="-285750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Разработка чек-листа для менеджеров (звонки клиенту, заполнение </a:t>
                      </a:r>
                      <a:r>
                        <a:rPr lang="en-US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CRM</a:t>
                      </a: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);</a:t>
                      </a:r>
                    </a:p>
                    <a:p>
                      <a:pPr marL="285750" indent="-285750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Разработка шаблона КП;</a:t>
                      </a:r>
                    </a:p>
                    <a:p>
                      <a:pPr marL="285750" indent="-285750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Проведение аудита </a:t>
                      </a:r>
                      <a:r>
                        <a:rPr lang="en-US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CRM</a:t>
                      </a: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Разработка регламентов в отрыве от «реальности»;</a:t>
                      </a:r>
                    </a:p>
                    <a:p>
                      <a:pPr marL="171450" indent="-171450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Усложнение шаблона разработанной заявки (ограничить количество обязательных к заполнению полей);</a:t>
                      </a:r>
                    </a:p>
                    <a:p>
                      <a:pPr marL="171450" indent="-171450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Потеря данных при аудите </a:t>
                      </a:r>
                      <a:r>
                        <a:rPr lang="en-US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CRM</a:t>
                      </a: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.</a:t>
                      </a:r>
                    </a:p>
                    <a:p>
                      <a:endParaRPr lang="ru-RU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81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Этап 2. Техническая настройка, интеграции, тестирование прототипа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Неделя 3 - 5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indent="-28575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Настройка интеграций с </a:t>
                      </a: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CRM</a:t>
                      </a: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;</a:t>
                      </a:r>
                    </a:p>
                    <a:p>
                      <a:pPr marL="285750" marR="0" indent="-28575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Настройка валидации данных;</a:t>
                      </a:r>
                    </a:p>
                    <a:p>
                      <a:pPr marL="285750" marR="0" indent="-28575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Настройка автоматической категоризации заявок;</a:t>
                      </a:r>
                    </a:p>
                    <a:p>
                      <a:pPr marL="285750" marR="0" indent="-28575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Настройка автоматического распределения заявок;</a:t>
                      </a:r>
                    </a:p>
                    <a:p>
                      <a:pPr marL="285750" marR="0" indent="-28575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Тестирование прототипа;</a:t>
                      </a:r>
                    </a:p>
                    <a:p>
                      <a:pPr marL="285750" marR="0" indent="-28575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Настройка аналитики и </a:t>
                      </a: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KPI</a:t>
                      </a: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.</a:t>
                      </a:r>
                    </a:p>
                    <a:p>
                      <a:endParaRPr lang="ru-RU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Срыв сроков внедрения;</a:t>
                      </a:r>
                    </a:p>
                    <a:p>
                      <a:pPr marL="171450" indent="-171450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Некорректный </a:t>
                      </a:r>
                      <a:r>
                        <a:rPr lang="ru-RU" sz="1000" dirty="0" err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парсинг</a:t>
                      </a: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данных;</a:t>
                      </a:r>
                    </a:p>
                    <a:p>
                      <a:pPr marL="171450" indent="-171450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Несоответствие прототипа реальному выполнению процесса;</a:t>
                      </a:r>
                    </a:p>
                    <a:p>
                      <a:pPr marL="171450" indent="-171450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Устаревший прайс-лист / отпускные цены.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76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021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621981" name="Google Shape;1221;p126"/>
          <p:cNvSpPr/>
          <p:nvPr/>
        </p:nvSpPr>
        <p:spPr bwMode="auto">
          <a:xfrm>
            <a:off x="331199" y="266400"/>
            <a:ext cx="7609143" cy="440120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ru-RU" sz="2800" b="1" dirty="0">
                <a:latin typeface="Open Sans"/>
                <a:ea typeface="Open Sans"/>
                <a:cs typeface="Open Sans"/>
              </a:rPr>
              <a:t>Дорожная карта </a:t>
            </a:r>
            <a:r>
              <a:rPr lang="ru-RU" sz="28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внедрения изменений</a:t>
            </a:r>
            <a:endParaRPr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49503E8A-E94E-934D-3BF9-7241D483E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809519"/>
              </p:ext>
            </p:extLst>
          </p:nvPr>
        </p:nvGraphicFramePr>
        <p:xfrm>
          <a:off x="205740" y="809498"/>
          <a:ext cx="8717281" cy="4189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942">
                  <a:extLst>
                    <a:ext uri="{9D8B030D-6E8A-4147-A177-3AD203B41FA5}">
                      <a16:colId xmlns:a16="http://schemas.microsoft.com/office/drawing/2014/main" val="3406923383"/>
                    </a:ext>
                  </a:extLst>
                </a:gridCol>
                <a:gridCol w="2018264">
                  <a:extLst>
                    <a:ext uri="{9D8B030D-6E8A-4147-A177-3AD203B41FA5}">
                      <a16:colId xmlns:a16="http://schemas.microsoft.com/office/drawing/2014/main" val="959780189"/>
                    </a:ext>
                  </a:extLst>
                </a:gridCol>
                <a:gridCol w="2626754">
                  <a:extLst>
                    <a:ext uri="{9D8B030D-6E8A-4147-A177-3AD203B41FA5}">
                      <a16:colId xmlns:a16="http://schemas.microsoft.com/office/drawing/2014/main" val="2302115416"/>
                    </a:ext>
                  </a:extLst>
                </a:gridCol>
                <a:gridCol w="2179321">
                  <a:extLst>
                    <a:ext uri="{9D8B030D-6E8A-4147-A177-3AD203B41FA5}">
                      <a16:colId xmlns:a16="http://schemas.microsoft.com/office/drawing/2014/main" val="2304536517"/>
                    </a:ext>
                  </a:extLst>
                </a:gridCol>
              </a:tblGrid>
              <a:tr h="35845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Этап внедрения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Сроки внедрения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Действия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Риски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137151"/>
                  </a:ext>
                </a:extLst>
              </a:tr>
              <a:tr h="1995177"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Этап 3. Обучение и запуск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Неделя 6 - 8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Коммуникация с командой;</a:t>
                      </a:r>
                    </a:p>
                    <a:p>
                      <a:pPr marL="285750" indent="-285750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Проведение обучения (в том числе с оператором кол-центра для переквалификации);</a:t>
                      </a:r>
                    </a:p>
                    <a:p>
                      <a:pPr marL="285750" indent="-285750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Обновление должностных инструкций;</a:t>
                      </a:r>
                    </a:p>
                    <a:p>
                      <a:pPr marL="285750" indent="-285750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Внедрение </a:t>
                      </a:r>
                      <a:r>
                        <a:rPr lang="en-US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KPI</a:t>
                      </a: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;</a:t>
                      </a:r>
                    </a:p>
                    <a:p>
                      <a:pPr marL="285750" indent="-285750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Полноценный запуск процесса в работу.</a:t>
                      </a:r>
                    </a:p>
                    <a:p>
                      <a:pPr marL="285750" indent="-285750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endParaRPr lang="ru-RU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Саботаж со стороны персонала (в т.ч. со стороны оператора кол-центра);</a:t>
                      </a:r>
                    </a:p>
                    <a:p>
                      <a:pPr marL="171450" indent="-171450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Снижение результатов в первое время;</a:t>
                      </a:r>
                    </a:p>
                    <a:p>
                      <a:pPr marL="171450" indent="-171450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Негативная реакция со стороны постоянных клиентов;</a:t>
                      </a:r>
                    </a:p>
                    <a:p>
                      <a:pPr marL="171450" indent="-171450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Отрицательная реакция персонала на внедрение </a:t>
                      </a:r>
                      <a:r>
                        <a:rPr lang="en-US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KPI</a:t>
                      </a: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81284"/>
                  </a:ext>
                </a:extLst>
              </a:tr>
              <a:tr h="1835593"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Этап 4. Контроль, корректировки, закрепление в ВНД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Неделя 9 - 12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Регулярные встречи с командой;</a:t>
                      </a:r>
                    </a:p>
                    <a:p>
                      <a:pPr marL="171450" indent="-171450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Выборочный аудит качества;</a:t>
                      </a:r>
                    </a:p>
                    <a:p>
                      <a:pPr marL="171450" indent="-171450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Аналитика </a:t>
                      </a:r>
                      <a:r>
                        <a:rPr lang="en-US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KPI</a:t>
                      </a:r>
                      <a:endParaRPr lang="ru-RU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71450" indent="-171450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Сбор обратной связи</a:t>
                      </a:r>
                    </a:p>
                    <a:p>
                      <a:pPr marL="171450" indent="-171450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Внедрение корректировок по результатам ОС;</a:t>
                      </a:r>
                    </a:p>
                    <a:p>
                      <a:pPr marL="171450" indent="-171450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Подведение итогов оптимизации бизнес-процесса.</a:t>
                      </a:r>
                    </a:p>
                    <a:p>
                      <a:pPr>
                        <a:lnSpc>
                          <a:spcPts val="1300"/>
                        </a:lnSpc>
                      </a:pPr>
                      <a:endParaRPr lang="ru-RU" sz="10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Метрики не выходят на целевые значения;</a:t>
                      </a:r>
                    </a:p>
                    <a:p>
                      <a:pPr marL="171450" indent="-171450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Выявление скрытых технических дефектов;</a:t>
                      </a:r>
                    </a:p>
                    <a:p>
                      <a:pPr marL="171450" indent="-171450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Менеджеры нашли обходить новую систему, возвращаясь к старым привычкам;</a:t>
                      </a:r>
                    </a:p>
                    <a:p>
                      <a:pPr marL="171450" indent="-171450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Итоги оптимизации процесса не вышли на целевые значения.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769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621981" name="Google Shape;1221;p126"/>
          <p:cNvSpPr/>
          <p:nvPr/>
        </p:nvSpPr>
        <p:spPr bwMode="auto">
          <a:xfrm>
            <a:off x="331200" y="266400"/>
            <a:ext cx="7052220" cy="440120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ru-RU" sz="2800" b="1" i="0" u="none" strike="noStrike" cap="none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Выводы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1598EA-D165-F38D-C726-C9CE4913F3F4}"/>
              </a:ext>
            </a:extLst>
          </p:cNvPr>
          <p:cNvSpPr txBox="1"/>
          <p:nvPr/>
        </p:nvSpPr>
        <p:spPr bwMode="auto">
          <a:xfrm>
            <a:off x="531555" y="1233885"/>
            <a:ext cx="6959012" cy="920317"/>
          </a:xfrm>
          <a:prstGeom prst="rect">
            <a:avLst/>
          </a:prstGeom>
          <a:noFill/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L="171450" marR="0" lvl="0" indent="-171450" algn="l">
              <a:lnSpc>
                <a:spcPts val="11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Устранили ручной приём и перенос данных - заявки попадают в CRM автоматически;</a:t>
            </a:r>
          </a:p>
          <a:p>
            <a:pPr marL="171450" marR="0" lvl="0" indent="-171450" algn="l">
              <a:lnSpc>
                <a:spcPts val="11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Внедрили категоризацию: стандартные заявки обрабатываются без менеджера и звонка;</a:t>
            </a:r>
          </a:p>
          <a:p>
            <a:pPr marL="171450" marR="0" lvl="0" indent="-171450" algn="l">
              <a:lnSpc>
                <a:spcPts val="11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Автоматизировали расчёт и отправку КП.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C08DF4-6AE5-8F6C-BEEB-43D53D6AF313}"/>
              </a:ext>
            </a:extLst>
          </p:cNvPr>
          <p:cNvSpPr txBox="1"/>
          <p:nvPr/>
        </p:nvSpPr>
        <p:spPr bwMode="auto">
          <a:xfrm>
            <a:off x="331200" y="830485"/>
            <a:ext cx="6343757" cy="279435"/>
          </a:xfrm>
          <a:prstGeom prst="rect">
            <a:avLst/>
          </a:prstGeom>
          <a:noFill/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R="0" lvl="0" algn="l">
              <a:lnSpc>
                <a:spcPct val="1000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ts val="1900"/>
              <a:defRPr/>
            </a:pPr>
            <a:r>
              <a:rPr lang="ru-RU" sz="1600" u="sng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Что сделали:</a:t>
            </a:r>
            <a:endParaRPr u="sng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92EC0F-D039-4D53-EBB6-C44798CF0367}"/>
              </a:ext>
            </a:extLst>
          </p:cNvPr>
          <p:cNvSpPr txBox="1"/>
          <p:nvPr/>
        </p:nvSpPr>
        <p:spPr bwMode="auto">
          <a:xfrm>
            <a:off x="331199" y="2376270"/>
            <a:ext cx="6343757" cy="279435"/>
          </a:xfrm>
          <a:prstGeom prst="rect">
            <a:avLst/>
          </a:prstGeom>
          <a:noFill/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R="0" lvl="0" algn="l">
              <a:lnSpc>
                <a:spcPct val="1000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ts val="1900"/>
              <a:defRPr/>
            </a:pPr>
            <a:r>
              <a:rPr lang="ru-RU" sz="1600" u="sng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Эффекты:</a:t>
            </a:r>
            <a:endParaRPr u="sng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F5F80F-6DFF-E9E0-E710-3E3338CC3074}"/>
              </a:ext>
            </a:extLst>
          </p:cNvPr>
          <p:cNvSpPr txBox="1"/>
          <p:nvPr/>
        </p:nvSpPr>
        <p:spPr bwMode="auto">
          <a:xfrm>
            <a:off x="531555" y="2779670"/>
            <a:ext cx="6959012" cy="2064668"/>
          </a:xfrm>
          <a:prstGeom prst="rect">
            <a:avLst/>
          </a:prstGeom>
          <a:noFill/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L="171450" marR="0" lvl="0" indent="-171450" algn="l">
              <a:lnSpc>
                <a:spcPts val="11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Время обработки: с 1.5 дней до 1-2 часов;</a:t>
            </a:r>
          </a:p>
          <a:p>
            <a:pPr marL="171450" marR="0" lvl="0" indent="-171450" algn="l">
              <a:lnSpc>
                <a:spcPts val="11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Потери заявок: с 15% до &lt; 3%</a:t>
            </a:r>
          </a:p>
          <a:p>
            <a:pPr marL="171450" marR="0" lvl="0" indent="-171450" algn="l">
              <a:lnSpc>
                <a:spcPts val="11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Конверсия: с 40% до 55% (без увеличения бюджета на рекламу);</a:t>
            </a:r>
          </a:p>
          <a:p>
            <a:pPr marL="171450" marR="0" lvl="0" indent="-171450" algn="l">
              <a:lnSpc>
                <a:spcPts val="11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Время подготовки КП: с 25 минут до 5 минут / 0 минут (авто);</a:t>
            </a:r>
          </a:p>
          <a:p>
            <a:pPr marL="171450" marR="0" lvl="0" indent="-171450" algn="l">
              <a:lnSpc>
                <a:spcPts val="11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Ноль дублей и опечаток;</a:t>
            </a:r>
          </a:p>
          <a:p>
            <a:pPr marL="171450" marR="0" lvl="0" indent="-171450" algn="l">
              <a:lnSpc>
                <a:spcPts val="11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Прозрачная загрузка менеджеров.</a:t>
            </a:r>
          </a:p>
        </p:txBody>
      </p:sp>
      <p:sp>
        <p:nvSpPr>
          <p:cNvPr id="18" name="Google Shape;1222;p126">
            <a:extLst>
              <a:ext uri="{FF2B5EF4-FFF2-40B4-BE49-F238E27FC236}">
                <a16:creationId xmlns:a16="http://schemas.microsoft.com/office/drawing/2014/main" id="{B229B443-E8FA-ED06-C050-F8C056194490}"/>
              </a:ext>
            </a:extLst>
          </p:cNvPr>
          <p:cNvSpPr/>
          <p:nvPr/>
        </p:nvSpPr>
        <p:spPr bwMode="auto">
          <a:xfrm>
            <a:off x="6557143" y="2556208"/>
            <a:ext cx="2232299" cy="2232299"/>
          </a:xfrm>
          <a:prstGeom prst="ellipse">
            <a:avLst/>
          </a:prstGeom>
          <a:noFill/>
          <a:ln w="9525" cap="flat" cmpd="sng">
            <a:solidFill>
              <a:srgbClr val="C4C4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4" tIns="45724" rIns="45724" bIns="45724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Open Sans"/>
              <a:cs typeface="Open Sans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1C992304-8AE3-5DC6-3BE1-4DFA600083D5}"/>
              </a:ext>
            </a:extLst>
          </p:cNvPr>
          <p:cNvGrpSpPr/>
          <p:nvPr/>
        </p:nvGrpSpPr>
        <p:grpSpPr bwMode="auto">
          <a:xfrm>
            <a:off x="7217933" y="3046382"/>
            <a:ext cx="910717" cy="1251949"/>
            <a:chOff x="3089250" y="947168"/>
            <a:chExt cx="910717" cy="1251949"/>
          </a:xfrm>
        </p:grpSpPr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CC105F15-87E3-DF07-AE9D-239C95357356}"/>
                </a:ext>
              </a:extLst>
            </p:cNvPr>
            <p:cNvSpPr/>
            <p:nvPr/>
          </p:nvSpPr>
          <p:spPr bwMode="auto">
            <a:xfrm>
              <a:off x="3089250" y="1059358"/>
              <a:ext cx="910717" cy="1139759"/>
            </a:xfrm>
            <a:custGeom>
              <a:avLst/>
              <a:gdLst>
                <a:gd name="connsiteX0" fmla="*/ 63000 w 910717"/>
                <a:gd name="connsiteY0" fmla="*/ 1139759 h 1139759"/>
                <a:gd name="connsiteX1" fmla="*/ 847718 w 910717"/>
                <a:gd name="connsiteY1" fmla="*/ 1139759 h 1139759"/>
                <a:gd name="connsiteX2" fmla="*/ 910718 w 910717"/>
                <a:gd name="connsiteY2" fmla="*/ 1076759 h 1139759"/>
                <a:gd name="connsiteX3" fmla="*/ 910718 w 910717"/>
                <a:gd name="connsiteY3" fmla="*/ 279857 h 1139759"/>
                <a:gd name="connsiteX4" fmla="*/ 910718 w 910717"/>
                <a:gd name="connsiteY4" fmla="*/ 213150 h 1139759"/>
                <a:gd name="connsiteX5" fmla="*/ 910718 w 910717"/>
                <a:gd name="connsiteY5" fmla="*/ 63000 h 1139759"/>
                <a:gd name="connsiteX6" fmla="*/ 847718 w 910717"/>
                <a:gd name="connsiteY6" fmla="*/ 0 h 1139759"/>
                <a:gd name="connsiteX7" fmla="*/ 657300 w 910717"/>
                <a:gd name="connsiteY7" fmla="*/ 0 h 1139759"/>
                <a:gd name="connsiteX8" fmla="*/ 608218 w 910717"/>
                <a:gd name="connsiteY8" fmla="*/ 0 h 1139759"/>
                <a:gd name="connsiteX9" fmla="*/ 63000 w 910717"/>
                <a:gd name="connsiteY9" fmla="*/ 0 h 1139759"/>
                <a:gd name="connsiteX10" fmla="*/ 0 w 910717"/>
                <a:gd name="connsiteY10" fmla="*/ 63000 h 1139759"/>
                <a:gd name="connsiteX11" fmla="*/ 0 w 910717"/>
                <a:gd name="connsiteY11" fmla="*/ 232160 h 1139759"/>
                <a:gd name="connsiteX12" fmla="*/ 0 w 910717"/>
                <a:gd name="connsiteY12" fmla="*/ 752336 h 1139759"/>
                <a:gd name="connsiteX13" fmla="*/ 0 w 910717"/>
                <a:gd name="connsiteY13" fmla="*/ 813545 h 1139759"/>
                <a:gd name="connsiteX14" fmla="*/ 0 w 910717"/>
                <a:gd name="connsiteY14" fmla="*/ 1076759 h 1139759"/>
                <a:gd name="connsiteX15" fmla="*/ 63000 w 910717"/>
                <a:gd name="connsiteY15" fmla="*/ 1139759 h 113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10717" h="1139759" extrusionOk="0">
                  <a:moveTo>
                    <a:pt x="63000" y="1139759"/>
                  </a:moveTo>
                  <a:lnTo>
                    <a:pt x="847718" y="1139759"/>
                  </a:lnTo>
                  <a:cubicBezTo>
                    <a:pt x="882514" y="1139759"/>
                    <a:pt x="910718" y="1111551"/>
                    <a:pt x="910718" y="1076759"/>
                  </a:cubicBezTo>
                  <a:lnTo>
                    <a:pt x="910718" y="279857"/>
                  </a:lnTo>
                  <a:lnTo>
                    <a:pt x="910718" y="213150"/>
                  </a:lnTo>
                  <a:lnTo>
                    <a:pt x="910718" y="63000"/>
                  </a:lnTo>
                  <a:cubicBezTo>
                    <a:pt x="910718" y="28203"/>
                    <a:pt x="882514" y="0"/>
                    <a:pt x="847718" y="0"/>
                  </a:cubicBezTo>
                  <a:lnTo>
                    <a:pt x="657300" y="0"/>
                  </a:lnTo>
                  <a:lnTo>
                    <a:pt x="608218" y="0"/>
                  </a:lnTo>
                  <a:lnTo>
                    <a:pt x="63000" y="0"/>
                  </a:lnTo>
                  <a:cubicBezTo>
                    <a:pt x="28208" y="0"/>
                    <a:pt x="0" y="28203"/>
                    <a:pt x="0" y="63000"/>
                  </a:cubicBezTo>
                  <a:lnTo>
                    <a:pt x="0" y="232160"/>
                  </a:lnTo>
                  <a:lnTo>
                    <a:pt x="0" y="752336"/>
                  </a:lnTo>
                  <a:lnTo>
                    <a:pt x="0" y="813545"/>
                  </a:lnTo>
                  <a:lnTo>
                    <a:pt x="0" y="1076759"/>
                  </a:lnTo>
                  <a:cubicBezTo>
                    <a:pt x="0" y="1111551"/>
                    <a:pt x="28208" y="1139759"/>
                    <a:pt x="63000" y="1139759"/>
                  </a:cubicBezTo>
                  <a:close/>
                </a:path>
              </a:pathLst>
            </a:custGeom>
            <a:solidFill>
              <a:srgbClr val="F3F4F7"/>
            </a:solidFill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EB05373B-FFFF-FF67-88CC-30BCC1CCA2E6}"/>
                </a:ext>
              </a:extLst>
            </p:cNvPr>
            <p:cNvSpPr/>
            <p:nvPr/>
          </p:nvSpPr>
          <p:spPr bwMode="auto">
            <a:xfrm>
              <a:off x="3163002" y="1139079"/>
              <a:ext cx="764142" cy="982469"/>
            </a:xfrm>
            <a:custGeom>
              <a:avLst/>
              <a:gdLst>
                <a:gd name="connsiteX0" fmla="*/ 722143 w 764142"/>
                <a:gd name="connsiteY0" fmla="*/ 0 h 982469"/>
                <a:gd name="connsiteX1" fmla="*/ 42000 w 764142"/>
                <a:gd name="connsiteY1" fmla="*/ 0 h 982469"/>
                <a:gd name="connsiteX2" fmla="*/ 0 w 764142"/>
                <a:gd name="connsiteY2" fmla="*/ 42000 h 982469"/>
                <a:gd name="connsiteX3" fmla="*/ 0 w 764142"/>
                <a:gd name="connsiteY3" fmla="*/ 940469 h 982469"/>
                <a:gd name="connsiteX4" fmla="*/ 42000 w 764142"/>
                <a:gd name="connsiteY4" fmla="*/ 982469 h 982469"/>
                <a:gd name="connsiteX5" fmla="*/ 527620 w 764142"/>
                <a:gd name="connsiteY5" fmla="*/ 982469 h 982469"/>
                <a:gd name="connsiteX6" fmla="*/ 615557 w 764142"/>
                <a:gd name="connsiteY6" fmla="*/ 982469 h 982469"/>
                <a:gd name="connsiteX7" fmla="*/ 722143 w 764142"/>
                <a:gd name="connsiteY7" fmla="*/ 982469 h 982469"/>
                <a:gd name="connsiteX8" fmla="*/ 764143 w 764142"/>
                <a:gd name="connsiteY8" fmla="*/ 940469 h 982469"/>
                <a:gd name="connsiteX9" fmla="*/ 764143 w 764142"/>
                <a:gd name="connsiteY9" fmla="*/ 42000 h 982469"/>
                <a:gd name="connsiteX10" fmla="*/ 722143 w 764142"/>
                <a:gd name="connsiteY10" fmla="*/ 0 h 982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4142" h="982469" extrusionOk="0">
                  <a:moveTo>
                    <a:pt x="722143" y="0"/>
                  </a:moveTo>
                  <a:lnTo>
                    <a:pt x="42000" y="0"/>
                  </a:lnTo>
                  <a:cubicBezTo>
                    <a:pt x="18806" y="0"/>
                    <a:pt x="0" y="18806"/>
                    <a:pt x="0" y="42000"/>
                  </a:cubicBezTo>
                  <a:lnTo>
                    <a:pt x="0" y="940469"/>
                  </a:lnTo>
                  <a:cubicBezTo>
                    <a:pt x="0" y="963664"/>
                    <a:pt x="18806" y="982469"/>
                    <a:pt x="42000" y="982469"/>
                  </a:cubicBezTo>
                  <a:lnTo>
                    <a:pt x="527620" y="982469"/>
                  </a:lnTo>
                  <a:lnTo>
                    <a:pt x="615557" y="982469"/>
                  </a:lnTo>
                  <a:lnTo>
                    <a:pt x="722143" y="982469"/>
                  </a:lnTo>
                  <a:cubicBezTo>
                    <a:pt x="745337" y="982469"/>
                    <a:pt x="764143" y="963664"/>
                    <a:pt x="764143" y="940469"/>
                  </a:cubicBezTo>
                  <a:lnTo>
                    <a:pt x="764143" y="42000"/>
                  </a:lnTo>
                  <a:cubicBezTo>
                    <a:pt x="764143" y="18806"/>
                    <a:pt x="745337" y="0"/>
                    <a:pt x="722143" y="0"/>
                  </a:cubicBezTo>
                  <a:close/>
                </a:path>
              </a:pathLst>
            </a:custGeom>
            <a:solidFill>
              <a:srgbClr val="FFFFFF"/>
            </a:solidFill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1D3B235E-E9DF-DD01-722B-438D96412168}"/>
                </a:ext>
              </a:extLst>
            </p:cNvPr>
            <p:cNvSpPr/>
            <p:nvPr/>
          </p:nvSpPr>
          <p:spPr bwMode="auto">
            <a:xfrm>
              <a:off x="3317625" y="1057437"/>
              <a:ext cx="501375" cy="127787"/>
            </a:xfrm>
            <a:custGeom>
              <a:avLst/>
              <a:gdLst>
                <a:gd name="connsiteX0" fmla="*/ 474301 w 501375"/>
                <a:gd name="connsiteY0" fmla="*/ 127774 h 127787"/>
                <a:gd name="connsiteX1" fmla="*/ 0 w 501375"/>
                <a:gd name="connsiteY1" fmla="*/ 112875 h 127787"/>
                <a:gd name="connsiteX2" fmla="*/ 501375 w 501375"/>
                <a:gd name="connsiteY2" fmla="*/ 0 h 127787"/>
                <a:gd name="connsiteX3" fmla="*/ 501375 w 501375"/>
                <a:gd name="connsiteY3" fmla="*/ 101540 h 127787"/>
                <a:gd name="connsiteX4" fmla="*/ 474301 w 501375"/>
                <a:gd name="connsiteY4" fmla="*/ 127774 h 127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375" h="127787" extrusionOk="0">
                  <a:moveTo>
                    <a:pt x="474301" y="127774"/>
                  </a:moveTo>
                  <a:lnTo>
                    <a:pt x="0" y="112875"/>
                  </a:lnTo>
                  <a:lnTo>
                    <a:pt x="501375" y="0"/>
                  </a:lnTo>
                  <a:lnTo>
                    <a:pt x="501375" y="101540"/>
                  </a:lnTo>
                  <a:cubicBezTo>
                    <a:pt x="501375" y="116361"/>
                    <a:pt x="489116" y="128242"/>
                    <a:pt x="474301" y="127774"/>
                  </a:cubicBezTo>
                  <a:close/>
                </a:path>
              </a:pathLst>
            </a:custGeom>
            <a:solidFill>
              <a:srgbClr val="0000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20D1880E-7BCD-233E-2FD7-75E19633F60F}"/>
                </a:ext>
              </a:extLst>
            </p:cNvPr>
            <p:cNvSpPr/>
            <p:nvPr/>
          </p:nvSpPr>
          <p:spPr bwMode="auto">
            <a:xfrm>
              <a:off x="3272165" y="1248243"/>
              <a:ext cx="194066" cy="200135"/>
            </a:xfrm>
            <a:custGeom>
              <a:avLst/>
              <a:gdLst>
                <a:gd name="connsiteX0" fmla="*/ 0 w 194066"/>
                <a:gd name="connsiteY0" fmla="*/ 200135 h 200135"/>
                <a:gd name="connsiteX1" fmla="*/ 194066 w 194066"/>
                <a:gd name="connsiteY1" fmla="*/ 0 h 200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4066" h="200135" extrusionOk="0">
                  <a:moveTo>
                    <a:pt x="0" y="200135"/>
                  </a:moveTo>
                  <a:lnTo>
                    <a:pt x="194066" y="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D4574E08-E5A6-79DF-214A-430FF7FBBA07}"/>
                </a:ext>
              </a:extLst>
            </p:cNvPr>
            <p:cNvSpPr/>
            <p:nvPr/>
          </p:nvSpPr>
          <p:spPr bwMode="auto">
            <a:xfrm>
              <a:off x="3272165" y="1248243"/>
              <a:ext cx="194066" cy="200135"/>
            </a:xfrm>
            <a:custGeom>
              <a:avLst/>
              <a:gdLst>
                <a:gd name="connsiteX0" fmla="*/ 194066 w 194066"/>
                <a:gd name="connsiteY0" fmla="*/ 200135 h 200135"/>
                <a:gd name="connsiteX1" fmla="*/ 0 w 194066"/>
                <a:gd name="connsiteY1" fmla="*/ 0 h 200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4066" h="200135" extrusionOk="0">
                  <a:moveTo>
                    <a:pt x="194066" y="200135"/>
                  </a:moveTo>
                  <a:lnTo>
                    <a:pt x="0" y="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5" name="Полилиния: фигура 24">
              <a:extLst>
                <a:ext uri="{FF2B5EF4-FFF2-40B4-BE49-F238E27FC236}">
                  <a16:creationId xmlns:a16="http://schemas.microsoft.com/office/drawing/2014/main" id="{A38D91CC-6A39-8CDF-6B83-2FA8E182BA07}"/>
                </a:ext>
              </a:extLst>
            </p:cNvPr>
            <p:cNvSpPr/>
            <p:nvPr/>
          </p:nvSpPr>
          <p:spPr bwMode="auto">
            <a:xfrm>
              <a:off x="3696690" y="1891089"/>
              <a:ext cx="115226" cy="109163"/>
            </a:xfrm>
            <a:custGeom>
              <a:avLst/>
              <a:gdLst>
                <a:gd name="connsiteX0" fmla="*/ 0 w 115226"/>
                <a:gd name="connsiteY0" fmla="*/ 109163 h 109163"/>
                <a:gd name="connsiteX1" fmla="*/ 115227 w 115226"/>
                <a:gd name="connsiteY1" fmla="*/ 0 h 109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226" h="109163" extrusionOk="0">
                  <a:moveTo>
                    <a:pt x="0" y="109163"/>
                  </a:moveTo>
                  <a:lnTo>
                    <a:pt x="115227" y="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6" name="Полилиния: фигура 25">
              <a:extLst>
                <a:ext uri="{FF2B5EF4-FFF2-40B4-BE49-F238E27FC236}">
                  <a16:creationId xmlns:a16="http://schemas.microsoft.com/office/drawing/2014/main" id="{B3BB710D-D7C7-6F44-D9CF-229810F48F0A}"/>
                </a:ext>
              </a:extLst>
            </p:cNvPr>
            <p:cNvSpPr/>
            <p:nvPr/>
          </p:nvSpPr>
          <p:spPr bwMode="auto">
            <a:xfrm>
              <a:off x="3696690" y="1891089"/>
              <a:ext cx="115226" cy="109163"/>
            </a:xfrm>
            <a:custGeom>
              <a:avLst/>
              <a:gdLst>
                <a:gd name="connsiteX0" fmla="*/ 115227 w 115226"/>
                <a:gd name="connsiteY0" fmla="*/ 109163 h 109163"/>
                <a:gd name="connsiteX1" fmla="*/ 0 w 115226"/>
                <a:gd name="connsiteY1" fmla="*/ 0 h 109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226" h="109163" extrusionOk="0">
                  <a:moveTo>
                    <a:pt x="115227" y="109163"/>
                  </a:moveTo>
                  <a:lnTo>
                    <a:pt x="0" y="0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C0B3B223-F3E6-BD64-2220-218FDE5055DD}"/>
                </a:ext>
              </a:extLst>
            </p:cNvPr>
            <p:cNvSpPr/>
            <p:nvPr/>
          </p:nvSpPr>
          <p:spPr bwMode="auto">
            <a:xfrm>
              <a:off x="3696690" y="1581801"/>
              <a:ext cx="127359" cy="133423"/>
            </a:xfrm>
            <a:custGeom>
              <a:avLst/>
              <a:gdLst>
                <a:gd name="connsiteX0" fmla="*/ 63677 w 127359"/>
                <a:gd name="connsiteY0" fmla="*/ 133424 h 133423"/>
                <a:gd name="connsiteX1" fmla="*/ 127360 w 127359"/>
                <a:gd name="connsiteY1" fmla="*/ 66712 h 133423"/>
                <a:gd name="connsiteX2" fmla="*/ 63677 w 127359"/>
                <a:gd name="connsiteY2" fmla="*/ 0 h 133423"/>
                <a:gd name="connsiteX3" fmla="*/ 0 w 127359"/>
                <a:gd name="connsiteY3" fmla="*/ 66712 h 133423"/>
                <a:gd name="connsiteX4" fmla="*/ 63677 w 127359"/>
                <a:gd name="connsiteY4" fmla="*/ 133424 h 133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359" h="133423" extrusionOk="0">
                  <a:moveTo>
                    <a:pt x="63677" y="133424"/>
                  </a:moveTo>
                  <a:cubicBezTo>
                    <a:pt x="98847" y="133424"/>
                    <a:pt x="127360" y="103556"/>
                    <a:pt x="127360" y="66712"/>
                  </a:cubicBezTo>
                  <a:cubicBezTo>
                    <a:pt x="127360" y="29867"/>
                    <a:pt x="98847" y="0"/>
                    <a:pt x="63677" y="0"/>
                  </a:cubicBezTo>
                  <a:cubicBezTo>
                    <a:pt x="28513" y="0"/>
                    <a:pt x="0" y="29867"/>
                    <a:pt x="0" y="66712"/>
                  </a:cubicBezTo>
                  <a:cubicBezTo>
                    <a:pt x="0" y="103556"/>
                    <a:pt x="28513" y="133424"/>
                    <a:pt x="63677" y="133424"/>
                  </a:cubicBezTo>
                  <a:close/>
                </a:path>
              </a:pathLst>
            </a:custGeom>
            <a:solidFill>
              <a:srgbClr val="4BD0A0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8" name="Полилиния: фигура 27">
              <a:extLst>
                <a:ext uri="{FF2B5EF4-FFF2-40B4-BE49-F238E27FC236}">
                  <a16:creationId xmlns:a16="http://schemas.microsoft.com/office/drawing/2014/main" id="{017330C2-27AF-E7BE-84F9-550BBC19F575}"/>
                </a:ext>
              </a:extLst>
            </p:cNvPr>
            <p:cNvSpPr/>
            <p:nvPr/>
          </p:nvSpPr>
          <p:spPr bwMode="auto">
            <a:xfrm>
              <a:off x="3253974" y="1794059"/>
              <a:ext cx="212262" cy="206199"/>
            </a:xfrm>
            <a:custGeom>
              <a:avLst/>
              <a:gdLst>
                <a:gd name="connsiteX0" fmla="*/ 106129 w 212262"/>
                <a:gd name="connsiteY0" fmla="*/ 206199 h 206199"/>
                <a:gd name="connsiteX1" fmla="*/ 212263 w 212262"/>
                <a:gd name="connsiteY1" fmla="*/ 103100 h 206199"/>
                <a:gd name="connsiteX2" fmla="*/ 106129 w 212262"/>
                <a:gd name="connsiteY2" fmla="*/ 0 h 206199"/>
                <a:gd name="connsiteX3" fmla="*/ 0 w 212262"/>
                <a:gd name="connsiteY3" fmla="*/ 103100 h 206199"/>
                <a:gd name="connsiteX4" fmla="*/ 106129 w 212262"/>
                <a:gd name="connsiteY4" fmla="*/ 206199 h 206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262" h="206199" extrusionOk="0">
                  <a:moveTo>
                    <a:pt x="106129" y="206199"/>
                  </a:moveTo>
                  <a:cubicBezTo>
                    <a:pt x="164745" y="206199"/>
                    <a:pt x="212263" y="160036"/>
                    <a:pt x="212263" y="103100"/>
                  </a:cubicBezTo>
                  <a:cubicBezTo>
                    <a:pt x="212263" y="46158"/>
                    <a:pt x="164745" y="0"/>
                    <a:pt x="106129" y="0"/>
                  </a:cubicBezTo>
                  <a:cubicBezTo>
                    <a:pt x="47518" y="0"/>
                    <a:pt x="0" y="46158"/>
                    <a:pt x="0" y="103100"/>
                  </a:cubicBezTo>
                  <a:cubicBezTo>
                    <a:pt x="0" y="160036"/>
                    <a:pt x="47518" y="206199"/>
                    <a:pt x="106129" y="206199"/>
                  </a:cubicBezTo>
                  <a:close/>
                </a:path>
              </a:pathLst>
            </a:custGeom>
            <a:solidFill>
              <a:srgbClr val="4BD0A0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9" name="Полилиния: фигура 28">
              <a:extLst>
                <a:ext uri="{FF2B5EF4-FFF2-40B4-BE49-F238E27FC236}">
                  <a16:creationId xmlns:a16="http://schemas.microsoft.com/office/drawing/2014/main" id="{0EBA3A00-6959-CA3B-186B-21D1ACB6CD39}"/>
                </a:ext>
              </a:extLst>
            </p:cNvPr>
            <p:cNvSpPr/>
            <p:nvPr/>
          </p:nvSpPr>
          <p:spPr bwMode="auto">
            <a:xfrm>
              <a:off x="3604532" y="1290846"/>
              <a:ext cx="207128" cy="104653"/>
            </a:xfrm>
            <a:custGeom>
              <a:avLst/>
              <a:gdLst>
                <a:gd name="connsiteX0" fmla="*/ 207128 w 207128"/>
                <a:gd name="connsiteY0" fmla="*/ 104653 h 104653"/>
                <a:gd name="connsiteX1" fmla="*/ 111920 w 207128"/>
                <a:gd name="connsiteY1" fmla="*/ 0 h 104653"/>
                <a:gd name="connsiteX2" fmla="*/ 0 w 207128"/>
                <a:gd name="connsiteY2" fmla="*/ 86546 h 104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128" h="104653" extrusionOk="0">
                  <a:moveTo>
                    <a:pt x="207128" y="104653"/>
                  </a:moveTo>
                  <a:lnTo>
                    <a:pt x="111920" y="0"/>
                  </a:lnTo>
                  <a:lnTo>
                    <a:pt x="0" y="86546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52E39DB1-112F-3530-FA6E-F74D6327E703}"/>
                </a:ext>
              </a:extLst>
            </p:cNvPr>
            <p:cNvSpPr/>
            <p:nvPr/>
          </p:nvSpPr>
          <p:spPr bwMode="auto">
            <a:xfrm>
              <a:off x="3320680" y="1290694"/>
              <a:ext cx="394201" cy="400265"/>
            </a:xfrm>
            <a:custGeom>
              <a:avLst/>
              <a:gdLst>
                <a:gd name="connsiteX0" fmla="*/ 394202 w 394201"/>
                <a:gd name="connsiteY0" fmla="*/ 0 h 400265"/>
                <a:gd name="connsiteX1" fmla="*/ 0 w 394201"/>
                <a:gd name="connsiteY1" fmla="*/ 400265 h 400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4201" h="400265" extrusionOk="0">
                  <a:moveTo>
                    <a:pt x="394202" y="0"/>
                  </a:moveTo>
                  <a:cubicBezTo>
                    <a:pt x="394202" y="220999"/>
                    <a:pt x="217654" y="400265"/>
                    <a:pt x="0" y="400265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D81A2A88-051F-34ED-9978-496CEEFA13F0}"/>
                </a:ext>
              </a:extLst>
            </p:cNvPr>
            <p:cNvSpPr/>
            <p:nvPr/>
          </p:nvSpPr>
          <p:spPr bwMode="auto">
            <a:xfrm>
              <a:off x="3296425" y="947168"/>
              <a:ext cx="503364" cy="216166"/>
            </a:xfrm>
            <a:custGeom>
              <a:avLst/>
              <a:gdLst>
                <a:gd name="connsiteX0" fmla="*/ 148019 w 503364"/>
                <a:gd name="connsiteY0" fmla="*/ 100939 h 216166"/>
                <a:gd name="connsiteX1" fmla="*/ 149625 w 503364"/>
                <a:gd name="connsiteY1" fmla="*/ 76375 h 216166"/>
                <a:gd name="connsiteX2" fmla="*/ 275788 w 503364"/>
                <a:gd name="connsiteY2" fmla="*/ 3536 h 216166"/>
                <a:gd name="connsiteX3" fmla="*/ 352139 w 503364"/>
                <a:gd name="connsiteY3" fmla="*/ 100939 h 216166"/>
                <a:gd name="connsiteX4" fmla="*/ 482365 w 503364"/>
                <a:gd name="connsiteY4" fmla="*/ 100939 h 216166"/>
                <a:gd name="connsiteX5" fmla="*/ 503365 w 503364"/>
                <a:gd name="connsiteY5" fmla="*/ 121939 h 216166"/>
                <a:gd name="connsiteX6" fmla="*/ 503365 w 503364"/>
                <a:gd name="connsiteY6" fmla="*/ 195166 h 216166"/>
                <a:gd name="connsiteX7" fmla="*/ 482365 w 503364"/>
                <a:gd name="connsiteY7" fmla="*/ 216166 h 216166"/>
                <a:gd name="connsiteX8" fmla="*/ 21000 w 503364"/>
                <a:gd name="connsiteY8" fmla="*/ 216166 h 216166"/>
                <a:gd name="connsiteX9" fmla="*/ 0 w 503364"/>
                <a:gd name="connsiteY9" fmla="*/ 195166 h 216166"/>
                <a:gd name="connsiteX10" fmla="*/ 0 w 503364"/>
                <a:gd name="connsiteY10" fmla="*/ 121939 h 216166"/>
                <a:gd name="connsiteX11" fmla="*/ 21000 w 503364"/>
                <a:gd name="connsiteY11" fmla="*/ 100939 h 216166"/>
                <a:gd name="connsiteX12" fmla="*/ 148019 w 503364"/>
                <a:gd name="connsiteY12" fmla="*/ 100939 h 21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3364" h="216166" extrusionOk="0">
                  <a:moveTo>
                    <a:pt x="148019" y="100939"/>
                  </a:moveTo>
                  <a:cubicBezTo>
                    <a:pt x="146743" y="93726"/>
                    <a:pt x="147163" y="85573"/>
                    <a:pt x="149625" y="76375"/>
                  </a:cubicBezTo>
                  <a:cubicBezTo>
                    <a:pt x="164351" y="21423"/>
                    <a:pt x="220836" y="-11190"/>
                    <a:pt x="275788" y="3536"/>
                  </a:cubicBezTo>
                  <a:cubicBezTo>
                    <a:pt x="321122" y="15685"/>
                    <a:pt x="351251" y="56257"/>
                    <a:pt x="352139" y="100939"/>
                  </a:cubicBezTo>
                  <a:lnTo>
                    <a:pt x="482365" y="100939"/>
                  </a:lnTo>
                  <a:cubicBezTo>
                    <a:pt x="493962" y="100939"/>
                    <a:pt x="503365" y="110342"/>
                    <a:pt x="503365" y="121939"/>
                  </a:cubicBezTo>
                  <a:lnTo>
                    <a:pt x="503365" y="195166"/>
                  </a:lnTo>
                  <a:cubicBezTo>
                    <a:pt x="503365" y="206764"/>
                    <a:pt x="493962" y="216166"/>
                    <a:pt x="482365" y="216166"/>
                  </a:cubicBezTo>
                  <a:lnTo>
                    <a:pt x="21000" y="216166"/>
                  </a:lnTo>
                  <a:cubicBezTo>
                    <a:pt x="9403" y="216166"/>
                    <a:pt x="0" y="206764"/>
                    <a:pt x="0" y="195166"/>
                  </a:cubicBezTo>
                  <a:lnTo>
                    <a:pt x="0" y="121939"/>
                  </a:lnTo>
                  <a:cubicBezTo>
                    <a:pt x="0" y="110342"/>
                    <a:pt x="9403" y="100939"/>
                    <a:pt x="21000" y="100939"/>
                  </a:cubicBezTo>
                  <a:lnTo>
                    <a:pt x="148019" y="100939"/>
                  </a:lnTo>
                  <a:close/>
                </a:path>
              </a:pathLst>
            </a:custGeom>
            <a:solidFill>
              <a:srgbClr val="4BD0A0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2" name="Полилиния: фигура 31">
              <a:extLst>
                <a:ext uri="{FF2B5EF4-FFF2-40B4-BE49-F238E27FC236}">
                  <a16:creationId xmlns:a16="http://schemas.microsoft.com/office/drawing/2014/main" id="{A7ED95D8-50B4-ED87-155C-40DAC7C80B2B}"/>
                </a:ext>
              </a:extLst>
            </p:cNvPr>
            <p:cNvSpPr/>
            <p:nvPr/>
          </p:nvSpPr>
          <p:spPr bwMode="auto">
            <a:xfrm>
              <a:off x="3509572" y="985241"/>
              <a:ext cx="71301" cy="71301"/>
            </a:xfrm>
            <a:custGeom>
              <a:avLst/>
              <a:gdLst>
                <a:gd name="connsiteX0" fmla="*/ 71301 w 71301"/>
                <a:gd name="connsiteY0" fmla="*/ 35651 h 71301"/>
                <a:gd name="connsiteX1" fmla="*/ 35651 w 71301"/>
                <a:gd name="connsiteY1" fmla="*/ 71301 h 71301"/>
                <a:gd name="connsiteX2" fmla="*/ 0 w 71301"/>
                <a:gd name="connsiteY2" fmla="*/ 35651 h 71301"/>
                <a:gd name="connsiteX3" fmla="*/ 35651 w 71301"/>
                <a:gd name="connsiteY3" fmla="*/ 0 h 71301"/>
                <a:gd name="connsiteX4" fmla="*/ 71301 w 71301"/>
                <a:gd name="connsiteY4" fmla="*/ 35651 h 71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301" h="71301" extrusionOk="0">
                  <a:moveTo>
                    <a:pt x="71301" y="35651"/>
                  </a:moveTo>
                  <a:cubicBezTo>
                    <a:pt x="71301" y="55340"/>
                    <a:pt x="55340" y="71301"/>
                    <a:pt x="35651" y="71301"/>
                  </a:cubicBezTo>
                  <a:cubicBezTo>
                    <a:pt x="15961" y="71301"/>
                    <a:pt x="0" y="55340"/>
                    <a:pt x="0" y="35651"/>
                  </a:cubicBezTo>
                  <a:cubicBezTo>
                    <a:pt x="0" y="15961"/>
                    <a:pt x="15961" y="0"/>
                    <a:pt x="35651" y="0"/>
                  </a:cubicBezTo>
                  <a:cubicBezTo>
                    <a:pt x="55340" y="0"/>
                    <a:pt x="71301" y="15961"/>
                    <a:pt x="71301" y="3565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621981" name="Google Shape;1221;p126"/>
          <p:cNvSpPr/>
          <p:nvPr/>
        </p:nvSpPr>
        <p:spPr bwMode="auto">
          <a:xfrm>
            <a:off x="331200" y="266400"/>
            <a:ext cx="7052220" cy="440120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ru-RU" sz="2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Рекомендации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1598EA-D165-F38D-C726-C9CE4913F3F4}"/>
              </a:ext>
            </a:extLst>
          </p:cNvPr>
          <p:cNvSpPr txBox="1"/>
          <p:nvPr/>
        </p:nvSpPr>
        <p:spPr bwMode="auto">
          <a:xfrm>
            <a:off x="523863" y="1340256"/>
            <a:ext cx="5958428" cy="920317"/>
          </a:xfrm>
          <a:prstGeom prst="rect">
            <a:avLst/>
          </a:prstGeom>
          <a:noFill/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L="171450" marR="0" lvl="0" indent="-171450" algn="l">
              <a:lnSpc>
                <a:spcPts val="11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Привязать KPI менеджеров к новым метрикам </a:t>
            </a:r>
          </a:p>
          <a:p>
            <a:pPr marL="171450" marR="0" lvl="0" indent="-171450" algn="l">
              <a:lnSpc>
                <a:spcPts val="11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Ежемесячный аудит записей звонков и карточек сделок</a:t>
            </a:r>
          </a:p>
          <a:p>
            <a:pPr marL="171450" marR="0" lvl="0" indent="-171450" algn="l">
              <a:lnSpc>
                <a:spcPts val="11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Актуализация прайс-листа в CRM на регулярной основе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C08DF4-6AE5-8F6C-BEEB-43D53D6AF313}"/>
              </a:ext>
            </a:extLst>
          </p:cNvPr>
          <p:cNvSpPr txBox="1"/>
          <p:nvPr/>
        </p:nvSpPr>
        <p:spPr bwMode="auto">
          <a:xfrm>
            <a:off x="331200" y="830485"/>
            <a:ext cx="6343757" cy="279435"/>
          </a:xfrm>
          <a:prstGeom prst="rect">
            <a:avLst/>
          </a:prstGeom>
          <a:noFill/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R="0" lvl="0" algn="l">
              <a:lnSpc>
                <a:spcPct val="1000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ts val="1900"/>
              <a:defRPr/>
            </a:pPr>
            <a:r>
              <a:rPr lang="ru-RU" sz="1600" u="sng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Закрепить результат:</a:t>
            </a:r>
            <a:endParaRPr u="sng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92EC0F-D039-4D53-EBB6-C44798CF0367}"/>
              </a:ext>
            </a:extLst>
          </p:cNvPr>
          <p:cNvSpPr txBox="1"/>
          <p:nvPr/>
        </p:nvSpPr>
        <p:spPr bwMode="auto">
          <a:xfrm>
            <a:off x="331199" y="2556208"/>
            <a:ext cx="6343757" cy="279435"/>
          </a:xfrm>
          <a:prstGeom prst="rect">
            <a:avLst/>
          </a:prstGeom>
          <a:noFill/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R="0" lvl="0" algn="l">
              <a:lnSpc>
                <a:spcPct val="1000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ts val="1900"/>
              <a:defRPr/>
            </a:pPr>
            <a:r>
              <a:rPr lang="ru-RU" sz="1600" u="sng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Развитие:</a:t>
            </a:r>
            <a:endParaRPr u="sng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F5F80F-6DFF-E9E0-E710-3E3338CC3074}"/>
              </a:ext>
            </a:extLst>
          </p:cNvPr>
          <p:cNvSpPr txBox="1"/>
          <p:nvPr/>
        </p:nvSpPr>
        <p:spPr bwMode="auto">
          <a:xfrm>
            <a:off x="531555" y="3065979"/>
            <a:ext cx="5958428" cy="920317"/>
          </a:xfrm>
          <a:prstGeom prst="rect">
            <a:avLst/>
          </a:prstGeom>
          <a:noFill/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spAutoFit/>
          </a:bodyPr>
          <a:lstStyle/>
          <a:p>
            <a:pPr marL="171450" marR="0" lvl="0" indent="-171450" algn="l">
              <a:lnSpc>
                <a:spcPts val="11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Стимулировать клиентов к заполнению полного шаблона заявки</a:t>
            </a:r>
          </a:p>
          <a:p>
            <a:pPr marL="171450" marR="0" lvl="0" indent="-171450" algn="l">
              <a:lnSpc>
                <a:spcPts val="11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Направить свободное время менеджеров на реактивацию старых клиентов</a:t>
            </a:r>
          </a:p>
          <a:p>
            <a:pPr marL="171450" marR="0" lvl="0" indent="-171450" algn="l">
              <a:lnSpc>
                <a:spcPts val="1100"/>
              </a:lnSpc>
              <a:spcBef>
                <a:spcPts val="189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Интегрировать CRM со складским учётом</a:t>
            </a:r>
          </a:p>
        </p:txBody>
      </p:sp>
      <p:sp>
        <p:nvSpPr>
          <p:cNvPr id="33" name="Google Shape;1222;p126">
            <a:extLst>
              <a:ext uri="{FF2B5EF4-FFF2-40B4-BE49-F238E27FC236}">
                <a16:creationId xmlns:a16="http://schemas.microsoft.com/office/drawing/2014/main" id="{7B2B976F-5392-A454-CFDE-0AB608DE19AF}"/>
              </a:ext>
            </a:extLst>
          </p:cNvPr>
          <p:cNvSpPr/>
          <p:nvPr/>
        </p:nvSpPr>
        <p:spPr bwMode="auto">
          <a:xfrm>
            <a:off x="6557143" y="2556208"/>
            <a:ext cx="2232299" cy="2232299"/>
          </a:xfrm>
          <a:prstGeom prst="ellipse">
            <a:avLst/>
          </a:prstGeom>
          <a:noFill/>
          <a:ln w="9525" cap="flat" cmpd="sng">
            <a:solidFill>
              <a:srgbClr val="C4C4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4" tIns="45724" rIns="45724" bIns="45724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Open Sans"/>
              <a:cs typeface="Open Sans"/>
            </a:endParaRP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FD4FF90C-0A76-52D5-2526-7D6C3F57EB56}"/>
              </a:ext>
            </a:extLst>
          </p:cNvPr>
          <p:cNvGrpSpPr/>
          <p:nvPr/>
        </p:nvGrpSpPr>
        <p:grpSpPr bwMode="auto">
          <a:xfrm>
            <a:off x="7304098" y="3065979"/>
            <a:ext cx="738388" cy="1212756"/>
            <a:chOff x="3157499" y="920994"/>
            <a:chExt cx="738388" cy="1212756"/>
          </a:xfrm>
        </p:grpSpPr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9C9E5B92-EB40-1A91-A2A8-CD1CCA054B1D}"/>
                </a:ext>
              </a:extLst>
            </p:cNvPr>
            <p:cNvSpPr/>
            <p:nvPr/>
          </p:nvSpPr>
          <p:spPr bwMode="auto">
            <a:xfrm>
              <a:off x="3372750" y="2039250"/>
              <a:ext cx="309750" cy="94500"/>
            </a:xfrm>
            <a:custGeom>
              <a:avLst/>
              <a:gdLst>
                <a:gd name="connsiteX0" fmla="*/ 0 w 309750"/>
                <a:gd name="connsiteY0" fmla="*/ 42074 h 94500"/>
                <a:gd name="connsiteX1" fmla="*/ 42074 w 309750"/>
                <a:gd name="connsiteY1" fmla="*/ 0 h 94500"/>
                <a:gd name="connsiteX2" fmla="*/ 267682 w 309750"/>
                <a:gd name="connsiteY2" fmla="*/ 0 h 94500"/>
                <a:gd name="connsiteX3" fmla="*/ 309750 w 309750"/>
                <a:gd name="connsiteY3" fmla="*/ 42068 h 94500"/>
                <a:gd name="connsiteX4" fmla="*/ 275683 w 309750"/>
                <a:gd name="connsiteY4" fmla="*/ 82966 h 94500"/>
                <a:gd name="connsiteX5" fmla="*/ 34067 w 309750"/>
                <a:gd name="connsiteY5" fmla="*/ 82982 h 94500"/>
                <a:gd name="connsiteX6" fmla="*/ 0 w 309750"/>
                <a:gd name="connsiteY6" fmla="*/ 42074 h 9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750" h="94500" extrusionOk="0">
                  <a:moveTo>
                    <a:pt x="0" y="42074"/>
                  </a:moveTo>
                  <a:cubicBezTo>
                    <a:pt x="0" y="18837"/>
                    <a:pt x="18837" y="0"/>
                    <a:pt x="42074" y="0"/>
                  </a:cubicBezTo>
                  <a:lnTo>
                    <a:pt x="267682" y="0"/>
                  </a:lnTo>
                  <a:cubicBezTo>
                    <a:pt x="290913" y="0"/>
                    <a:pt x="309750" y="18837"/>
                    <a:pt x="309750" y="42068"/>
                  </a:cubicBezTo>
                  <a:cubicBezTo>
                    <a:pt x="309750" y="62186"/>
                    <a:pt x="295512" y="79579"/>
                    <a:pt x="275683" y="82966"/>
                  </a:cubicBezTo>
                  <a:cubicBezTo>
                    <a:pt x="184821" y="98485"/>
                    <a:pt x="122876" y="98201"/>
                    <a:pt x="34067" y="82982"/>
                  </a:cubicBezTo>
                  <a:cubicBezTo>
                    <a:pt x="14238" y="79585"/>
                    <a:pt x="0" y="62186"/>
                    <a:pt x="0" y="42074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6" name="Полилиния: фигура 35">
              <a:extLst>
                <a:ext uri="{FF2B5EF4-FFF2-40B4-BE49-F238E27FC236}">
                  <a16:creationId xmlns:a16="http://schemas.microsoft.com/office/drawing/2014/main" id="{E08E42D2-53F3-7945-89A1-04CFA2172950}"/>
                </a:ext>
              </a:extLst>
            </p:cNvPr>
            <p:cNvSpPr/>
            <p:nvPr/>
          </p:nvSpPr>
          <p:spPr bwMode="auto">
            <a:xfrm>
              <a:off x="3357000" y="1981500"/>
              <a:ext cx="341250" cy="94500"/>
            </a:xfrm>
            <a:custGeom>
              <a:avLst/>
              <a:gdLst>
                <a:gd name="connsiteX0" fmla="*/ 0 w 341250"/>
                <a:gd name="connsiteY0" fmla="*/ 41732 h 94500"/>
                <a:gd name="connsiteX1" fmla="*/ 41732 w 341250"/>
                <a:gd name="connsiteY1" fmla="*/ 0 h 94500"/>
                <a:gd name="connsiteX2" fmla="*/ 299518 w 341250"/>
                <a:gd name="connsiteY2" fmla="*/ 0 h 94500"/>
                <a:gd name="connsiteX3" fmla="*/ 341250 w 341250"/>
                <a:gd name="connsiteY3" fmla="*/ 41732 h 94500"/>
                <a:gd name="connsiteX4" fmla="*/ 306747 w 341250"/>
                <a:gd name="connsiteY4" fmla="*/ 82493 h 94500"/>
                <a:gd name="connsiteX5" fmla="*/ 34487 w 341250"/>
                <a:gd name="connsiteY5" fmla="*/ 82504 h 94500"/>
                <a:gd name="connsiteX6" fmla="*/ 0 w 341250"/>
                <a:gd name="connsiteY6" fmla="*/ 41732 h 9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1250" h="94500" extrusionOk="0">
                  <a:moveTo>
                    <a:pt x="0" y="41732"/>
                  </a:moveTo>
                  <a:cubicBezTo>
                    <a:pt x="0" y="18685"/>
                    <a:pt x="18685" y="0"/>
                    <a:pt x="41732" y="0"/>
                  </a:cubicBezTo>
                  <a:lnTo>
                    <a:pt x="299518" y="0"/>
                  </a:lnTo>
                  <a:cubicBezTo>
                    <a:pt x="322565" y="0"/>
                    <a:pt x="341250" y="18685"/>
                    <a:pt x="341250" y="41732"/>
                  </a:cubicBezTo>
                  <a:cubicBezTo>
                    <a:pt x="341250" y="61961"/>
                    <a:pt x="326734" y="79354"/>
                    <a:pt x="306747" y="82493"/>
                  </a:cubicBezTo>
                  <a:cubicBezTo>
                    <a:pt x="203947" y="98653"/>
                    <a:pt x="134951" y="98348"/>
                    <a:pt x="34487" y="82504"/>
                  </a:cubicBezTo>
                  <a:cubicBezTo>
                    <a:pt x="14506" y="79354"/>
                    <a:pt x="0" y="61961"/>
                    <a:pt x="0" y="4173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7" name="Полилиния: фигура 36">
              <a:extLst>
                <a:ext uri="{FF2B5EF4-FFF2-40B4-BE49-F238E27FC236}">
                  <a16:creationId xmlns:a16="http://schemas.microsoft.com/office/drawing/2014/main" id="{2F1F3D96-83AC-90B6-B0EC-F8E461A4E95E}"/>
                </a:ext>
              </a:extLst>
            </p:cNvPr>
            <p:cNvSpPr/>
            <p:nvPr/>
          </p:nvSpPr>
          <p:spPr bwMode="auto">
            <a:xfrm>
              <a:off x="3357000" y="1918500"/>
              <a:ext cx="341250" cy="94500"/>
            </a:xfrm>
            <a:custGeom>
              <a:avLst/>
              <a:gdLst>
                <a:gd name="connsiteX0" fmla="*/ 0 w 341250"/>
                <a:gd name="connsiteY0" fmla="*/ 41732 h 94500"/>
                <a:gd name="connsiteX1" fmla="*/ 41732 w 341250"/>
                <a:gd name="connsiteY1" fmla="*/ 0 h 94500"/>
                <a:gd name="connsiteX2" fmla="*/ 299518 w 341250"/>
                <a:gd name="connsiteY2" fmla="*/ 0 h 94500"/>
                <a:gd name="connsiteX3" fmla="*/ 341250 w 341250"/>
                <a:gd name="connsiteY3" fmla="*/ 41732 h 94500"/>
                <a:gd name="connsiteX4" fmla="*/ 306747 w 341250"/>
                <a:gd name="connsiteY4" fmla="*/ 82493 h 94500"/>
                <a:gd name="connsiteX5" fmla="*/ 34487 w 341250"/>
                <a:gd name="connsiteY5" fmla="*/ 82504 h 94500"/>
                <a:gd name="connsiteX6" fmla="*/ 0 w 341250"/>
                <a:gd name="connsiteY6" fmla="*/ 41732 h 9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1250" h="94500" extrusionOk="0">
                  <a:moveTo>
                    <a:pt x="0" y="41732"/>
                  </a:moveTo>
                  <a:cubicBezTo>
                    <a:pt x="0" y="18685"/>
                    <a:pt x="18685" y="0"/>
                    <a:pt x="41732" y="0"/>
                  </a:cubicBezTo>
                  <a:lnTo>
                    <a:pt x="299518" y="0"/>
                  </a:lnTo>
                  <a:cubicBezTo>
                    <a:pt x="322565" y="0"/>
                    <a:pt x="341250" y="18685"/>
                    <a:pt x="341250" y="41732"/>
                  </a:cubicBezTo>
                  <a:cubicBezTo>
                    <a:pt x="341250" y="61961"/>
                    <a:pt x="326734" y="79354"/>
                    <a:pt x="306747" y="82493"/>
                  </a:cubicBezTo>
                  <a:cubicBezTo>
                    <a:pt x="203947" y="98653"/>
                    <a:pt x="134951" y="98348"/>
                    <a:pt x="34487" y="82504"/>
                  </a:cubicBezTo>
                  <a:cubicBezTo>
                    <a:pt x="14506" y="79354"/>
                    <a:pt x="0" y="61961"/>
                    <a:pt x="0" y="4173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8" name="Полилиния: фигура 37">
              <a:extLst>
                <a:ext uri="{FF2B5EF4-FFF2-40B4-BE49-F238E27FC236}">
                  <a16:creationId xmlns:a16="http://schemas.microsoft.com/office/drawing/2014/main" id="{5150BA04-1123-4F4D-71DB-D0D68B7997AD}"/>
                </a:ext>
              </a:extLst>
            </p:cNvPr>
            <p:cNvSpPr/>
            <p:nvPr/>
          </p:nvSpPr>
          <p:spPr bwMode="auto">
            <a:xfrm>
              <a:off x="3359625" y="1926375"/>
              <a:ext cx="333375" cy="33142"/>
            </a:xfrm>
            <a:custGeom>
              <a:avLst/>
              <a:gdLst>
                <a:gd name="connsiteX0" fmla="*/ 333375 w 333375"/>
                <a:gd name="connsiteY0" fmla="*/ 15750 h 33142"/>
                <a:gd name="connsiteX1" fmla="*/ 0 w 333375"/>
                <a:gd name="connsiteY1" fmla="*/ 15750 h 33142"/>
                <a:gd name="connsiteX2" fmla="*/ 7875 w 333375"/>
                <a:gd name="connsiteY2" fmla="*/ 2625 h 33142"/>
                <a:gd name="connsiteX3" fmla="*/ 328125 w 333375"/>
                <a:gd name="connsiteY3" fmla="*/ 0 h 33142"/>
                <a:gd name="connsiteX4" fmla="*/ 333375 w 333375"/>
                <a:gd name="connsiteY4" fmla="*/ 15750 h 3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375" h="33142" extrusionOk="0">
                  <a:moveTo>
                    <a:pt x="333375" y="15750"/>
                  </a:moveTo>
                  <a:cubicBezTo>
                    <a:pt x="320250" y="28875"/>
                    <a:pt x="128625" y="47250"/>
                    <a:pt x="0" y="15750"/>
                  </a:cubicBezTo>
                  <a:lnTo>
                    <a:pt x="7875" y="2625"/>
                  </a:lnTo>
                  <a:cubicBezTo>
                    <a:pt x="102958" y="18816"/>
                    <a:pt x="285716" y="25200"/>
                    <a:pt x="328125" y="0"/>
                  </a:cubicBezTo>
                  <a:lnTo>
                    <a:pt x="333375" y="15750"/>
                  </a:lnTo>
                  <a:close/>
                </a:path>
              </a:pathLst>
            </a:custGeom>
            <a:solidFill>
              <a:srgbClr val="000000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95280657-BFFA-9BAA-288A-89332E83D71E}"/>
                </a:ext>
              </a:extLst>
            </p:cNvPr>
            <p:cNvSpPr/>
            <p:nvPr/>
          </p:nvSpPr>
          <p:spPr bwMode="auto">
            <a:xfrm>
              <a:off x="3157499" y="1107242"/>
              <a:ext cx="738388" cy="837180"/>
            </a:xfrm>
            <a:custGeom>
              <a:avLst/>
              <a:gdLst>
                <a:gd name="connsiteX0" fmla="*/ 37701 w 738388"/>
                <a:gd name="connsiteY0" fmla="*/ 528330 h 837180"/>
                <a:gd name="connsiteX1" fmla="*/ 141698 w 738388"/>
                <a:gd name="connsiteY1" fmla="*/ 656414 h 837180"/>
                <a:gd name="connsiteX2" fmla="*/ 173235 w 738388"/>
                <a:gd name="connsiteY2" fmla="*/ 695212 h 837180"/>
                <a:gd name="connsiteX3" fmla="*/ 190644 w 738388"/>
                <a:gd name="connsiteY3" fmla="*/ 801509 h 837180"/>
                <a:gd name="connsiteX4" fmla="*/ 208882 w 738388"/>
                <a:gd name="connsiteY4" fmla="*/ 822094 h 837180"/>
                <a:gd name="connsiteX5" fmla="*/ 530922 w 738388"/>
                <a:gd name="connsiteY5" fmla="*/ 822047 h 837180"/>
                <a:gd name="connsiteX6" fmla="*/ 548746 w 738388"/>
                <a:gd name="connsiteY6" fmla="*/ 801456 h 837180"/>
                <a:gd name="connsiteX7" fmla="*/ 565383 w 738388"/>
                <a:gd name="connsiteY7" fmla="*/ 694960 h 837180"/>
                <a:gd name="connsiteX8" fmla="*/ 597230 w 738388"/>
                <a:gd name="connsiteY8" fmla="*/ 655994 h 837180"/>
                <a:gd name="connsiteX9" fmla="*/ 724007 w 738388"/>
                <a:gd name="connsiteY9" fmla="*/ 467682 h 837180"/>
                <a:gd name="connsiteX10" fmla="*/ 716641 w 738388"/>
                <a:gd name="connsiteY10" fmla="*/ 240793 h 837180"/>
                <a:gd name="connsiteX11" fmla="*/ 388311 w 738388"/>
                <a:gd name="connsiteY11" fmla="*/ 710 h 837180"/>
                <a:gd name="connsiteX12" fmla="*/ 23289 w 738388"/>
                <a:gd name="connsiteY12" fmla="*/ 237144 h 837180"/>
                <a:gd name="connsiteX13" fmla="*/ 6 w 738388"/>
                <a:gd name="connsiteY13" fmla="*/ 367706 h 837180"/>
                <a:gd name="connsiteX14" fmla="*/ 1061 w 738388"/>
                <a:gd name="connsiteY14" fmla="*/ 393878 h 837180"/>
                <a:gd name="connsiteX15" fmla="*/ 37701 w 738388"/>
                <a:gd name="connsiteY15" fmla="*/ 528330 h 837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38388" h="837180" extrusionOk="0">
                  <a:moveTo>
                    <a:pt x="37701" y="528330"/>
                  </a:moveTo>
                  <a:cubicBezTo>
                    <a:pt x="62239" y="578336"/>
                    <a:pt x="97797" y="622127"/>
                    <a:pt x="141698" y="656414"/>
                  </a:cubicBezTo>
                  <a:cubicBezTo>
                    <a:pt x="155017" y="666788"/>
                    <a:pt x="165806" y="680055"/>
                    <a:pt x="173235" y="695212"/>
                  </a:cubicBezTo>
                  <a:cubicBezTo>
                    <a:pt x="179461" y="707906"/>
                    <a:pt x="188024" y="766003"/>
                    <a:pt x="190644" y="801509"/>
                  </a:cubicBezTo>
                  <a:cubicBezTo>
                    <a:pt x="191394" y="811688"/>
                    <a:pt x="198813" y="820430"/>
                    <a:pt x="208882" y="822094"/>
                  </a:cubicBezTo>
                  <a:cubicBezTo>
                    <a:pt x="331853" y="842411"/>
                    <a:pt x="407931" y="842023"/>
                    <a:pt x="530922" y="822047"/>
                  </a:cubicBezTo>
                  <a:cubicBezTo>
                    <a:pt x="541023" y="820409"/>
                    <a:pt x="548452" y="811683"/>
                    <a:pt x="548746" y="801456"/>
                  </a:cubicBezTo>
                  <a:cubicBezTo>
                    <a:pt x="549618" y="771657"/>
                    <a:pt x="552915" y="712925"/>
                    <a:pt x="565383" y="694960"/>
                  </a:cubicBezTo>
                  <a:cubicBezTo>
                    <a:pt x="572907" y="679724"/>
                    <a:pt x="583795" y="666400"/>
                    <a:pt x="597230" y="655994"/>
                  </a:cubicBezTo>
                  <a:cubicBezTo>
                    <a:pt x="658214" y="608093"/>
                    <a:pt x="702571" y="542211"/>
                    <a:pt x="724007" y="467682"/>
                  </a:cubicBezTo>
                  <a:cubicBezTo>
                    <a:pt x="745437" y="393158"/>
                    <a:pt x="742865" y="313773"/>
                    <a:pt x="716641" y="240793"/>
                  </a:cubicBezTo>
                  <a:cubicBezTo>
                    <a:pt x="656786" y="97793"/>
                    <a:pt x="525714" y="9320"/>
                    <a:pt x="388311" y="710"/>
                  </a:cubicBezTo>
                  <a:cubicBezTo>
                    <a:pt x="251596" y="-7858"/>
                    <a:pt x="102186" y="60503"/>
                    <a:pt x="23289" y="237144"/>
                  </a:cubicBezTo>
                  <a:cubicBezTo>
                    <a:pt x="8007" y="277874"/>
                    <a:pt x="-246" y="321905"/>
                    <a:pt x="6" y="367706"/>
                  </a:cubicBezTo>
                  <a:cubicBezTo>
                    <a:pt x="6" y="367706"/>
                    <a:pt x="599" y="387767"/>
                    <a:pt x="1061" y="393878"/>
                  </a:cubicBezTo>
                  <a:cubicBezTo>
                    <a:pt x="4605" y="440540"/>
                    <a:pt x="17010" y="486178"/>
                    <a:pt x="37701" y="528330"/>
                  </a:cubicBezTo>
                  <a:close/>
                </a:path>
              </a:pathLst>
            </a:custGeom>
            <a:solidFill>
              <a:srgbClr val="FFFFFF"/>
            </a:solidFill>
            <a:ln w="63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0" name="Полилиния: фигура 39">
              <a:extLst>
                <a:ext uri="{FF2B5EF4-FFF2-40B4-BE49-F238E27FC236}">
                  <a16:creationId xmlns:a16="http://schemas.microsoft.com/office/drawing/2014/main" id="{A1B51E7E-A3C1-887E-233A-10BE84436F72}"/>
                </a:ext>
              </a:extLst>
            </p:cNvPr>
            <p:cNvSpPr/>
            <p:nvPr/>
          </p:nvSpPr>
          <p:spPr bwMode="auto">
            <a:xfrm>
              <a:off x="3607472" y="961203"/>
              <a:ext cx="47727" cy="83012"/>
            </a:xfrm>
            <a:custGeom>
              <a:avLst/>
              <a:gdLst>
                <a:gd name="connsiteX0" fmla="*/ 0 w 47727"/>
                <a:gd name="connsiteY0" fmla="*/ 83013 h 83012"/>
                <a:gd name="connsiteX1" fmla="*/ 47728 w 47727"/>
                <a:gd name="connsiteY1" fmla="*/ 0 h 8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727" h="83012" extrusionOk="0">
                  <a:moveTo>
                    <a:pt x="0" y="83013"/>
                  </a:moveTo>
                  <a:cubicBezTo>
                    <a:pt x="0" y="83013"/>
                    <a:pt x="6583" y="45596"/>
                    <a:pt x="47728" y="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1" name="Полилиния: фигура 40">
              <a:extLst>
                <a:ext uri="{FF2B5EF4-FFF2-40B4-BE49-F238E27FC236}">
                  <a16:creationId xmlns:a16="http://schemas.microsoft.com/office/drawing/2014/main" id="{89FDBCC4-4BE6-40D2-155A-5D754DDB47DF}"/>
                </a:ext>
              </a:extLst>
            </p:cNvPr>
            <p:cNvSpPr/>
            <p:nvPr/>
          </p:nvSpPr>
          <p:spPr bwMode="auto">
            <a:xfrm>
              <a:off x="3534735" y="920994"/>
              <a:ext cx="7159" cy="105729"/>
            </a:xfrm>
            <a:custGeom>
              <a:avLst/>
              <a:gdLst>
                <a:gd name="connsiteX0" fmla="*/ 7159 w 7159"/>
                <a:gd name="connsiteY0" fmla="*/ 105730 h 105729"/>
                <a:gd name="connsiteX1" fmla="*/ 4335 w 7159"/>
                <a:gd name="connsiteY1" fmla="*/ 0 h 105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59" h="105729" extrusionOk="0">
                  <a:moveTo>
                    <a:pt x="7159" y="105730"/>
                  </a:moveTo>
                  <a:cubicBezTo>
                    <a:pt x="7159" y="105730"/>
                    <a:pt x="-6858" y="55472"/>
                    <a:pt x="4335" y="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2" name="Полилиния: фигура 41">
              <a:extLst>
                <a:ext uri="{FF2B5EF4-FFF2-40B4-BE49-F238E27FC236}">
                  <a16:creationId xmlns:a16="http://schemas.microsoft.com/office/drawing/2014/main" id="{AAF7B806-C0FB-C8DF-D7EA-B577D63B2C66}"/>
                </a:ext>
              </a:extLst>
            </p:cNvPr>
            <p:cNvSpPr/>
            <p:nvPr/>
          </p:nvSpPr>
          <p:spPr bwMode="auto">
            <a:xfrm>
              <a:off x="3422294" y="957288"/>
              <a:ext cx="45281" cy="92132"/>
            </a:xfrm>
            <a:custGeom>
              <a:avLst/>
              <a:gdLst>
                <a:gd name="connsiteX0" fmla="*/ 45281 w 45281"/>
                <a:gd name="connsiteY0" fmla="*/ 92132 h 92132"/>
                <a:gd name="connsiteX1" fmla="*/ 0 w 45281"/>
                <a:gd name="connsiteY1" fmla="*/ 0 h 92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281" h="92132" extrusionOk="0">
                  <a:moveTo>
                    <a:pt x="45281" y="92132"/>
                  </a:moveTo>
                  <a:cubicBezTo>
                    <a:pt x="36099" y="47722"/>
                    <a:pt x="0" y="0"/>
                    <a:pt x="0" y="0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3" name="Полилиния: фигура 42">
              <a:extLst>
                <a:ext uri="{FF2B5EF4-FFF2-40B4-BE49-F238E27FC236}">
                  <a16:creationId xmlns:a16="http://schemas.microsoft.com/office/drawing/2014/main" id="{C929033F-956D-F4EA-3384-1DD6A5467CC9}"/>
                </a:ext>
              </a:extLst>
            </p:cNvPr>
            <p:cNvSpPr/>
            <p:nvPr/>
          </p:nvSpPr>
          <p:spPr bwMode="auto">
            <a:xfrm>
              <a:off x="3157688" y="1107264"/>
              <a:ext cx="737436" cy="839031"/>
            </a:xfrm>
            <a:custGeom>
              <a:avLst/>
              <a:gdLst>
                <a:gd name="connsiteX0" fmla="*/ 565383 w 737436"/>
                <a:gd name="connsiteY0" fmla="*/ 694943 h 839031"/>
                <a:gd name="connsiteX1" fmla="*/ 597230 w 737436"/>
                <a:gd name="connsiteY1" fmla="*/ 655977 h 839031"/>
                <a:gd name="connsiteX2" fmla="*/ 722810 w 737436"/>
                <a:gd name="connsiteY2" fmla="*/ 471739 h 839031"/>
                <a:gd name="connsiteX3" fmla="*/ 737436 w 737436"/>
                <a:gd name="connsiteY3" fmla="*/ 391424 h 839031"/>
                <a:gd name="connsiteX4" fmla="*/ 604779 w 737436"/>
                <a:gd name="connsiteY4" fmla="*/ 391424 h 839031"/>
                <a:gd name="connsiteX5" fmla="*/ 629155 w 737436"/>
                <a:gd name="connsiteY5" fmla="*/ 344022 h 839031"/>
                <a:gd name="connsiteX6" fmla="*/ 572061 w 737436"/>
                <a:gd name="connsiteY6" fmla="*/ 286235 h 839031"/>
                <a:gd name="connsiteX7" fmla="*/ 514968 w 737436"/>
                <a:gd name="connsiteY7" fmla="*/ 344022 h 839031"/>
                <a:gd name="connsiteX8" fmla="*/ 539343 w 737436"/>
                <a:gd name="connsiteY8" fmla="*/ 391424 h 839031"/>
                <a:gd name="connsiteX9" fmla="*/ 372561 w 737436"/>
                <a:gd name="connsiteY9" fmla="*/ 391424 h 839031"/>
                <a:gd name="connsiteX10" fmla="*/ 372561 w 737436"/>
                <a:gd name="connsiteY10" fmla="*/ 396296 h 839031"/>
                <a:gd name="connsiteX11" fmla="*/ 372561 w 737436"/>
                <a:gd name="connsiteY11" fmla="*/ 563493 h 839031"/>
                <a:gd name="connsiteX12" fmla="*/ 421313 w 737436"/>
                <a:gd name="connsiteY12" fmla="*/ 535568 h 839031"/>
                <a:gd name="connsiteX13" fmla="*/ 478407 w 737436"/>
                <a:gd name="connsiteY13" fmla="*/ 593360 h 839031"/>
                <a:gd name="connsiteX14" fmla="*/ 421313 w 737436"/>
                <a:gd name="connsiteY14" fmla="*/ 651147 h 839031"/>
                <a:gd name="connsiteX15" fmla="*/ 372561 w 737436"/>
                <a:gd name="connsiteY15" fmla="*/ 623228 h 839031"/>
                <a:gd name="connsiteX16" fmla="*/ 372561 w 737436"/>
                <a:gd name="connsiteY16" fmla="*/ 834860 h 839031"/>
                <a:gd name="connsiteX17" fmla="*/ 548436 w 737436"/>
                <a:gd name="connsiteY17" fmla="*/ 816485 h 839031"/>
                <a:gd name="connsiteX18" fmla="*/ 553791 w 737436"/>
                <a:gd name="connsiteY18" fmla="*/ 771719 h 839031"/>
                <a:gd name="connsiteX19" fmla="*/ 553791 w 737436"/>
                <a:gd name="connsiteY19" fmla="*/ 743915 h 839031"/>
                <a:gd name="connsiteX20" fmla="*/ 565383 w 737436"/>
                <a:gd name="connsiteY20" fmla="*/ 694943 h 839031"/>
                <a:gd name="connsiteX21" fmla="*/ 1234 w 737436"/>
                <a:gd name="connsiteY21" fmla="*/ 396060 h 839031"/>
                <a:gd name="connsiteX22" fmla="*/ 1061 w 737436"/>
                <a:gd name="connsiteY22" fmla="*/ 393860 h 839031"/>
                <a:gd name="connsiteX23" fmla="*/ 11 w 737436"/>
                <a:gd name="connsiteY23" fmla="*/ 367757 h 839031"/>
                <a:gd name="connsiteX24" fmla="*/ 31653 w 737436"/>
                <a:gd name="connsiteY24" fmla="*/ 218993 h 839031"/>
                <a:gd name="connsiteX25" fmla="*/ 126016 w 737436"/>
                <a:gd name="connsiteY25" fmla="*/ 92054 h 839031"/>
                <a:gd name="connsiteX26" fmla="*/ 372561 w 737436"/>
                <a:gd name="connsiteY26" fmla="*/ 58 h 839031"/>
                <a:gd name="connsiteX27" fmla="*/ 126016 w 737436"/>
                <a:gd name="connsiteY27" fmla="*/ 92054 h 839031"/>
                <a:gd name="connsiteX28" fmla="*/ 31653 w 737436"/>
                <a:gd name="connsiteY28" fmla="*/ 218993 h 839031"/>
                <a:gd name="connsiteX29" fmla="*/ 23289 w 737436"/>
                <a:gd name="connsiteY29" fmla="*/ 237122 h 839031"/>
                <a:gd name="connsiteX30" fmla="*/ 6 w 737436"/>
                <a:gd name="connsiteY30" fmla="*/ 367689 h 839031"/>
                <a:gd name="connsiteX31" fmla="*/ 11 w 737436"/>
                <a:gd name="connsiteY31" fmla="*/ 367757 h 839031"/>
                <a:gd name="connsiteX32" fmla="*/ 1234 w 737436"/>
                <a:gd name="connsiteY32" fmla="*/ 396060 h 839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737436" h="839031" extrusionOk="0">
                  <a:moveTo>
                    <a:pt x="565383" y="694943"/>
                  </a:moveTo>
                  <a:cubicBezTo>
                    <a:pt x="572907" y="679707"/>
                    <a:pt x="583800" y="666383"/>
                    <a:pt x="597230" y="655977"/>
                  </a:cubicBezTo>
                  <a:cubicBezTo>
                    <a:pt x="657101" y="608953"/>
                    <a:pt x="700949" y="544593"/>
                    <a:pt x="722810" y="471739"/>
                  </a:cubicBezTo>
                  <a:cubicBezTo>
                    <a:pt x="731499" y="440113"/>
                    <a:pt x="734496" y="422541"/>
                    <a:pt x="737436" y="391424"/>
                  </a:cubicBezTo>
                  <a:lnTo>
                    <a:pt x="604779" y="391424"/>
                  </a:lnTo>
                  <a:cubicBezTo>
                    <a:pt x="619532" y="381035"/>
                    <a:pt x="629155" y="363505"/>
                    <a:pt x="629155" y="344022"/>
                  </a:cubicBezTo>
                  <a:cubicBezTo>
                    <a:pt x="629155" y="312207"/>
                    <a:pt x="603493" y="286235"/>
                    <a:pt x="572061" y="286235"/>
                  </a:cubicBezTo>
                  <a:cubicBezTo>
                    <a:pt x="540630" y="286235"/>
                    <a:pt x="514968" y="312207"/>
                    <a:pt x="514968" y="344022"/>
                  </a:cubicBezTo>
                  <a:cubicBezTo>
                    <a:pt x="514968" y="363505"/>
                    <a:pt x="524591" y="381035"/>
                    <a:pt x="539343" y="391424"/>
                  </a:cubicBezTo>
                  <a:lnTo>
                    <a:pt x="372561" y="391424"/>
                  </a:lnTo>
                  <a:lnTo>
                    <a:pt x="372561" y="396296"/>
                  </a:lnTo>
                  <a:lnTo>
                    <a:pt x="372561" y="563493"/>
                  </a:lnTo>
                  <a:cubicBezTo>
                    <a:pt x="382185" y="546609"/>
                    <a:pt x="400785" y="535568"/>
                    <a:pt x="421313" y="535568"/>
                  </a:cubicBezTo>
                  <a:cubicBezTo>
                    <a:pt x="452745" y="535568"/>
                    <a:pt x="478407" y="561545"/>
                    <a:pt x="478407" y="593360"/>
                  </a:cubicBezTo>
                  <a:cubicBezTo>
                    <a:pt x="478407" y="625175"/>
                    <a:pt x="452745" y="651147"/>
                    <a:pt x="421313" y="651147"/>
                  </a:cubicBezTo>
                  <a:cubicBezTo>
                    <a:pt x="400785" y="651147"/>
                    <a:pt x="382185" y="640112"/>
                    <a:pt x="372561" y="623228"/>
                  </a:cubicBezTo>
                  <a:lnTo>
                    <a:pt x="372561" y="834860"/>
                  </a:lnTo>
                  <a:cubicBezTo>
                    <a:pt x="390936" y="845360"/>
                    <a:pt x="535311" y="834860"/>
                    <a:pt x="548436" y="816485"/>
                  </a:cubicBezTo>
                  <a:cubicBezTo>
                    <a:pt x="555361" y="809561"/>
                    <a:pt x="553791" y="781510"/>
                    <a:pt x="553791" y="771719"/>
                  </a:cubicBezTo>
                  <a:lnTo>
                    <a:pt x="553791" y="743915"/>
                  </a:lnTo>
                  <a:cubicBezTo>
                    <a:pt x="553896" y="726926"/>
                    <a:pt x="557855" y="710178"/>
                    <a:pt x="565383" y="694943"/>
                  </a:cubicBezTo>
                  <a:close/>
                  <a:moveTo>
                    <a:pt x="1234" y="396060"/>
                  </a:moveTo>
                  <a:cubicBezTo>
                    <a:pt x="1176" y="395330"/>
                    <a:pt x="1119" y="394595"/>
                    <a:pt x="1061" y="393860"/>
                  </a:cubicBezTo>
                  <a:cubicBezTo>
                    <a:pt x="615" y="387965"/>
                    <a:pt x="48" y="369080"/>
                    <a:pt x="11" y="367757"/>
                  </a:cubicBezTo>
                  <a:cubicBezTo>
                    <a:pt x="-231" y="314648"/>
                    <a:pt x="11199" y="264353"/>
                    <a:pt x="31653" y="218993"/>
                  </a:cubicBezTo>
                  <a:cubicBezTo>
                    <a:pt x="57036" y="166840"/>
                    <a:pt x="89408" y="124808"/>
                    <a:pt x="126016" y="92054"/>
                  </a:cubicBezTo>
                  <a:cubicBezTo>
                    <a:pt x="193074" y="33301"/>
                    <a:pt x="280576" y="-1601"/>
                    <a:pt x="372561" y="58"/>
                  </a:cubicBezTo>
                  <a:cubicBezTo>
                    <a:pt x="288084" y="-1465"/>
                    <a:pt x="198708" y="27006"/>
                    <a:pt x="126016" y="92054"/>
                  </a:cubicBezTo>
                  <a:cubicBezTo>
                    <a:pt x="86274" y="126866"/>
                    <a:pt x="53713" y="170063"/>
                    <a:pt x="31653" y="218993"/>
                  </a:cubicBezTo>
                  <a:cubicBezTo>
                    <a:pt x="28776" y="224905"/>
                    <a:pt x="25988" y="230948"/>
                    <a:pt x="23289" y="237122"/>
                  </a:cubicBezTo>
                  <a:cubicBezTo>
                    <a:pt x="8012" y="277856"/>
                    <a:pt x="-246" y="321888"/>
                    <a:pt x="6" y="367689"/>
                  </a:cubicBezTo>
                  <a:lnTo>
                    <a:pt x="11" y="367757"/>
                  </a:lnTo>
                  <a:cubicBezTo>
                    <a:pt x="53" y="377113"/>
                    <a:pt x="457" y="386547"/>
                    <a:pt x="1234" y="396060"/>
                  </a:cubicBezTo>
                  <a:close/>
                </a:path>
              </a:pathLst>
            </a:custGeom>
            <a:solidFill>
              <a:srgbClr val="F3F4F7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4" name="Полилиния: фигура 43">
              <a:extLst>
                <a:ext uri="{FF2B5EF4-FFF2-40B4-BE49-F238E27FC236}">
                  <a16:creationId xmlns:a16="http://schemas.microsoft.com/office/drawing/2014/main" id="{5CFFF637-E8DC-5D23-3781-A75DAC66B1DB}"/>
                </a:ext>
              </a:extLst>
            </p:cNvPr>
            <p:cNvSpPr/>
            <p:nvPr/>
          </p:nvSpPr>
          <p:spPr bwMode="auto">
            <a:xfrm>
              <a:off x="3157688" y="1107264"/>
              <a:ext cx="372561" cy="501485"/>
            </a:xfrm>
            <a:custGeom>
              <a:avLst/>
              <a:gdLst>
                <a:gd name="connsiteX0" fmla="*/ 372561 w 372561"/>
                <a:gd name="connsiteY0" fmla="*/ 391424 h 501485"/>
                <a:gd name="connsiteX1" fmla="*/ 372561 w 372561"/>
                <a:gd name="connsiteY1" fmla="*/ 224228 h 501485"/>
                <a:gd name="connsiteX2" fmla="*/ 323810 w 372561"/>
                <a:gd name="connsiteY2" fmla="*/ 252147 h 501485"/>
                <a:gd name="connsiteX3" fmla="*/ 266716 w 372561"/>
                <a:gd name="connsiteY3" fmla="*/ 194360 h 501485"/>
                <a:gd name="connsiteX4" fmla="*/ 323810 w 372561"/>
                <a:gd name="connsiteY4" fmla="*/ 136568 h 501485"/>
                <a:gd name="connsiteX5" fmla="*/ 372561 w 372561"/>
                <a:gd name="connsiteY5" fmla="*/ 164493 h 501485"/>
                <a:gd name="connsiteX6" fmla="*/ 372561 w 372561"/>
                <a:gd name="connsiteY6" fmla="*/ 58 h 501485"/>
                <a:gd name="connsiteX7" fmla="*/ 126016 w 372561"/>
                <a:gd name="connsiteY7" fmla="*/ 92054 h 501485"/>
                <a:gd name="connsiteX8" fmla="*/ 31653 w 372561"/>
                <a:gd name="connsiteY8" fmla="*/ 218993 h 501485"/>
                <a:gd name="connsiteX9" fmla="*/ 23289 w 372561"/>
                <a:gd name="connsiteY9" fmla="*/ 237122 h 501485"/>
                <a:gd name="connsiteX10" fmla="*/ 6 w 372561"/>
                <a:gd name="connsiteY10" fmla="*/ 367689 h 501485"/>
                <a:gd name="connsiteX11" fmla="*/ 11 w 372561"/>
                <a:gd name="connsiteY11" fmla="*/ 367757 h 501485"/>
                <a:gd name="connsiteX12" fmla="*/ 1234 w 372561"/>
                <a:gd name="connsiteY12" fmla="*/ 396060 h 501485"/>
                <a:gd name="connsiteX13" fmla="*/ 1255 w 372561"/>
                <a:gd name="connsiteY13" fmla="*/ 396296 h 501485"/>
                <a:gd name="connsiteX14" fmla="*/ 140343 w 372561"/>
                <a:gd name="connsiteY14" fmla="*/ 396296 h 501485"/>
                <a:gd name="connsiteX15" fmla="*/ 115968 w 372561"/>
                <a:gd name="connsiteY15" fmla="*/ 443693 h 501485"/>
                <a:gd name="connsiteX16" fmla="*/ 173061 w 372561"/>
                <a:gd name="connsiteY16" fmla="*/ 501485 h 501485"/>
                <a:gd name="connsiteX17" fmla="*/ 230155 w 372561"/>
                <a:gd name="connsiteY17" fmla="*/ 443693 h 501485"/>
                <a:gd name="connsiteX18" fmla="*/ 205779 w 372561"/>
                <a:gd name="connsiteY18" fmla="*/ 396296 h 501485"/>
                <a:gd name="connsiteX19" fmla="*/ 372561 w 372561"/>
                <a:gd name="connsiteY19" fmla="*/ 396296 h 501485"/>
                <a:gd name="connsiteX20" fmla="*/ 372561 w 372561"/>
                <a:gd name="connsiteY20" fmla="*/ 391424 h 501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72561" h="501485" extrusionOk="0">
                  <a:moveTo>
                    <a:pt x="372561" y="391424"/>
                  </a:moveTo>
                  <a:lnTo>
                    <a:pt x="372561" y="224228"/>
                  </a:lnTo>
                  <a:cubicBezTo>
                    <a:pt x="362938" y="241112"/>
                    <a:pt x="344337" y="252147"/>
                    <a:pt x="323810" y="252147"/>
                  </a:cubicBezTo>
                  <a:cubicBezTo>
                    <a:pt x="292378" y="252147"/>
                    <a:pt x="266716" y="226175"/>
                    <a:pt x="266716" y="194360"/>
                  </a:cubicBezTo>
                  <a:cubicBezTo>
                    <a:pt x="266716" y="162545"/>
                    <a:pt x="292378" y="136568"/>
                    <a:pt x="323810" y="136568"/>
                  </a:cubicBezTo>
                  <a:cubicBezTo>
                    <a:pt x="344337" y="136568"/>
                    <a:pt x="362938" y="147609"/>
                    <a:pt x="372561" y="164493"/>
                  </a:cubicBezTo>
                  <a:lnTo>
                    <a:pt x="372561" y="58"/>
                  </a:lnTo>
                  <a:cubicBezTo>
                    <a:pt x="288084" y="-1465"/>
                    <a:pt x="198708" y="27006"/>
                    <a:pt x="126016" y="92054"/>
                  </a:cubicBezTo>
                  <a:cubicBezTo>
                    <a:pt x="86274" y="126866"/>
                    <a:pt x="53713" y="170063"/>
                    <a:pt x="31653" y="218993"/>
                  </a:cubicBezTo>
                  <a:cubicBezTo>
                    <a:pt x="28776" y="224905"/>
                    <a:pt x="25988" y="230948"/>
                    <a:pt x="23289" y="237122"/>
                  </a:cubicBezTo>
                  <a:cubicBezTo>
                    <a:pt x="8012" y="277856"/>
                    <a:pt x="-246" y="321888"/>
                    <a:pt x="6" y="367689"/>
                  </a:cubicBezTo>
                  <a:lnTo>
                    <a:pt x="11" y="367757"/>
                  </a:lnTo>
                  <a:cubicBezTo>
                    <a:pt x="53" y="377113"/>
                    <a:pt x="457" y="386547"/>
                    <a:pt x="1234" y="396060"/>
                  </a:cubicBezTo>
                  <a:lnTo>
                    <a:pt x="1255" y="396296"/>
                  </a:lnTo>
                  <a:lnTo>
                    <a:pt x="140343" y="396296"/>
                  </a:lnTo>
                  <a:cubicBezTo>
                    <a:pt x="125591" y="406686"/>
                    <a:pt x="115968" y="424216"/>
                    <a:pt x="115968" y="443693"/>
                  </a:cubicBezTo>
                  <a:cubicBezTo>
                    <a:pt x="115968" y="475514"/>
                    <a:pt x="141630" y="501485"/>
                    <a:pt x="173061" y="501485"/>
                  </a:cubicBezTo>
                  <a:cubicBezTo>
                    <a:pt x="204493" y="501485"/>
                    <a:pt x="230155" y="475514"/>
                    <a:pt x="230155" y="443693"/>
                  </a:cubicBezTo>
                  <a:cubicBezTo>
                    <a:pt x="230155" y="424216"/>
                    <a:pt x="220532" y="406686"/>
                    <a:pt x="205779" y="396296"/>
                  </a:cubicBezTo>
                  <a:lnTo>
                    <a:pt x="372561" y="396296"/>
                  </a:lnTo>
                  <a:lnTo>
                    <a:pt x="372561" y="391424"/>
                  </a:lnTo>
                  <a:close/>
                </a:path>
              </a:pathLst>
            </a:custGeom>
            <a:solidFill>
              <a:srgbClr val="4BD0A0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5" name="Полилиния: фигура 44">
              <a:extLst>
                <a:ext uri="{FF2B5EF4-FFF2-40B4-BE49-F238E27FC236}">
                  <a16:creationId xmlns:a16="http://schemas.microsoft.com/office/drawing/2014/main" id="{18E39A5D-832C-0B04-41DC-8675A987146E}"/>
                </a:ext>
              </a:extLst>
            </p:cNvPr>
            <p:cNvSpPr/>
            <p:nvPr/>
          </p:nvSpPr>
          <p:spPr bwMode="auto">
            <a:xfrm>
              <a:off x="3157688" y="1107264"/>
              <a:ext cx="737436" cy="835043"/>
            </a:xfrm>
            <a:custGeom>
              <a:avLst/>
              <a:gdLst>
                <a:gd name="connsiteX0" fmla="*/ 6 w 737436"/>
                <a:gd name="connsiteY0" fmla="*/ 367689 h 835043"/>
                <a:gd name="connsiteX1" fmla="*/ 23289 w 737436"/>
                <a:gd name="connsiteY1" fmla="*/ 237122 h 835043"/>
                <a:gd name="connsiteX2" fmla="*/ 31653 w 737436"/>
                <a:gd name="connsiteY2" fmla="*/ 218993 h 835043"/>
                <a:gd name="connsiteX3" fmla="*/ 6 w 737436"/>
                <a:gd name="connsiteY3" fmla="*/ 367689 h 835043"/>
                <a:gd name="connsiteX4" fmla="*/ 11 w 737436"/>
                <a:gd name="connsiteY4" fmla="*/ 367757 h 835043"/>
                <a:gd name="connsiteX5" fmla="*/ 6 w 737436"/>
                <a:gd name="connsiteY5" fmla="*/ 367689 h 835043"/>
                <a:gd name="connsiteX6" fmla="*/ 11 w 737436"/>
                <a:gd name="connsiteY6" fmla="*/ 367757 h 835043"/>
                <a:gd name="connsiteX7" fmla="*/ 372561 w 737436"/>
                <a:gd name="connsiteY7" fmla="*/ 396296 h 835043"/>
                <a:gd name="connsiteX8" fmla="*/ 205779 w 737436"/>
                <a:gd name="connsiteY8" fmla="*/ 396296 h 835043"/>
                <a:gd name="connsiteX9" fmla="*/ 230155 w 737436"/>
                <a:gd name="connsiteY9" fmla="*/ 443693 h 835043"/>
                <a:gd name="connsiteX10" fmla="*/ 173061 w 737436"/>
                <a:gd name="connsiteY10" fmla="*/ 501485 h 835043"/>
                <a:gd name="connsiteX11" fmla="*/ 115968 w 737436"/>
                <a:gd name="connsiteY11" fmla="*/ 443693 h 835043"/>
                <a:gd name="connsiteX12" fmla="*/ 140343 w 737436"/>
                <a:gd name="connsiteY12" fmla="*/ 396296 h 835043"/>
                <a:gd name="connsiteX13" fmla="*/ 1255 w 737436"/>
                <a:gd name="connsiteY13" fmla="*/ 396296 h 835043"/>
                <a:gd name="connsiteX14" fmla="*/ 372561 w 737436"/>
                <a:gd name="connsiteY14" fmla="*/ 396296 h 835043"/>
                <a:gd name="connsiteX15" fmla="*/ 372561 w 737436"/>
                <a:gd name="connsiteY15" fmla="*/ 224228 h 835043"/>
                <a:gd name="connsiteX16" fmla="*/ 372561 w 737436"/>
                <a:gd name="connsiteY16" fmla="*/ 396296 h 835043"/>
                <a:gd name="connsiteX17" fmla="*/ 372561 w 737436"/>
                <a:gd name="connsiteY17" fmla="*/ 563493 h 835043"/>
                <a:gd name="connsiteX18" fmla="*/ 372561 w 737436"/>
                <a:gd name="connsiteY18" fmla="*/ 396296 h 835043"/>
                <a:gd name="connsiteX19" fmla="*/ 372561 w 737436"/>
                <a:gd name="connsiteY19" fmla="*/ 391424 h 835043"/>
                <a:gd name="connsiteX20" fmla="*/ 372561 w 737436"/>
                <a:gd name="connsiteY20" fmla="*/ 224228 h 835043"/>
                <a:gd name="connsiteX21" fmla="*/ 323810 w 737436"/>
                <a:gd name="connsiteY21" fmla="*/ 252147 h 835043"/>
                <a:gd name="connsiteX22" fmla="*/ 266716 w 737436"/>
                <a:gd name="connsiteY22" fmla="*/ 194360 h 835043"/>
                <a:gd name="connsiteX23" fmla="*/ 323810 w 737436"/>
                <a:gd name="connsiteY23" fmla="*/ 136568 h 835043"/>
                <a:gd name="connsiteX24" fmla="*/ 372561 w 737436"/>
                <a:gd name="connsiteY24" fmla="*/ 164493 h 835043"/>
                <a:gd name="connsiteX25" fmla="*/ 372561 w 737436"/>
                <a:gd name="connsiteY25" fmla="*/ 58 h 835043"/>
                <a:gd name="connsiteX26" fmla="*/ 372561 w 737436"/>
                <a:gd name="connsiteY26" fmla="*/ 224228 h 835043"/>
                <a:gd name="connsiteX27" fmla="*/ 372561 w 737436"/>
                <a:gd name="connsiteY27" fmla="*/ 391424 h 835043"/>
                <a:gd name="connsiteX28" fmla="*/ 372561 w 737436"/>
                <a:gd name="connsiteY28" fmla="*/ 391424 h 835043"/>
                <a:gd name="connsiteX29" fmla="*/ 539343 w 737436"/>
                <a:gd name="connsiteY29" fmla="*/ 391424 h 835043"/>
                <a:gd name="connsiteX30" fmla="*/ 514968 w 737436"/>
                <a:gd name="connsiteY30" fmla="*/ 344022 h 835043"/>
                <a:gd name="connsiteX31" fmla="*/ 572061 w 737436"/>
                <a:gd name="connsiteY31" fmla="*/ 286235 h 835043"/>
                <a:gd name="connsiteX32" fmla="*/ 629155 w 737436"/>
                <a:gd name="connsiteY32" fmla="*/ 344022 h 835043"/>
                <a:gd name="connsiteX33" fmla="*/ 604779 w 737436"/>
                <a:gd name="connsiteY33" fmla="*/ 391424 h 835043"/>
                <a:gd name="connsiteX34" fmla="*/ 737436 w 737436"/>
                <a:gd name="connsiteY34" fmla="*/ 391424 h 835043"/>
                <a:gd name="connsiteX35" fmla="*/ 722810 w 737436"/>
                <a:gd name="connsiteY35" fmla="*/ 471739 h 835043"/>
                <a:gd name="connsiteX36" fmla="*/ 597230 w 737436"/>
                <a:gd name="connsiteY36" fmla="*/ 655977 h 835043"/>
                <a:gd name="connsiteX37" fmla="*/ 565383 w 737436"/>
                <a:gd name="connsiteY37" fmla="*/ 694943 h 835043"/>
                <a:gd name="connsiteX38" fmla="*/ 549870 w 737436"/>
                <a:gd name="connsiteY38" fmla="*/ 803476 h 835043"/>
                <a:gd name="connsiteX39" fmla="*/ 532965 w 737436"/>
                <a:gd name="connsiteY39" fmla="*/ 822129 h 835043"/>
                <a:gd name="connsiteX40" fmla="*/ 372561 w 737436"/>
                <a:gd name="connsiteY40" fmla="*/ 834860 h 835043"/>
                <a:gd name="connsiteX41" fmla="*/ 372561 w 737436"/>
                <a:gd name="connsiteY41" fmla="*/ 623228 h 835043"/>
                <a:gd name="connsiteX42" fmla="*/ 421313 w 737436"/>
                <a:gd name="connsiteY42" fmla="*/ 651147 h 835043"/>
                <a:gd name="connsiteX43" fmla="*/ 478407 w 737436"/>
                <a:gd name="connsiteY43" fmla="*/ 593360 h 835043"/>
                <a:gd name="connsiteX44" fmla="*/ 421313 w 737436"/>
                <a:gd name="connsiteY44" fmla="*/ 535568 h 835043"/>
                <a:gd name="connsiteX45" fmla="*/ 372561 w 737436"/>
                <a:gd name="connsiteY45" fmla="*/ 563493 h 835043"/>
                <a:gd name="connsiteX46" fmla="*/ 372561 w 737436"/>
                <a:gd name="connsiteY46" fmla="*/ 391424 h 835043"/>
                <a:gd name="connsiteX47" fmla="*/ 372561 w 737436"/>
                <a:gd name="connsiteY47" fmla="*/ 563493 h 835043"/>
                <a:gd name="connsiteX48" fmla="*/ 1255 w 737436"/>
                <a:gd name="connsiteY48" fmla="*/ 396296 h 835043"/>
                <a:gd name="connsiteX49" fmla="*/ 1234 w 737436"/>
                <a:gd name="connsiteY49" fmla="*/ 396060 h 835043"/>
                <a:gd name="connsiteX50" fmla="*/ 1255 w 737436"/>
                <a:gd name="connsiteY50" fmla="*/ 396296 h 835043"/>
                <a:gd name="connsiteX51" fmla="*/ 1234 w 737436"/>
                <a:gd name="connsiteY51" fmla="*/ 396060 h 835043"/>
                <a:gd name="connsiteX52" fmla="*/ 372561 w 737436"/>
                <a:gd name="connsiteY52" fmla="*/ 58 h 835043"/>
                <a:gd name="connsiteX53" fmla="*/ 126016 w 737436"/>
                <a:gd name="connsiteY53" fmla="*/ 92054 h 835043"/>
                <a:gd name="connsiteX54" fmla="*/ 372561 w 737436"/>
                <a:gd name="connsiteY54" fmla="*/ 58 h 835043"/>
                <a:gd name="connsiteX55" fmla="*/ 126016 w 737436"/>
                <a:gd name="connsiteY55" fmla="*/ 92054 h 835043"/>
                <a:gd name="connsiteX56" fmla="*/ 1234 w 737436"/>
                <a:gd name="connsiteY56" fmla="*/ 396060 h 835043"/>
                <a:gd name="connsiteX57" fmla="*/ 11 w 737436"/>
                <a:gd name="connsiteY57" fmla="*/ 367757 h 835043"/>
                <a:gd name="connsiteX58" fmla="*/ 1234 w 737436"/>
                <a:gd name="connsiteY58" fmla="*/ 396060 h 835043"/>
                <a:gd name="connsiteX59" fmla="*/ 1061 w 737436"/>
                <a:gd name="connsiteY59" fmla="*/ 393860 h 835043"/>
                <a:gd name="connsiteX60" fmla="*/ 11 w 737436"/>
                <a:gd name="connsiteY60" fmla="*/ 367757 h 835043"/>
                <a:gd name="connsiteX61" fmla="*/ 11 w 737436"/>
                <a:gd name="connsiteY61" fmla="*/ 367757 h 835043"/>
                <a:gd name="connsiteX62" fmla="*/ 31653 w 737436"/>
                <a:gd name="connsiteY62" fmla="*/ 218993 h 835043"/>
                <a:gd name="connsiteX63" fmla="*/ 31653 w 737436"/>
                <a:gd name="connsiteY63" fmla="*/ 218993 h 835043"/>
                <a:gd name="connsiteX64" fmla="*/ 126016 w 737436"/>
                <a:gd name="connsiteY64" fmla="*/ 92054 h 835043"/>
                <a:gd name="connsiteX65" fmla="*/ 31653 w 737436"/>
                <a:gd name="connsiteY65" fmla="*/ 218993 h 835043"/>
                <a:gd name="connsiteX66" fmla="*/ 126016 w 737436"/>
                <a:gd name="connsiteY66" fmla="*/ 92054 h 8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737436" h="835043" extrusionOk="0">
                  <a:moveTo>
                    <a:pt x="6" y="367689"/>
                  </a:moveTo>
                  <a:cubicBezTo>
                    <a:pt x="-246" y="321888"/>
                    <a:pt x="8012" y="277856"/>
                    <a:pt x="23289" y="237122"/>
                  </a:cubicBezTo>
                  <a:cubicBezTo>
                    <a:pt x="25988" y="230948"/>
                    <a:pt x="28776" y="224905"/>
                    <a:pt x="31653" y="218993"/>
                  </a:cubicBezTo>
                  <a:moveTo>
                    <a:pt x="6" y="367689"/>
                  </a:moveTo>
                  <a:cubicBezTo>
                    <a:pt x="6" y="367689"/>
                    <a:pt x="6" y="367710"/>
                    <a:pt x="11" y="367757"/>
                  </a:cubicBezTo>
                  <a:moveTo>
                    <a:pt x="6" y="367689"/>
                  </a:moveTo>
                  <a:lnTo>
                    <a:pt x="11" y="367757"/>
                  </a:lnTo>
                  <a:moveTo>
                    <a:pt x="372561" y="396296"/>
                  </a:moveTo>
                  <a:lnTo>
                    <a:pt x="205779" y="396296"/>
                  </a:lnTo>
                  <a:cubicBezTo>
                    <a:pt x="220532" y="406686"/>
                    <a:pt x="230155" y="424216"/>
                    <a:pt x="230155" y="443693"/>
                  </a:cubicBezTo>
                  <a:cubicBezTo>
                    <a:pt x="230155" y="475514"/>
                    <a:pt x="204493" y="501485"/>
                    <a:pt x="173061" y="501485"/>
                  </a:cubicBezTo>
                  <a:cubicBezTo>
                    <a:pt x="141630" y="501485"/>
                    <a:pt x="115968" y="475514"/>
                    <a:pt x="115968" y="443693"/>
                  </a:cubicBezTo>
                  <a:cubicBezTo>
                    <a:pt x="115968" y="424216"/>
                    <a:pt x="125591" y="406686"/>
                    <a:pt x="140343" y="396296"/>
                  </a:cubicBezTo>
                  <a:lnTo>
                    <a:pt x="1255" y="396296"/>
                  </a:lnTo>
                  <a:moveTo>
                    <a:pt x="372561" y="396296"/>
                  </a:moveTo>
                  <a:lnTo>
                    <a:pt x="372561" y="224228"/>
                  </a:lnTo>
                  <a:moveTo>
                    <a:pt x="372561" y="396296"/>
                  </a:moveTo>
                  <a:lnTo>
                    <a:pt x="372561" y="563493"/>
                  </a:lnTo>
                  <a:moveTo>
                    <a:pt x="372561" y="396296"/>
                  </a:moveTo>
                  <a:lnTo>
                    <a:pt x="372561" y="391424"/>
                  </a:lnTo>
                  <a:moveTo>
                    <a:pt x="372561" y="224228"/>
                  </a:moveTo>
                  <a:cubicBezTo>
                    <a:pt x="362938" y="241112"/>
                    <a:pt x="344337" y="252147"/>
                    <a:pt x="323810" y="252147"/>
                  </a:cubicBezTo>
                  <a:cubicBezTo>
                    <a:pt x="292378" y="252147"/>
                    <a:pt x="266716" y="226175"/>
                    <a:pt x="266716" y="194360"/>
                  </a:cubicBezTo>
                  <a:cubicBezTo>
                    <a:pt x="266716" y="162545"/>
                    <a:pt x="292378" y="136568"/>
                    <a:pt x="323810" y="136568"/>
                  </a:cubicBezTo>
                  <a:cubicBezTo>
                    <a:pt x="344337" y="136568"/>
                    <a:pt x="362938" y="147609"/>
                    <a:pt x="372561" y="164493"/>
                  </a:cubicBezTo>
                  <a:lnTo>
                    <a:pt x="372561" y="58"/>
                  </a:lnTo>
                  <a:moveTo>
                    <a:pt x="372561" y="224228"/>
                  </a:moveTo>
                  <a:lnTo>
                    <a:pt x="372561" y="391424"/>
                  </a:lnTo>
                  <a:moveTo>
                    <a:pt x="372561" y="391424"/>
                  </a:moveTo>
                  <a:lnTo>
                    <a:pt x="539343" y="391424"/>
                  </a:lnTo>
                  <a:cubicBezTo>
                    <a:pt x="524591" y="381035"/>
                    <a:pt x="514968" y="363505"/>
                    <a:pt x="514968" y="344022"/>
                  </a:cubicBezTo>
                  <a:cubicBezTo>
                    <a:pt x="514968" y="312207"/>
                    <a:pt x="540630" y="286235"/>
                    <a:pt x="572061" y="286235"/>
                  </a:cubicBezTo>
                  <a:cubicBezTo>
                    <a:pt x="603493" y="286235"/>
                    <a:pt x="629155" y="312207"/>
                    <a:pt x="629155" y="344022"/>
                  </a:cubicBezTo>
                  <a:cubicBezTo>
                    <a:pt x="629155" y="363505"/>
                    <a:pt x="619532" y="381035"/>
                    <a:pt x="604779" y="391424"/>
                  </a:cubicBezTo>
                  <a:lnTo>
                    <a:pt x="737436" y="391424"/>
                  </a:lnTo>
                  <a:cubicBezTo>
                    <a:pt x="734496" y="422541"/>
                    <a:pt x="731499" y="440113"/>
                    <a:pt x="722810" y="471739"/>
                  </a:cubicBezTo>
                  <a:cubicBezTo>
                    <a:pt x="700949" y="544593"/>
                    <a:pt x="657101" y="608953"/>
                    <a:pt x="597230" y="655977"/>
                  </a:cubicBezTo>
                  <a:cubicBezTo>
                    <a:pt x="583800" y="666383"/>
                    <a:pt x="572907" y="679707"/>
                    <a:pt x="565383" y="694943"/>
                  </a:cubicBezTo>
                  <a:cubicBezTo>
                    <a:pt x="559640" y="706571"/>
                    <a:pt x="552794" y="772774"/>
                    <a:pt x="549870" y="803476"/>
                  </a:cubicBezTo>
                  <a:cubicBezTo>
                    <a:pt x="548988" y="812763"/>
                    <a:pt x="542136" y="820397"/>
                    <a:pt x="532965" y="822129"/>
                  </a:cubicBezTo>
                  <a:cubicBezTo>
                    <a:pt x="475677" y="832949"/>
                    <a:pt x="437745" y="835858"/>
                    <a:pt x="372561" y="834860"/>
                  </a:cubicBezTo>
                  <a:lnTo>
                    <a:pt x="372561" y="623228"/>
                  </a:lnTo>
                  <a:cubicBezTo>
                    <a:pt x="382185" y="640112"/>
                    <a:pt x="400785" y="651147"/>
                    <a:pt x="421313" y="651147"/>
                  </a:cubicBezTo>
                  <a:cubicBezTo>
                    <a:pt x="452745" y="651147"/>
                    <a:pt x="478407" y="625175"/>
                    <a:pt x="478407" y="593360"/>
                  </a:cubicBezTo>
                  <a:cubicBezTo>
                    <a:pt x="478407" y="561545"/>
                    <a:pt x="452745" y="535568"/>
                    <a:pt x="421313" y="535568"/>
                  </a:cubicBezTo>
                  <a:cubicBezTo>
                    <a:pt x="400785" y="535568"/>
                    <a:pt x="382185" y="546609"/>
                    <a:pt x="372561" y="563493"/>
                  </a:cubicBezTo>
                  <a:moveTo>
                    <a:pt x="372561" y="391424"/>
                  </a:moveTo>
                  <a:lnTo>
                    <a:pt x="372561" y="563493"/>
                  </a:lnTo>
                  <a:moveTo>
                    <a:pt x="1255" y="396296"/>
                  </a:moveTo>
                  <a:cubicBezTo>
                    <a:pt x="1250" y="396218"/>
                    <a:pt x="1245" y="396139"/>
                    <a:pt x="1234" y="396060"/>
                  </a:cubicBezTo>
                  <a:moveTo>
                    <a:pt x="1255" y="396296"/>
                  </a:moveTo>
                  <a:lnTo>
                    <a:pt x="1234" y="396060"/>
                  </a:lnTo>
                  <a:moveTo>
                    <a:pt x="372561" y="58"/>
                  </a:moveTo>
                  <a:cubicBezTo>
                    <a:pt x="288084" y="-1465"/>
                    <a:pt x="198708" y="27006"/>
                    <a:pt x="126016" y="92054"/>
                  </a:cubicBezTo>
                  <a:moveTo>
                    <a:pt x="372561" y="58"/>
                  </a:moveTo>
                  <a:cubicBezTo>
                    <a:pt x="280576" y="-1601"/>
                    <a:pt x="193074" y="33301"/>
                    <a:pt x="126016" y="92054"/>
                  </a:cubicBezTo>
                  <a:moveTo>
                    <a:pt x="1234" y="396060"/>
                  </a:moveTo>
                  <a:cubicBezTo>
                    <a:pt x="457" y="386547"/>
                    <a:pt x="53" y="377113"/>
                    <a:pt x="11" y="367757"/>
                  </a:cubicBezTo>
                  <a:moveTo>
                    <a:pt x="1234" y="396060"/>
                  </a:moveTo>
                  <a:cubicBezTo>
                    <a:pt x="1176" y="395330"/>
                    <a:pt x="1119" y="394595"/>
                    <a:pt x="1061" y="393860"/>
                  </a:cubicBezTo>
                  <a:cubicBezTo>
                    <a:pt x="615" y="387965"/>
                    <a:pt x="48" y="369080"/>
                    <a:pt x="11" y="367757"/>
                  </a:cubicBezTo>
                  <a:moveTo>
                    <a:pt x="11" y="367757"/>
                  </a:moveTo>
                  <a:cubicBezTo>
                    <a:pt x="-231" y="314648"/>
                    <a:pt x="11199" y="264353"/>
                    <a:pt x="31653" y="218993"/>
                  </a:cubicBezTo>
                  <a:moveTo>
                    <a:pt x="31653" y="218993"/>
                  </a:moveTo>
                  <a:cubicBezTo>
                    <a:pt x="53713" y="170063"/>
                    <a:pt x="86274" y="126866"/>
                    <a:pt x="126016" y="92054"/>
                  </a:cubicBezTo>
                  <a:moveTo>
                    <a:pt x="31653" y="218993"/>
                  </a:moveTo>
                  <a:cubicBezTo>
                    <a:pt x="57036" y="166840"/>
                    <a:pt x="89408" y="124808"/>
                    <a:pt x="126016" y="92054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664773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143756" name="Google Shape;779;p93"/>
          <p:cNvSpPr txBox="1"/>
          <p:nvPr/>
        </p:nvSpPr>
        <p:spPr bwMode="auto">
          <a:xfrm>
            <a:off x="319069" y="274167"/>
            <a:ext cx="8472355" cy="95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>
              <a:lnSpc>
                <a:spcPct val="90000"/>
              </a:lnSpc>
              <a:spcBef>
                <a:spcPts val="0"/>
              </a:spcBef>
              <a:spcAft>
                <a:spcPts val="2267"/>
              </a:spcAft>
              <a:buClr>
                <a:srgbClr val="000000"/>
              </a:buClr>
              <a:buSzPts val="4800"/>
              <a:buFont typeface="Arial"/>
              <a:buNone/>
              <a:defRPr/>
            </a:pPr>
            <a:r>
              <a:rPr lang="ru-RU" sz="48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Спасибо за внимание!</a:t>
            </a:r>
            <a:endParaRPr lang="ru-RU" sz="4800" b="1" i="0" u="none" strike="noStrike" cap="none" spc="0" dirty="0">
              <a:ln>
                <a:noFill/>
              </a:ln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41941451" name="Google Shape;780;p93"/>
          <p:cNvSpPr txBox="1"/>
          <p:nvPr/>
        </p:nvSpPr>
        <p:spPr bwMode="auto">
          <a:xfrm>
            <a:off x="365125" y="4499113"/>
            <a:ext cx="3027682" cy="31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4" bIns="0" anchor="b" anchorCtr="0">
            <a:noAutofit/>
          </a:bodyPr>
          <a:lstStyle/>
          <a:p>
            <a:pPr marL="0" marR="0" lvl="0" indent="0" algn="l" defTabSz="9144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endParaRPr sz="1200" b="0" i="0" u="none" strike="noStrike" cap="none" spc="0" dirty="0">
              <a:ln>
                <a:noFill/>
              </a:ln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>
              <a:lnSpc>
                <a:spcPct val="114999"/>
              </a:lnSpc>
              <a:spcBef>
                <a:spcPts val="299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ru-RU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Осадчая Елизавета</a:t>
            </a:r>
          </a:p>
          <a:p>
            <a:pPr marL="0" marR="0" lvl="0" indent="0" algn="l" defTabSz="914400">
              <a:lnSpc>
                <a:spcPct val="114999"/>
              </a:lnSpc>
              <a:spcBef>
                <a:spcPts val="299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200" b="0" i="0" u="none" strike="noStrike" cap="none" spc="0" dirty="0">
                <a:ln>
                  <a:noFill/>
                </a:ln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PROBP-43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NEO_presentation">
  <a:themeElements>
    <a:clrScheme name="NEO_presentation">
      <a:dk1>
        <a:srgbClr val="000000"/>
      </a:dk1>
      <a:lt1>
        <a:srgbClr val="FFFFFF"/>
      </a:lt1>
      <a:dk2>
        <a:srgbClr val="C4C4C4"/>
      </a:dk2>
      <a:lt2>
        <a:srgbClr val="27282D"/>
      </a:lt2>
      <a:accent1>
        <a:srgbClr val="4BD0A0"/>
      </a:accent1>
      <a:accent2>
        <a:srgbClr val="47C397"/>
      </a:accent2>
      <a:accent3>
        <a:srgbClr val="0066FF"/>
      </a:accent3>
      <a:accent4>
        <a:srgbClr val="DE3773"/>
      </a:accent4>
      <a:accent5>
        <a:srgbClr val="8261EE"/>
      </a:accent5>
      <a:accent6>
        <a:srgbClr val="F3F4F7"/>
      </a:accent6>
      <a:hlink>
        <a:srgbClr val="4BD0A0"/>
      </a:hlink>
      <a:folHlink>
        <a:srgbClr val="4BD0A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619</TotalTime>
  <Words>1062</Words>
  <Application>Microsoft Office PowerPoint</Application>
  <DocSecurity>0</DocSecurity>
  <PresentationFormat>Экран (16:9)</PresentationFormat>
  <Paragraphs>180</Paragraphs>
  <Slides>12</Slides>
  <Notes>12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Связи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Proxima Nova</vt:lpstr>
      <vt:lpstr>Calibri</vt:lpstr>
      <vt:lpstr>Wingdings</vt:lpstr>
      <vt:lpstr>Open Sans</vt:lpstr>
      <vt:lpstr>Arial</vt:lpstr>
      <vt:lpstr>1_NEO_presentation</vt:lpstr>
      <vt:lpstr>C:\Users\Admin\Desktop\TO BE схема EPC .pdf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Кричевская Дарья</dc:creator>
  <cp:keywords/>
  <dc:description/>
  <cp:lastModifiedBy>ОЕА</cp:lastModifiedBy>
  <cp:revision>15</cp:revision>
  <dcterms:modified xsi:type="dcterms:W3CDTF">2026-07-31T11:15:39Z</dcterms:modified>
  <cp:category/>
  <dc:identifier/>
  <cp:contentStatus/>
  <dc:language/>
  <cp:version/>
</cp:coreProperties>
</file>