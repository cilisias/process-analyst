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77" r:id="rId4"/>
    <p:sldId id="259" r:id="rId5"/>
    <p:sldId id="260" r:id="rId6"/>
    <p:sldId id="278" r:id="rId7"/>
    <p:sldId id="280" r:id="rId8"/>
    <p:sldId id="267" r:id="rId9"/>
    <p:sldId id="279" r:id="rId10"/>
    <p:sldId id="281" r:id="rId11"/>
    <p:sldId id="282" r:id="rId12"/>
    <p:sldId id="283" r:id="rId13"/>
    <p:sldId id="261" r:id="rId14"/>
    <p:sldId id="262" r:id="rId15"/>
    <p:sldId id="263" r:id="rId16"/>
    <p:sldId id="264" r:id="rId17"/>
    <p:sldId id="284" r:id="rId18"/>
    <p:sldId id="285" r:id="rId19"/>
    <p:sldId id="265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бщие сведения" id="{144C66D1-BCB3-4167-8DAF-514EBC17A2C4}">
          <p14:sldIdLst>
            <p14:sldId id="272"/>
            <p14:sldId id="273"/>
            <p14:sldId id="277"/>
            <p14:sldId id="259"/>
          </p14:sldIdLst>
        </p14:section>
        <p14:section name="Люди и ответственность" id="{9253D7E8-0D32-4948-8360-E3F4F31CEFDF}">
          <p14:sldIdLst>
            <p14:sldId id="260"/>
            <p14:sldId id="278"/>
            <p14:sldId id="280"/>
            <p14:sldId id="267"/>
            <p14:sldId id="279"/>
            <p14:sldId id="281"/>
            <p14:sldId id="282"/>
            <p14:sldId id="283"/>
          </p14:sldIdLst>
        </p14:section>
        <p14:section name="Схема движения" id="{7BF30F60-51F0-4889-849B-078A106DF7FC}">
          <p14:sldIdLst>
            <p14:sldId id="261"/>
          </p14:sldIdLst>
        </p14:section>
        <p14:section name="Разбор полетов" id="{B90F9B71-0EF8-47FD-92B2-4AC0B6CEE054}">
          <p14:sldIdLst>
            <p14:sldId id="262"/>
          </p14:sldIdLst>
        </p14:section>
        <p14:section name="Рабочая станция" id="{A2C47E78-48BF-49A1-A0C5-4A0BC67018A8}">
          <p14:sldIdLst>
            <p14:sldId id="263"/>
          </p14:sldIdLst>
        </p14:section>
        <p14:section name="Типичные грабли" id="{FFD0A6FD-E009-4F45-B122-90B56546AD12}">
          <p14:sldIdLst>
            <p14:sldId id="264"/>
            <p14:sldId id="284"/>
            <p14:sldId id="285"/>
          </p14:sldIdLst>
        </p14:section>
        <p14:section name="Ошибка 404" id="{9A763B16-B96B-4F99-9412-C1960EA02A7C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357" autoAdjust="0"/>
  </p:normalViewPr>
  <p:slideViewPr>
    <p:cSldViewPr snapToGrid="0">
      <p:cViewPr varScale="1">
        <p:scale>
          <a:sx n="91" d="100"/>
          <a:sy n="91" d="100"/>
        </p:scale>
        <p:origin x="322" y="86"/>
      </p:cViewPr>
      <p:guideLst>
        <p:guide orient="horz" pos="213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1EA0E1-C572-4D5E-90BB-47D6DB441A32}" type="doc">
      <dgm:prSet loTypeId="urn:microsoft.com/office/officeart/2005/8/layout/cycle1" loCatId="cycle" qsTypeId="urn:microsoft.com/office/officeart/2005/8/quickstyle/simple5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E4F4A0A2-CB20-4B43-8EC7-6E90F798A79E}">
      <dgm:prSet phldrT="[Текст]" custT="1"/>
      <dgm:spPr/>
      <dgm:t>
        <a:bodyPr/>
        <a:lstStyle/>
        <a:p>
          <a:r>
            <a:rPr lang="ru-RU" sz="1000" dirty="0">
              <a:latin typeface="Aptos Display" panose="020B0004020202090204" pitchFamily="34" charset="0"/>
            </a:rPr>
            <a:t>Подготовил документы</a:t>
          </a:r>
        </a:p>
      </dgm:t>
    </dgm:pt>
    <dgm:pt modelId="{C0BC9042-8085-4022-A7C8-D2B597AB095F}" type="parTrans" cxnId="{2B8686DA-3E91-4767-83F0-1D91328743B0}">
      <dgm:prSet/>
      <dgm:spPr/>
      <dgm:t>
        <a:bodyPr/>
        <a:lstStyle/>
        <a:p>
          <a:endParaRPr lang="ru-RU"/>
        </a:p>
      </dgm:t>
    </dgm:pt>
    <dgm:pt modelId="{F95D01BB-EA5B-4EEE-8099-4C890595B709}" type="sibTrans" cxnId="{2B8686DA-3E91-4767-83F0-1D91328743B0}">
      <dgm:prSet/>
      <dgm:spPr/>
      <dgm:t>
        <a:bodyPr/>
        <a:lstStyle/>
        <a:p>
          <a:endParaRPr lang="ru-RU"/>
        </a:p>
      </dgm:t>
    </dgm:pt>
    <dgm:pt modelId="{426C7DB4-1830-4933-9788-0FEBE0BAEC7D}">
      <dgm:prSet phldrT="[Текст]" custT="1"/>
      <dgm:spPr/>
      <dgm:t>
        <a:bodyPr/>
        <a:lstStyle/>
        <a:p>
          <a:r>
            <a:rPr lang="ru-RU" sz="1000" dirty="0">
              <a:latin typeface="Aptos Display" panose="020B0004020202090204" pitchFamily="34" charset="0"/>
            </a:rPr>
            <a:t>По цепочке согласовал</a:t>
          </a:r>
        </a:p>
      </dgm:t>
    </dgm:pt>
    <dgm:pt modelId="{46A6C3AF-2407-43CD-9E88-6C12755F85D6}" type="parTrans" cxnId="{9C91BF73-D615-4C3F-9582-F772CBDB431D}">
      <dgm:prSet/>
      <dgm:spPr/>
      <dgm:t>
        <a:bodyPr/>
        <a:lstStyle/>
        <a:p>
          <a:endParaRPr lang="ru-RU"/>
        </a:p>
      </dgm:t>
    </dgm:pt>
    <dgm:pt modelId="{9FEE346B-6538-49DF-B67A-7B0178933B47}" type="sibTrans" cxnId="{9C91BF73-D615-4C3F-9582-F772CBDB431D}">
      <dgm:prSet/>
      <dgm:spPr/>
      <dgm:t>
        <a:bodyPr/>
        <a:lstStyle/>
        <a:p>
          <a:endParaRPr lang="ru-RU"/>
        </a:p>
      </dgm:t>
    </dgm:pt>
    <dgm:pt modelId="{FD83CA2F-3BB8-4277-BFF4-F52643936A0A}">
      <dgm:prSet phldrT="[Текст]" custT="1"/>
      <dgm:spPr/>
      <dgm:t>
        <a:bodyPr/>
        <a:lstStyle/>
        <a:p>
          <a:r>
            <a:rPr lang="ru-RU" sz="1000" dirty="0">
              <a:latin typeface="Aptos Display" panose="020B0004020202090204" pitchFamily="34" charset="0"/>
            </a:rPr>
            <a:t>Подписал у директора</a:t>
          </a:r>
        </a:p>
      </dgm:t>
    </dgm:pt>
    <dgm:pt modelId="{800F7BD5-29A0-43A4-A8C6-3BC35C684E39}" type="parTrans" cxnId="{60F81ADF-87B3-49FE-AACA-27856545A0BB}">
      <dgm:prSet/>
      <dgm:spPr/>
      <dgm:t>
        <a:bodyPr/>
        <a:lstStyle/>
        <a:p>
          <a:endParaRPr lang="ru-RU"/>
        </a:p>
      </dgm:t>
    </dgm:pt>
    <dgm:pt modelId="{53E42BA9-E76F-4D83-A5FF-C1DAA856D4E7}" type="sibTrans" cxnId="{60F81ADF-87B3-49FE-AACA-27856545A0BB}">
      <dgm:prSet/>
      <dgm:spPr/>
      <dgm:t>
        <a:bodyPr/>
        <a:lstStyle/>
        <a:p>
          <a:endParaRPr lang="ru-RU"/>
        </a:p>
      </dgm:t>
    </dgm:pt>
    <dgm:pt modelId="{40D1B102-EA4F-4A24-81CB-3A7ABF371389}">
      <dgm:prSet phldrT="[Текст]" custT="1"/>
      <dgm:spPr/>
      <dgm:t>
        <a:bodyPr/>
        <a:lstStyle/>
        <a:p>
          <a:r>
            <a:rPr lang="ru-RU" sz="1000" dirty="0">
              <a:latin typeface="Aptos Display" panose="020B0004020202090204" pitchFamily="34" charset="0"/>
            </a:rPr>
            <a:t>Обменялся оригиналами</a:t>
          </a:r>
        </a:p>
      </dgm:t>
    </dgm:pt>
    <dgm:pt modelId="{DED4CC21-7B0A-49B0-80A0-B620EC4F2849}" type="parTrans" cxnId="{CAC3970C-7001-4568-9134-DE6350F1E182}">
      <dgm:prSet/>
      <dgm:spPr/>
      <dgm:t>
        <a:bodyPr/>
        <a:lstStyle/>
        <a:p>
          <a:endParaRPr lang="ru-RU"/>
        </a:p>
      </dgm:t>
    </dgm:pt>
    <dgm:pt modelId="{11CD62D6-9B89-4DE3-A324-F5DA0EB93CAA}" type="sibTrans" cxnId="{CAC3970C-7001-4568-9134-DE6350F1E182}">
      <dgm:prSet/>
      <dgm:spPr/>
      <dgm:t>
        <a:bodyPr/>
        <a:lstStyle/>
        <a:p>
          <a:endParaRPr lang="ru-RU"/>
        </a:p>
      </dgm:t>
    </dgm:pt>
    <dgm:pt modelId="{6FA7CCD8-44D3-4140-9E25-54F442609651}">
      <dgm:prSet phldrT="[Текст]" custT="1"/>
      <dgm:spPr/>
      <dgm:t>
        <a:bodyPr/>
        <a:lstStyle/>
        <a:p>
          <a:r>
            <a:rPr lang="ru-RU" sz="1000" dirty="0">
              <a:latin typeface="Aptos Display" panose="020B0004020202090204" pitchFamily="34" charset="0"/>
            </a:rPr>
            <a:t>Собрал информацию</a:t>
          </a:r>
        </a:p>
      </dgm:t>
    </dgm:pt>
    <dgm:pt modelId="{3267DA49-0C67-412B-A2CA-DEA6B144BF5C}" type="parTrans" cxnId="{C82863F5-A1B4-40B0-B6EB-A983AC5595F0}">
      <dgm:prSet/>
      <dgm:spPr/>
      <dgm:t>
        <a:bodyPr/>
        <a:lstStyle/>
        <a:p>
          <a:endParaRPr lang="ru-RU"/>
        </a:p>
      </dgm:t>
    </dgm:pt>
    <dgm:pt modelId="{68E86F10-5D8D-48EA-B32B-679E13C6F1A1}" type="sibTrans" cxnId="{C82863F5-A1B4-40B0-B6EB-A983AC5595F0}">
      <dgm:prSet/>
      <dgm:spPr/>
      <dgm:t>
        <a:bodyPr/>
        <a:lstStyle/>
        <a:p>
          <a:endParaRPr lang="ru-RU"/>
        </a:p>
      </dgm:t>
    </dgm:pt>
    <dgm:pt modelId="{043DDC47-69E2-4BF2-B08F-244BA5179E94}">
      <dgm:prSet custT="1"/>
      <dgm:spPr/>
      <dgm:t>
        <a:bodyPr/>
        <a:lstStyle/>
        <a:p>
          <a:r>
            <a:rPr lang="ru-RU" sz="1000" dirty="0">
              <a:latin typeface="Aptos Display" panose="020B0004020202090204" pitchFamily="34" charset="0"/>
            </a:rPr>
            <a:t>Повторить при необходимости</a:t>
          </a:r>
        </a:p>
      </dgm:t>
    </dgm:pt>
    <dgm:pt modelId="{D6666E65-8F4B-44F8-B0F0-2CCE6FCE76BF}" type="parTrans" cxnId="{6C64A77F-D050-4649-B2E8-DBC0D1C971DE}">
      <dgm:prSet/>
      <dgm:spPr/>
      <dgm:t>
        <a:bodyPr/>
        <a:lstStyle/>
        <a:p>
          <a:endParaRPr lang="ru-RU"/>
        </a:p>
      </dgm:t>
    </dgm:pt>
    <dgm:pt modelId="{128A1921-3085-4437-9B57-4E22C8E83AB7}" type="sibTrans" cxnId="{6C64A77F-D050-4649-B2E8-DBC0D1C971DE}">
      <dgm:prSet/>
      <dgm:spPr/>
      <dgm:t>
        <a:bodyPr/>
        <a:lstStyle/>
        <a:p>
          <a:endParaRPr lang="ru-RU"/>
        </a:p>
      </dgm:t>
    </dgm:pt>
    <dgm:pt modelId="{1239AA42-1FB5-4C4D-8444-937514274BFF}" type="pres">
      <dgm:prSet presAssocID="{F31EA0E1-C572-4D5E-90BB-47D6DB441A32}" presName="cycle" presStyleCnt="0">
        <dgm:presLayoutVars>
          <dgm:dir/>
          <dgm:resizeHandles val="exact"/>
        </dgm:presLayoutVars>
      </dgm:prSet>
      <dgm:spPr/>
    </dgm:pt>
    <dgm:pt modelId="{5218A1C4-69DE-49C1-BCF6-438002B8D866}" type="pres">
      <dgm:prSet presAssocID="{E4F4A0A2-CB20-4B43-8EC7-6E90F798A79E}" presName="dummy" presStyleCnt="0"/>
      <dgm:spPr/>
    </dgm:pt>
    <dgm:pt modelId="{BA88C9CB-4723-4B58-A8CB-8EB816AACADA}" type="pres">
      <dgm:prSet presAssocID="{E4F4A0A2-CB20-4B43-8EC7-6E90F798A79E}" presName="node" presStyleLbl="revTx" presStyleIdx="0" presStyleCnt="6" custScaleX="134516">
        <dgm:presLayoutVars>
          <dgm:bulletEnabled val="1"/>
        </dgm:presLayoutVars>
      </dgm:prSet>
      <dgm:spPr/>
    </dgm:pt>
    <dgm:pt modelId="{D5013C76-1920-46DF-8F7C-2F1557837393}" type="pres">
      <dgm:prSet presAssocID="{F95D01BB-EA5B-4EEE-8099-4C890595B709}" presName="sibTrans" presStyleLbl="node1" presStyleIdx="0" presStyleCnt="6"/>
      <dgm:spPr/>
    </dgm:pt>
    <dgm:pt modelId="{265579FD-60D4-4A63-83D3-F53E493125C7}" type="pres">
      <dgm:prSet presAssocID="{426C7DB4-1830-4933-9788-0FEBE0BAEC7D}" presName="dummy" presStyleCnt="0"/>
      <dgm:spPr/>
    </dgm:pt>
    <dgm:pt modelId="{5749421B-F374-46C1-937C-D2B0E0952B9C}" type="pres">
      <dgm:prSet presAssocID="{426C7DB4-1830-4933-9788-0FEBE0BAEC7D}" presName="node" presStyleLbl="revTx" presStyleIdx="1" presStyleCnt="6">
        <dgm:presLayoutVars>
          <dgm:bulletEnabled val="1"/>
        </dgm:presLayoutVars>
      </dgm:prSet>
      <dgm:spPr/>
    </dgm:pt>
    <dgm:pt modelId="{739A2425-A718-4E15-A06C-A61E3C0A25CC}" type="pres">
      <dgm:prSet presAssocID="{9FEE346B-6538-49DF-B67A-7B0178933B47}" presName="sibTrans" presStyleLbl="node1" presStyleIdx="1" presStyleCnt="6"/>
      <dgm:spPr/>
    </dgm:pt>
    <dgm:pt modelId="{24B6C9E0-F169-4984-B552-1A27AF9B6E89}" type="pres">
      <dgm:prSet presAssocID="{FD83CA2F-3BB8-4277-BFF4-F52643936A0A}" presName="dummy" presStyleCnt="0"/>
      <dgm:spPr/>
    </dgm:pt>
    <dgm:pt modelId="{93B31D3A-9C5D-4B88-A2B9-9E413DC6B7A4}" type="pres">
      <dgm:prSet presAssocID="{FD83CA2F-3BB8-4277-BFF4-F52643936A0A}" presName="node" presStyleLbl="revTx" presStyleIdx="2" presStyleCnt="6">
        <dgm:presLayoutVars>
          <dgm:bulletEnabled val="1"/>
        </dgm:presLayoutVars>
      </dgm:prSet>
      <dgm:spPr/>
    </dgm:pt>
    <dgm:pt modelId="{CCAB6C18-5654-4E5B-9882-14934A8A0258}" type="pres">
      <dgm:prSet presAssocID="{53E42BA9-E76F-4D83-A5FF-C1DAA856D4E7}" presName="sibTrans" presStyleLbl="node1" presStyleIdx="2" presStyleCnt="6"/>
      <dgm:spPr/>
    </dgm:pt>
    <dgm:pt modelId="{E3303ADB-B092-439A-9B46-22CC051069FB}" type="pres">
      <dgm:prSet presAssocID="{40D1B102-EA4F-4A24-81CB-3A7ABF371389}" presName="dummy" presStyleCnt="0"/>
      <dgm:spPr/>
    </dgm:pt>
    <dgm:pt modelId="{A7687337-B8BB-429A-9456-E169B02CB57D}" type="pres">
      <dgm:prSet presAssocID="{40D1B102-EA4F-4A24-81CB-3A7ABF371389}" presName="node" presStyleLbl="revTx" presStyleIdx="3" presStyleCnt="6" custScaleX="116564">
        <dgm:presLayoutVars>
          <dgm:bulletEnabled val="1"/>
        </dgm:presLayoutVars>
      </dgm:prSet>
      <dgm:spPr/>
    </dgm:pt>
    <dgm:pt modelId="{AD840DFF-106F-42CE-863F-BE29D038C42D}" type="pres">
      <dgm:prSet presAssocID="{11CD62D6-9B89-4DE3-A324-F5DA0EB93CAA}" presName="sibTrans" presStyleLbl="node1" presStyleIdx="3" presStyleCnt="6"/>
      <dgm:spPr/>
    </dgm:pt>
    <dgm:pt modelId="{E308CB4D-027F-47E7-AFF3-2C51262D0DB4}" type="pres">
      <dgm:prSet presAssocID="{043DDC47-69E2-4BF2-B08F-244BA5179E94}" presName="dummy" presStyleCnt="0"/>
      <dgm:spPr/>
    </dgm:pt>
    <dgm:pt modelId="{6EBEE66E-D2FB-4DEF-9E18-D62AF38CCE13}" type="pres">
      <dgm:prSet presAssocID="{043DDC47-69E2-4BF2-B08F-244BA5179E94}" presName="node" presStyleLbl="revTx" presStyleIdx="4" presStyleCnt="6" custScaleX="151943">
        <dgm:presLayoutVars>
          <dgm:bulletEnabled val="1"/>
        </dgm:presLayoutVars>
      </dgm:prSet>
      <dgm:spPr/>
    </dgm:pt>
    <dgm:pt modelId="{C721C105-5E28-4C47-91CB-ACF19AF3D52D}" type="pres">
      <dgm:prSet presAssocID="{128A1921-3085-4437-9B57-4E22C8E83AB7}" presName="sibTrans" presStyleLbl="node1" presStyleIdx="4" presStyleCnt="6"/>
      <dgm:spPr/>
    </dgm:pt>
    <dgm:pt modelId="{A5C22127-2F40-4E61-8979-552A38F150E0}" type="pres">
      <dgm:prSet presAssocID="{6FA7CCD8-44D3-4140-9E25-54F442609651}" presName="dummy" presStyleCnt="0"/>
      <dgm:spPr/>
    </dgm:pt>
    <dgm:pt modelId="{2A79C519-6612-45BB-BC33-6333485FBE79}" type="pres">
      <dgm:prSet presAssocID="{6FA7CCD8-44D3-4140-9E25-54F442609651}" presName="node" presStyleLbl="revTx" presStyleIdx="5" presStyleCnt="6" custScaleX="119492">
        <dgm:presLayoutVars>
          <dgm:bulletEnabled val="1"/>
        </dgm:presLayoutVars>
      </dgm:prSet>
      <dgm:spPr/>
    </dgm:pt>
    <dgm:pt modelId="{D7F59E7F-2535-47E9-8D76-F88F4782DA9E}" type="pres">
      <dgm:prSet presAssocID="{68E86F10-5D8D-48EA-B32B-679E13C6F1A1}" presName="sibTrans" presStyleLbl="node1" presStyleIdx="5" presStyleCnt="6"/>
      <dgm:spPr/>
    </dgm:pt>
  </dgm:ptLst>
  <dgm:cxnLst>
    <dgm:cxn modelId="{CAC3970C-7001-4568-9134-DE6350F1E182}" srcId="{F31EA0E1-C572-4D5E-90BB-47D6DB441A32}" destId="{40D1B102-EA4F-4A24-81CB-3A7ABF371389}" srcOrd="3" destOrd="0" parTransId="{DED4CC21-7B0A-49B0-80A0-B620EC4F2849}" sibTransId="{11CD62D6-9B89-4DE3-A324-F5DA0EB93CAA}"/>
    <dgm:cxn modelId="{AF5A6111-46C5-4E21-A160-30D7070565BB}" type="presOf" srcId="{E4F4A0A2-CB20-4B43-8EC7-6E90F798A79E}" destId="{BA88C9CB-4723-4B58-A8CB-8EB816AACADA}" srcOrd="0" destOrd="0" presId="urn:microsoft.com/office/officeart/2005/8/layout/cycle1"/>
    <dgm:cxn modelId="{21DDA41A-EE8A-4FE8-89B4-265C2FF43999}" type="presOf" srcId="{F95D01BB-EA5B-4EEE-8099-4C890595B709}" destId="{D5013C76-1920-46DF-8F7C-2F1557837393}" srcOrd="0" destOrd="0" presId="urn:microsoft.com/office/officeart/2005/8/layout/cycle1"/>
    <dgm:cxn modelId="{EBD00134-40D0-4B64-B227-808EC5B49FAA}" type="presOf" srcId="{128A1921-3085-4437-9B57-4E22C8E83AB7}" destId="{C721C105-5E28-4C47-91CB-ACF19AF3D52D}" srcOrd="0" destOrd="0" presId="urn:microsoft.com/office/officeart/2005/8/layout/cycle1"/>
    <dgm:cxn modelId="{2201843B-B7D4-457E-859E-3A9A54FD3980}" type="presOf" srcId="{68E86F10-5D8D-48EA-B32B-679E13C6F1A1}" destId="{D7F59E7F-2535-47E9-8D76-F88F4782DA9E}" srcOrd="0" destOrd="0" presId="urn:microsoft.com/office/officeart/2005/8/layout/cycle1"/>
    <dgm:cxn modelId="{7DE2326D-D06C-43B4-B24E-2CE872F0D5C8}" type="presOf" srcId="{40D1B102-EA4F-4A24-81CB-3A7ABF371389}" destId="{A7687337-B8BB-429A-9456-E169B02CB57D}" srcOrd="0" destOrd="0" presId="urn:microsoft.com/office/officeart/2005/8/layout/cycle1"/>
    <dgm:cxn modelId="{6261696D-CF3D-4876-A9FB-139DBA491FCA}" type="presOf" srcId="{11CD62D6-9B89-4DE3-A324-F5DA0EB93CAA}" destId="{AD840DFF-106F-42CE-863F-BE29D038C42D}" srcOrd="0" destOrd="0" presId="urn:microsoft.com/office/officeart/2005/8/layout/cycle1"/>
    <dgm:cxn modelId="{E4BFB570-BDE6-476B-9BAD-0C0AB760B93A}" type="presOf" srcId="{9FEE346B-6538-49DF-B67A-7B0178933B47}" destId="{739A2425-A718-4E15-A06C-A61E3C0A25CC}" srcOrd="0" destOrd="0" presId="urn:microsoft.com/office/officeart/2005/8/layout/cycle1"/>
    <dgm:cxn modelId="{EB81CB70-ED4D-4146-B72E-E3D39B2CD27C}" type="presOf" srcId="{F31EA0E1-C572-4D5E-90BB-47D6DB441A32}" destId="{1239AA42-1FB5-4C4D-8444-937514274BFF}" srcOrd="0" destOrd="0" presId="urn:microsoft.com/office/officeart/2005/8/layout/cycle1"/>
    <dgm:cxn modelId="{9C91BF73-D615-4C3F-9582-F772CBDB431D}" srcId="{F31EA0E1-C572-4D5E-90BB-47D6DB441A32}" destId="{426C7DB4-1830-4933-9788-0FEBE0BAEC7D}" srcOrd="1" destOrd="0" parTransId="{46A6C3AF-2407-43CD-9E88-6C12755F85D6}" sibTransId="{9FEE346B-6538-49DF-B67A-7B0178933B47}"/>
    <dgm:cxn modelId="{6C64A77F-D050-4649-B2E8-DBC0D1C971DE}" srcId="{F31EA0E1-C572-4D5E-90BB-47D6DB441A32}" destId="{043DDC47-69E2-4BF2-B08F-244BA5179E94}" srcOrd="4" destOrd="0" parTransId="{D6666E65-8F4B-44F8-B0F0-2CCE6FCE76BF}" sibTransId="{128A1921-3085-4437-9B57-4E22C8E83AB7}"/>
    <dgm:cxn modelId="{66B9008B-63C1-485E-926E-2A7941410D58}" type="presOf" srcId="{6FA7CCD8-44D3-4140-9E25-54F442609651}" destId="{2A79C519-6612-45BB-BC33-6333485FBE79}" srcOrd="0" destOrd="0" presId="urn:microsoft.com/office/officeart/2005/8/layout/cycle1"/>
    <dgm:cxn modelId="{EEB8F5A3-9623-4E39-B529-DCAF0F8B1184}" type="presOf" srcId="{FD83CA2F-3BB8-4277-BFF4-F52643936A0A}" destId="{93B31D3A-9C5D-4B88-A2B9-9E413DC6B7A4}" srcOrd="0" destOrd="0" presId="urn:microsoft.com/office/officeart/2005/8/layout/cycle1"/>
    <dgm:cxn modelId="{ECF817BE-9248-4126-BDD0-9BAB19A473DE}" type="presOf" srcId="{043DDC47-69E2-4BF2-B08F-244BA5179E94}" destId="{6EBEE66E-D2FB-4DEF-9E18-D62AF38CCE13}" srcOrd="0" destOrd="0" presId="urn:microsoft.com/office/officeart/2005/8/layout/cycle1"/>
    <dgm:cxn modelId="{2B8686DA-3E91-4767-83F0-1D91328743B0}" srcId="{F31EA0E1-C572-4D5E-90BB-47D6DB441A32}" destId="{E4F4A0A2-CB20-4B43-8EC7-6E90F798A79E}" srcOrd="0" destOrd="0" parTransId="{C0BC9042-8085-4022-A7C8-D2B597AB095F}" sibTransId="{F95D01BB-EA5B-4EEE-8099-4C890595B709}"/>
    <dgm:cxn modelId="{82861CDE-5A4F-44EB-A076-BF577F3C5FA1}" type="presOf" srcId="{426C7DB4-1830-4933-9788-0FEBE0BAEC7D}" destId="{5749421B-F374-46C1-937C-D2B0E0952B9C}" srcOrd="0" destOrd="0" presId="urn:microsoft.com/office/officeart/2005/8/layout/cycle1"/>
    <dgm:cxn modelId="{60F81ADF-87B3-49FE-AACA-27856545A0BB}" srcId="{F31EA0E1-C572-4D5E-90BB-47D6DB441A32}" destId="{FD83CA2F-3BB8-4277-BFF4-F52643936A0A}" srcOrd="2" destOrd="0" parTransId="{800F7BD5-29A0-43A4-A8C6-3BC35C684E39}" sibTransId="{53E42BA9-E76F-4D83-A5FF-C1DAA856D4E7}"/>
    <dgm:cxn modelId="{DDF860E7-B3D4-448C-9207-AD7AF4952440}" type="presOf" srcId="{53E42BA9-E76F-4D83-A5FF-C1DAA856D4E7}" destId="{CCAB6C18-5654-4E5B-9882-14934A8A0258}" srcOrd="0" destOrd="0" presId="urn:microsoft.com/office/officeart/2005/8/layout/cycle1"/>
    <dgm:cxn modelId="{C82863F5-A1B4-40B0-B6EB-A983AC5595F0}" srcId="{F31EA0E1-C572-4D5E-90BB-47D6DB441A32}" destId="{6FA7CCD8-44D3-4140-9E25-54F442609651}" srcOrd="5" destOrd="0" parTransId="{3267DA49-0C67-412B-A2CA-DEA6B144BF5C}" sibTransId="{68E86F10-5D8D-48EA-B32B-679E13C6F1A1}"/>
    <dgm:cxn modelId="{AE396B8D-9A48-4CC7-BB75-52744D2DD909}" type="presParOf" srcId="{1239AA42-1FB5-4C4D-8444-937514274BFF}" destId="{5218A1C4-69DE-49C1-BCF6-438002B8D866}" srcOrd="0" destOrd="0" presId="urn:microsoft.com/office/officeart/2005/8/layout/cycle1"/>
    <dgm:cxn modelId="{6B9DE9EF-3472-4466-9AF2-F4F01B50B46F}" type="presParOf" srcId="{1239AA42-1FB5-4C4D-8444-937514274BFF}" destId="{BA88C9CB-4723-4B58-A8CB-8EB816AACADA}" srcOrd="1" destOrd="0" presId="urn:microsoft.com/office/officeart/2005/8/layout/cycle1"/>
    <dgm:cxn modelId="{252BEAA2-B8F1-4505-8647-FBAEBBBB83E5}" type="presParOf" srcId="{1239AA42-1FB5-4C4D-8444-937514274BFF}" destId="{D5013C76-1920-46DF-8F7C-2F1557837393}" srcOrd="2" destOrd="0" presId="urn:microsoft.com/office/officeart/2005/8/layout/cycle1"/>
    <dgm:cxn modelId="{3B6FC16F-A1B3-4CDF-A962-F58801BB96F7}" type="presParOf" srcId="{1239AA42-1FB5-4C4D-8444-937514274BFF}" destId="{265579FD-60D4-4A63-83D3-F53E493125C7}" srcOrd="3" destOrd="0" presId="urn:microsoft.com/office/officeart/2005/8/layout/cycle1"/>
    <dgm:cxn modelId="{9126E07C-7419-4509-94DB-366F6ECA23E4}" type="presParOf" srcId="{1239AA42-1FB5-4C4D-8444-937514274BFF}" destId="{5749421B-F374-46C1-937C-D2B0E0952B9C}" srcOrd="4" destOrd="0" presId="urn:microsoft.com/office/officeart/2005/8/layout/cycle1"/>
    <dgm:cxn modelId="{233DAE62-5C9F-4A5F-9C70-82576CA6781C}" type="presParOf" srcId="{1239AA42-1FB5-4C4D-8444-937514274BFF}" destId="{739A2425-A718-4E15-A06C-A61E3C0A25CC}" srcOrd="5" destOrd="0" presId="urn:microsoft.com/office/officeart/2005/8/layout/cycle1"/>
    <dgm:cxn modelId="{0057A230-7731-417A-86EE-BC70A0222DC9}" type="presParOf" srcId="{1239AA42-1FB5-4C4D-8444-937514274BFF}" destId="{24B6C9E0-F169-4984-B552-1A27AF9B6E89}" srcOrd="6" destOrd="0" presId="urn:microsoft.com/office/officeart/2005/8/layout/cycle1"/>
    <dgm:cxn modelId="{156D58D4-EDFA-42DD-AAB0-CD4A61FD64C8}" type="presParOf" srcId="{1239AA42-1FB5-4C4D-8444-937514274BFF}" destId="{93B31D3A-9C5D-4B88-A2B9-9E413DC6B7A4}" srcOrd="7" destOrd="0" presId="urn:microsoft.com/office/officeart/2005/8/layout/cycle1"/>
    <dgm:cxn modelId="{CD5523A5-1DBE-42ED-9060-E2B53B204301}" type="presParOf" srcId="{1239AA42-1FB5-4C4D-8444-937514274BFF}" destId="{CCAB6C18-5654-4E5B-9882-14934A8A0258}" srcOrd="8" destOrd="0" presId="urn:microsoft.com/office/officeart/2005/8/layout/cycle1"/>
    <dgm:cxn modelId="{5B8E35A1-FD54-48C2-A06D-54FF0C163FBF}" type="presParOf" srcId="{1239AA42-1FB5-4C4D-8444-937514274BFF}" destId="{E3303ADB-B092-439A-9B46-22CC051069FB}" srcOrd="9" destOrd="0" presId="urn:microsoft.com/office/officeart/2005/8/layout/cycle1"/>
    <dgm:cxn modelId="{B2F0F82F-2321-4132-A593-F5366609F691}" type="presParOf" srcId="{1239AA42-1FB5-4C4D-8444-937514274BFF}" destId="{A7687337-B8BB-429A-9456-E169B02CB57D}" srcOrd="10" destOrd="0" presId="urn:microsoft.com/office/officeart/2005/8/layout/cycle1"/>
    <dgm:cxn modelId="{189DAFFA-F995-4610-99F3-04BDAC75A3D1}" type="presParOf" srcId="{1239AA42-1FB5-4C4D-8444-937514274BFF}" destId="{AD840DFF-106F-42CE-863F-BE29D038C42D}" srcOrd="11" destOrd="0" presId="urn:microsoft.com/office/officeart/2005/8/layout/cycle1"/>
    <dgm:cxn modelId="{B421B6C4-FD75-41BA-8A98-8E64E74039CD}" type="presParOf" srcId="{1239AA42-1FB5-4C4D-8444-937514274BFF}" destId="{E308CB4D-027F-47E7-AFF3-2C51262D0DB4}" srcOrd="12" destOrd="0" presId="urn:microsoft.com/office/officeart/2005/8/layout/cycle1"/>
    <dgm:cxn modelId="{3F9DBEE2-1767-4337-B1B0-65E3716D4676}" type="presParOf" srcId="{1239AA42-1FB5-4C4D-8444-937514274BFF}" destId="{6EBEE66E-D2FB-4DEF-9E18-D62AF38CCE13}" srcOrd="13" destOrd="0" presId="urn:microsoft.com/office/officeart/2005/8/layout/cycle1"/>
    <dgm:cxn modelId="{7CD14796-7A5B-4764-8CD1-DF50239FB4A8}" type="presParOf" srcId="{1239AA42-1FB5-4C4D-8444-937514274BFF}" destId="{C721C105-5E28-4C47-91CB-ACF19AF3D52D}" srcOrd="14" destOrd="0" presId="urn:microsoft.com/office/officeart/2005/8/layout/cycle1"/>
    <dgm:cxn modelId="{BC94F59F-AE9C-4627-8AE9-6EAE6FC2103E}" type="presParOf" srcId="{1239AA42-1FB5-4C4D-8444-937514274BFF}" destId="{A5C22127-2F40-4E61-8979-552A38F150E0}" srcOrd="15" destOrd="0" presId="urn:microsoft.com/office/officeart/2005/8/layout/cycle1"/>
    <dgm:cxn modelId="{8A7C1986-DC88-494D-8157-B9C4B9F426E6}" type="presParOf" srcId="{1239AA42-1FB5-4C4D-8444-937514274BFF}" destId="{2A79C519-6612-45BB-BC33-6333485FBE79}" srcOrd="16" destOrd="0" presId="urn:microsoft.com/office/officeart/2005/8/layout/cycle1"/>
    <dgm:cxn modelId="{DBD21125-33EE-49AE-8CA3-82A2A1D40571}" type="presParOf" srcId="{1239AA42-1FB5-4C4D-8444-937514274BFF}" destId="{D7F59E7F-2535-47E9-8D76-F88F4782DA9E}" srcOrd="17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88C9CB-4723-4B58-A8CB-8EB816AACADA}">
      <dsp:nvSpPr>
        <dsp:cNvPr id="0" name=""/>
        <dsp:cNvSpPr/>
      </dsp:nvSpPr>
      <dsp:spPr>
        <a:xfrm>
          <a:off x="2969113" y="10183"/>
          <a:ext cx="997512" cy="741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>
              <a:latin typeface="Aptos Display" panose="020B0004020202090204" pitchFamily="34" charset="0"/>
            </a:rPr>
            <a:t>Подготовил документы</a:t>
          </a:r>
        </a:p>
      </dsp:txBody>
      <dsp:txXfrm>
        <a:off x="2969113" y="10183"/>
        <a:ext cx="997512" cy="741557"/>
      </dsp:txXfrm>
    </dsp:sp>
    <dsp:sp modelId="{D5013C76-1920-46DF-8F7C-2F1557837393}">
      <dsp:nvSpPr>
        <dsp:cNvPr id="0" name=""/>
        <dsp:cNvSpPr/>
      </dsp:nvSpPr>
      <dsp:spPr>
        <a:xfrm>
          <a:off x="828200" y="2534"/>
          <a:ext cx="3623995" cy="3623995"/>
        </a:xfrm>
        <a:prstGeom prst="circularArrow">
          <a:avLst>
            <a:gd name="adj1" fmla="val 3990"/>
            <a:gd name="adj2" fmla="val 250311"/>
            <a:gd name="adj3" fmla="val 20573084"/>
            <a:gd name="adj4" fmla="val 19203369"/>
            <a:gd name="adj5" fmla="val 4655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749421B-F374-46C1-937C-D2B0E0952B9C}">
      <dsp:nvSpPr>
        <dsp:cNvPr id="0" name=""/>
        <dsp:cNvSpPr/>
      </dsp:nvSpPr>
      <dsp:spPr>
        <a:xfrm>
          <a:off x="3924762" y="1443753"/>
          <a:ext cx="741557" cy="741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>
              <a:latin typeface="Aptos Display" panose="020B0004020202090204" pitchFamily="34" charset="0"/>
            </a:rPr>
            <a:t>По цепочке согласовал</a:t>
          </a:r>
        </a:p>
      </dsp:txBody>
      <dsp:txXfrm>
        <a:off x="3924762" y="1443753"/>
        <a:ext cx="741557" cy="741557"/>
      </dsp:txXfrm>
    </dsp:sp>
    <dsp:sp modelId="{739A2425-A718-4E15-A06C-A61E3C0A25CC}">
      <dsp:nvSpPr>
        <dsp:cNvPr id="0" name=""/>
        <dsp:cNvSpPr/>
      </dsp:nvSpPr>
      <dsp:spPr>
        <a:xfrm>
          <a:off x="828200" y="2534"/>
          <a:ext cx="3623995" cy="3623995"/>
        </a:xfrm>
        <a:prstGeom prst="circularArrow">
          <a:avLst>
            <a:gd name="adj1" fmla="val 3990"/>
            <a:gd name="adj2" fmla="val 250311"/>
            <a:gd name="adj3" fmla="val 2366601"/>
            <a:gd name="adj4" fmla="val 776606"/>
            <a:gd name="adj5" fmla="val 4655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3B31D3A-9C5D-4B88-A2B9-9E413DC6B7A4}">
      <dsp:nvSpPr>
        <dsp:cNvPr id="0" name=""/>
        <dsp:cNvSpPr/>
      </dsp:nvSpPr>
      <dsp:spPr>
        <a:xfrm>
          <a:off x="3097091" y="2877323"/>
          <a:ext cx="741557" cy="741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>
              <a:latin typeface="Aptos Display" panose="020B0004020202090204" pitchFamily="34" charset="0"/>
            </a:rPr>
            <a:t>Подписал у директора</a:t>
          </a:r>
        </a:p>
      </dsp:txBody>
      <dsp:txXfrm>
        <a:off x="3097091" y="2877323"/>
        <a:ext cx="741557" cy="741557"/>
      </dsp:txXfrm>
    </dsp:sp>
    <dsp:sp modelId="{CCAB6C18-5654-4E5B-9882-14934A8A0258}">
      <dsp:nvSpPr>
        <dsp:cNvPr id="0" name=""/>
        <dsp:cNvSpPr/>
      </dsp:nvSpPr>
      <dsp:spPr>
        <a:xfrm>
          <a:off x="828200" y="2534"/>
          <a:ext cx="3623995" cy="3623995"/>
        </a:xfrm>
        <a:prstGeom prst="circularArrow">
          <a:avLst>
            <a:gd name="adj1" fmla="val 3990"/>
            <a:gd name="adj2" fmla="val 250311"/>
            <a:gd name="adj3" fmla="val 5979021"/>
            <a:gd name="adj4" fmla="val 4438663"/>
            <a:gd name="adj5" fmla="val 4655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7687337-B8BB-429A-9456-E169B02CB57D}">
      <dsp:nvSpPr>
        <dsp:cNvPr id="0" name=""/>
        <dsp:cNvSpPr/>
      </dsp:nvSpPr>
      <dsp:spPr>
        <a:xfrm>
          <a:off x="1380331" y="2877323"/>
          <a:ext cx="864388" cy="741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>
              <a:latin typeface="Aptos Display" panose="020B0004020202090204" pitchFamily="34" charset="0"/>
            </a:rPr>
            <a:t>Обменялся оригиналами</a:t>
          </a:r>
        </a:p>
      </dsp:txBody>
      <dsp:txXfrm>
        <a:off x="1380331" y="2877323"/>
        <a:ext cx="864388" cy="741557"/>
      </dsp:txXfrm>
    </dsp:sp>
    <dsp:sp modelId="{AD840DFF-106F-42CE-863F-BE29D038C42D}">
      <dsp:nvSpPr>
        <dsp:cNvPr id="0" name=""/>
        <dsp:cNvSpPr/>
      </dsp:nvSpPr>
      <dsp:spPr>
        <a:xfrm>
          <a:off x="828200" y="2534"/>
          <a:ext cx="3623995" cy="3623995"/>
        </a:xfrm>
        <a:prstGeom prst="circularArrow">
          <a:avLst>
            <a:gd name="adj1" fmla="val 3990"/>
            <a:gd name="adj2" fmla="val 250311"/>
            <a:gd name="adj3" fmla="val 9773084"/>
            <a:gd name="adj4" fmla="val 8373625"/>
            <a:gd name="adj5" fmla="val 4655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EBEE66E-D2FB-4DEF-9E18-D62AF38CCE13}">
      <dsp:nvSpPr>
        <dsp:cNvPr id="0" name=""/>
        <dsp:cNvSpPr/>
      </dsp:nvSpPr>
      <dsp:spPr>
        <a:xfrm>
          <a:off x="421482" y="1443753"/>
          <a:ext cx="1126744" cy="741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>
              <a:latin typeface="Aptos Display" panose="020B0004020202090204" pitchFamily="34" charset="0"/>
            </a:rPr>
            <a:t>Повторить при необходимости</a:t>
          </a:r>
        </a:p>
      </dsp:txBody>
      <dsp:txXfrm>
        <a:off x="421482" y="1443753"/>
        <a:ext cx="1126744" cy="741557"/>
      </dsp:txXfrm>
    </dsp:sp>
    <dsp:sp modelId="{C721C105-5E28-4C47-91CB-ACF19AF3D52D}">
      <dsp:nvSpPr>
        <dsp:cNvPr id="0" name=""/>
        <dsp:cNvSpPr/>
      </dsp:nvSpPr>
      <dsp:spPr>
        <a:xfrm>
          <a:off x="828200" y="2534"/>
          <a:ext cx="3623995" cy="3623995"/>
        </a:xfrm>
        <a:prstGeom prst="circularArrow">
          <a:avLst>
            <a:gd name="adj1" fmla="val 3990"/>
            <a:gd name="adj2" fmla="val 250311"/>
            <a:gd name="adj3" fmla="val 12946320"/>
            <a:gd name="adj4" fmla="val 11576606"/>
            <a:gd name="adj5" fmla="val 4655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A79C519-6612-45BB-BC33-6333485FBE79}">
      <dsp:nvSpPr>
        <dsp:cNvPr id="0" name=""/>
        <dsp:cNvSpPr/>
      </dsp:nvSpPr>
      <dsp:spPr>
        <a:xfrm>
          <a:off x="1369475" y="10183"/>
          <a:ext cx="886101" cy="741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>
              <a:latin typeface="Aptos Display" panose="020B0004020202090204" pitchFamily="34" charset="0"/>
            </a:rPr>
            <a:t>Собрал информацию</a:t>
          </a:r>
        </a:p>
      </dsp:txBody>
      <dsp:txXfrm>
        <a:off x="1369475" y="10183"/>
        <a:ext cx="886101" cy="741557"/>
      </dsp:txXfrm>
    </dsp:sp>
    <dsp:sp modelId="{D7F59E7F-2535-47E9-8D76-F88F4782DA9E}">
      <dsp:nvSpPr>
        <dsp:cNvPr id="0" name=""/>
        <dsp:cNvSpPr/>
      </dsp:nvSpPr>
      <dsp:spPr>
        <a:xfrm>
          <a:off x="828200" y="2534"/>
          <a:ext cx="3623995" cy="3623995"/>
        </a:xfrm>
        <a:prstGeom prst="circularArrow">
          <a:avLst>
            <a:gd name="adj1" fmla="val 3990"/>
            <a:gd name="adj2" fmla="val 250311"/>
            <a:gd name="adj3" fmla="val 16637343"/>
            <a:gd name="adj4" fmla="val 15393868"/>
            <a:gd name="adj5" fmla="val 4655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64495E-8768-4221-AEDC-620E64A76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43EED54-5FAC-4870-9B80-71CA17DCC7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0F931F-A2C6-45AC-84AA-9B786FE56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965E4-6311-4B2A-90EF-CDE17ABD2C88}" type="datetimeFigureOut">
              <a:rPr lang="ru-RU" smtClean="0"/>
              <a:t>02.08.2026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F23B5B-900F-4843-80B8-19602C5E6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1D2544-41BE-451C-B925-3EB9F6D00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33076-1090-4A22-A2FC-C895853168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974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2DA450-9B17-4A6F-A5C3-AE2C12F6D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8531E7-BF0A-46B0-A606-C2B7AEEF5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CAA30B-BD10-4FD5-A54F-E730BC41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965E4-6311-4B2A-90EF-CDE17ABD2C88}" type="datetimeFigureOut">
              <a:rPr lang="ru-RU" smtClean="0"/>
              <a:t>02.08.2026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173F0B-B86F-49F5-9840-561F71080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91DB33-C9C3-4D0B-B8ED-AECDDB52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33076-1090-4A22-A2FC-C895853168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867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E02FF9-DDB6-4C15-96B0-ECAA4CBB8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D10243-258D-46A8-869F-6C466258C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1A81D4-70CF-4995-ABE3-96D7B92C1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965E4-6311-4B2A-90EF-CDE17ABD2C88}" type="datetimeFigureOut">
              <a:rPr lang="ru-RU" smtClean="0"/>
              <a:t>02.08.2026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B3A649-38DF-45F1-9827-618FEBA38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EC14BC-42C7-4F3C-A20B-B861C8A1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33076-1090-4A22-A2FC-C895853168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3268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465CB-5B0C-4C1A-97EE-56FEF785F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74FB66-0200-45C0-AF64-31EF14EFC4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05BFE20-ED22-4A88-A0ED-49EEE8B4E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BAF063-AB5B-45AD-846D-EB2156E1B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965E4-6311-4B2A-90EF-CDE17ABD2C88}" type="datetimeFigureOut">
              <a:rPr lang="ru-RU" smtClean="0"/>
              <a:t>02.08.2026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7B562B-D724-476B-B76B-830C3A537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7C50DA-4EAC-4317-8899-266A6B8F6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33076-1090-4A22-A2FC-C895853168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056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7D49E8-08C9-403A-BFD7-BBE4EAFA0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B439AD-4A41-4133-8801-41FB4A582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EC8FD0-1E62-4D84-BCC8-5B6C55A4D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3446783-E71F-4756-829A-A82DF23147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181283A-C4A7-4019-89F5-A35657608B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E5DB360-C703-4441-B5FF-050BFFE2A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965E4-6311-4B2A-90EF-CDE17ABD2C88}" type="datetimeFigureOut">
              <a:rPr lang="ru-RU" smtClean="0"/>
              <a:t>02.08.2026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0FDD909-42B1-422B-973E-E938B6B68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22A9BE3-7A2B-48D5-B54D-1C93CB7A9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33076-1090-4A22-A2FC-C895853168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0446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759D8B-CA4A-485D-86ED-01C7A4E2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DAA27C7-5183-4D5B-8944-518A788F0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965E4-6311-4B2A-90EF-CDE17ABD2C88}" type="datetimeFigureOut">
              <a:rPr lang="ru-RU" smtClean="0"/>
              <a:t>02.08.2026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227827C-6416-41F4-94FE-55F991387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5629381-3241-4D4F-81D0-4C5479CC9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33076-1090-4A22-A2FC-C895853168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461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8FD300F-C8D2-4775-AE16-EB926111C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965E4-6311-4B2A-90EF-CDE17ABD2C88}" type="datetimeFigureOut">
              <a:rPr lang="ru-RU" smtClean="0"/>
              <a:t>02.08.2026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C5562B5-9EB7-4165-9FC0-F59814671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C08BD2-B92B-45D7-9EBD-052F6AE2E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33076-1090-4A22-A2FC-C895853168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1825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EF0E59-80C4-4A11-95C6-D2708AF94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9C5378-EFD1-4986-B09F-C57BA9EBF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8167FF-2A9E-475C-8CFE-695ADCDF1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3DC17B-A910-41B3-93C1-E632BECBE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965E4-6311-4B2A-90EF-CDE17ABD2C88}" type="datetimeFigureOut">
              <a:rPr lang="ru-RU" smtClean="0"/>
              <a:t>02.08.2026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14799B1-3A92-4C61-A049-7E6D350EA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E5F340-79D9-44FC-BDEE-464F000D1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33076-1090-4A22-A2FC-C895853168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1666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7A8CA9-7F32-4004-AA4E-73C336883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6E5B7E2-F735-4EFA-A9ED-053A1B92D1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FD9D054-0B10-4B29-8412-B38EA5995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5C24F9D-D3BF-426A-B7A5-872173644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965E4-6311-4B2A-90EF-CDE17ABD2C88}" type="datetimeFigureOut">
              <a:rPr lang="ru-RU" smtClean="0"/>
              <a:t>02.08.2026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2C4887F-5A9C-4630-85D7-9CC061B62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A87ADDA-EDF1-4C47-9CFB-CF8B30BE2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33076-1090-4A22-A2FC-C895853168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8598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723C60-937C-4D16-95BD-23ACD293A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F9D4BE4-0CF8-43D7-99AB-E2D810D92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AC8A25-31DD-429A-B8B5-92240A566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965E4-6311-4B2A-90EF-CDE17ABD2C88}" type="datetimeFigureOut">
              <a:rPr lang="ru-RU" smtClean="0"/>
              <a:t>02.08.2026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FBC471-26D5-475E-BAD9-BB6908748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12E987-7A34-4160-9BBA-FE9FCAFBB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33076-1090-4A22-A2FC-C895853168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8827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677653-1898-4790-A4EC-C8B64E068E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21AD7A-2163-4766-90D4-924C0588B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8049E7-641D-4DE9-9314-6CA1D9AF8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965E4-6311-4B2A-90EF-CDE17ABD2C88}" type="datetimeFigureOut">
              <a:rPr lang="ru-RU" smtClean="0"/>
              <a:t>02.08.2026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05CED4-AB75-4529-B818-8A0560FB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526677-0499-4BD7-A597-01DFED2E0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33076-1090-4A22-A2FC-C895853168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7361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3467E0-84AC-45FB-A677-5A4410955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1493E8-8993-4230-BF82-393969990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21A498-7009-4E6A-9C2E-3E12603990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965E4-6311-4B2A-90EF-CDE17ABD2C88}" type="datetimeFigureOut">
              <a:rPr lang="ru-RU" smtClean="0"/>
              <a:t>02.08.2026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B0FA6B-C683-47D5-98C4-52DF9D2D1C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801534-88D3-497B-80BE-E2DA01FAF3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933076-1090-4A22-A2FC-C895853168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1319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onfluence.msk.ru/pages/viewpage.action?pageId=1071262716" TargetMode="External"/><Relationship Id="rId5" Type="http://schemas.openxmlformats.org/officeDocument/2006/relationships/hyperlink" Target="https://confluence.msk.ru/pages/viewpage.action?pageId=1141326950" TargetMode="External"/><Relationship Id="rId4" Type="http://schemas.openxmlformats.org/officeDocument/2006/relationships/hyperlink" Target="https://confluence.msk.ru/pages/viewpage.action?pageId=1131159134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0A6FF7-E878-429C-BF3E-A067768B5F90}"/>
              </a:ext>
            </a:extLst>
          </p:cNvPr>
          <p:cNvSpPr txBox="1"/>
          <p:nvPr/>
        </p:nvSpPr>
        <p:spPr>
          <a:xfrm>
            <a:off x="783729" y="760497"/>
            <a:ext cx="7689711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4000" dirty="0">
                <a:latin typeface="Aptos ExtraBold" panose="020B0004020202020204" pitchFamily="34" charset="0"/>
              </a:rPr>
              <a:t>ПРОЦЕСС ПО</a:t>
            </a:r>
          </a:p>
          <a:p>
            <a:r>
              <a:rPr lang="ru-RU" sz="4000" dirty="0">
                <a:latin typeface="Aptos ExtraBold" panose="020B0004020202020204" pitchFamily="34" charset="0"/>
              </a:rPr>
              <a:t>РАБОТЕ С ПОДРЯДЧИКАМИ: ОБЗОР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DD4E06-5B9B-4B1C-A78A-9B482B015F33}"/>
              </a:ext>
            </a:extLst>
          </p:cNvPr>
          <p:cNvSpPr txBox="1"/>
          <p:nvPr/>
        </p:nvSpPr>
        <p:spPr>
          <a:xfrm>
            <a:off x="892371" y="3429000"/>
            <a:ext cx="222202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ptos SemiBold" panose="020B0004020202020204" pitchFamily="34" charset="0"/>
              </a:rPr>
              <a:t>БЕРИ КОФЕ/ЧАЙ,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334506-7D70-4F60-B63C-DB048A1E654E}"/>
              </a:ext>
            </a:extLst>
          </p:cNvPr>
          <p:cNvSpPr txBox="1"/>
          <p:nvPr/>
        </p:nvSpPr>
        <p:spPr>
          <a:xfrm>
            <a:off x="3735719" y="4160547"/>
            <a:ext cx="3515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ptos SemiBold" panose="020B0004020202020204" pitchFamily="34" charset="0"/>
              </a:rPr>
              <a:t>ВКЛЮЧАЙ ПОКАЗ СЛАЙДОВ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082ACD-8C5D-418B-B418-B8A7390D77A1}"/>
              </a:ext>
            </a:extLst>
          </p:cNvPr>
          <p:cNvSpPr txBox="1"/>
          <p:nvPr/>
        </p:nvSpPr>
        <p:spPr>
          <a:xfrm>
            <a:off x="7486707" y="5024045"/>
            <a:ext cx="4481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Aptos SemiBold" panose="020B0004020202020204" pitchFamily="34" charset="0"/>
              </a:rPr>
              <a:t>И ПОГНАЛИ РАЗБИРАТЬСЯ В ПРОЦЕССЕ</a:t>
            </a:r>
          </a:p>
        </p:txBody>
      </p:sp>
    </p:spTree>
    <p:extLst>
      <p:ext uri="{BB962C8B-B14F-4D97-AF65-F5344CB8AC3E}">
        <p14:creationId xmlns:p14="http://schemas.microsoft.com/office/powerpoint/2010/main" val="1308967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7A1A8B-95FE-4E33-BE25-46181DB10A9B}"/>
              </a:ext>
            </a:extLst>
          </p:cNvPr>
          <p:cNvSpPr txBox="1"/>
          <p:nvPr/>
        </p:nvSpPr>
        <p:spPr>
          <a:xfrm>
            <a:off x="10835" y="369803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КТО ТАКИЕ ПОДРЯДЧИКИ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89E1F8-87BC-429B-B07E-15C84293F2B9}"/>
              </a:ext>
            </a:extLst>
          </p:cNvPr>
          <p:cNvSpPr txBox="1"/>
          <p:nvPr/>
        </p:nvSpPr>
        <p:spPr>
          <a:xfrm>
            <a:off x="9737" y="4226136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ФИШКА ПРОЦЕССА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2A175-482C-4647-A6F9-587A81C05748}"/>
              </a:ext>
            </a:extLst>
          </p:cNvPr>
          <p:cNvSpPr txBox="1"/>
          <p:nvPr/>
        </p:nvSpPr>
        <p:spPr>
          <a:xfrm>
            <a:off x="9737" y="4838919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ЛЮДИ И ОТВЕТСТВЕННОСТЬ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822FDB-A71E-4430-96D4-718BEF6079D5}"/>
              </a:ext>
            </a:extLst>
          </p:cNvPr>
          <p:cNvSpPr txBox="1"/>
          <p:nvPr/>
        </p:nvSpPr>
        <p:spPr>
          <a:xfrm>
            <a:off x="9737" y="5451702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СХЕМА ДВИЖЕНИЯ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FF747F-2B71-491B-86D8-5895AC52897C}"/>
              </a:ext>
            </a:extLst>
          </p:cNvPr>
          <p:cNvSpPr txBox="1"/>
          <p:nvPr/>
        </p:nvSpPr>
        <p:spPr>
          <a:xfrm>
            <a:off x="9737" y="6062129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РАЗБОР ДЕТАЛЕЙ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5D8A57-B210-4072-8E01-8A3D368E0B97}"/>
              </a:ext>
            </a:extLst>
          </p:cNvPr>
          <p:cNvSpPr txBox="1"/>
          <p:nvPr/>
        </p:nvSpPr>
        <p:spPr>
          <a:xfrm>
            <a:off x="9737" y="6673103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РАБОЧАЯ СТАНЦИЯ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D8494E-4E64-40F7-B2A9-DB76B1596CCB}"/>
              </a:ext>
            </a:extLst>
          </p:cNvPr>
          <p:cNvSpPr txBox="1"/>
          <p:nvPr/>
        </p:nvSpPr>
        <p:spPr>
          <a:xfrm>
            <a:off x="9737" y="7284077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ТИПИЧНЫЕ ГРАБЛИ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C0B9D8-8258-421D-B390-E04ACA9FD400}"/>
              </a:ext>
            </a:extLst>
          </p:cNvPr>
          <p:cNvSpPr txBox="1"/>
          <p:nvPr/>
        </p:nvSpPr>
        <p:spPr>
          <a:xfrm>
            <a:off x="9737" y="7890926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ОШИБКА 404</a:t>
            </a:r>
          </a:p>
        </p:txBody>
      </p:sp>
      <p:sp>
        <p:nvSpPr>
          <p:cNvPr id="22" name="Равнобедренный треугольник 21">
            <a:extLst>
              <a:ext uri="{FF2B5EF4-FFF2-40B4-BE49-F238E27FC236}">
                <a16:creationId xmlns:a16="http://schemas.microsoft.com/office/drawing/2014/main" id="{3C87D4E0-FC58-4777-B912-9681101452A8}"/>
              </a:ext>
            </a:extLst>
          </p:cNvPr>
          <p:cNvSpPr/>
          <p:nvPr/>
        </p:nvSpPr>
        <p:spPr>
          <a:xfrm rot="5400000">
            <a:off x="-50334" y="3206826"/>
            <a:ext cx="503339" cy="402671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BE416E-4430-4712-A5CD-A70FCB53907C}"/>
              </a:ext>
            </a:extLst>
          </p:cNvPr>
          <p:cNvSpPr txBox="1"/>
          <p:nvPr/>
        </p:nvSpPr>
        <p:spPr>
          <a:xfrm>
            <a:off x="6181725" y="802439"/>
            <a:ext cx="6010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Aptos ExtraBold" panose="020B0004020202020204" pitchFamily="34" charset="0"/>
              </a:rPr>
              <a:t>Это наш внутренний регламент по работе </a:t>
            </a:r>
            <a:br>
              <a:rPr lang="ru-RU" dirty="0">
                <a:latin typeface="Aptos ExtraBold" panose="020B0004020202020204" pitchFamily="34" charset="0"/>
              </a:rPr>
            </a:br>
            <a:r>
              <a:rPr lang="ru-RU" dirty="0">
                <a:latin typeface="Aptos ExtraBold" panose="020B0004020202020204" pitchFamily="34" charset="0"/>
              </a:rPr>
              <a:t>с подрядчиками, привлекаемыми на проект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93979F-974F-43AF-A71C-81E6D6B474E2}"/>
              </a:ext>
            </a:extLst>
          </p:cNvPr>
          <p:cNvSpPr txBox="1"/>
          <p:nvPr/>
        </p:nvSpPr>
        <p:spPr>
          <a:xfrm>
            <a:off x="6181725" y="1825939"/>
            <a:ext cx="5943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Aptos SemiBold" panose="020B0004020202020204" pitchFamily="34" charset="0"/>
              </a:rPr>
              <a:t>Читай, пользуйся, а если найдешь неточности – </a:t>
            </a:r>
            <a:br>
              <a:rPr lang="ru-RU" dirty="0">
                <a:latin typeface="Aptos SemiBold" panose="020B0004020202020204" pitchFamily="34" charset="0"/>
              </a:rPr>
            </a:br>
            <a:r>
              <a:rPr lang="ru-RU" dirty="0">
                <a:latin typeface="Aptos SemiBold" panose="020B0004020202020204" pitchFamily="34" charset="0"/>
              </a:rPr>
              <a:t>не стесняйся вносить корректировки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6F2D0E-8503-4072-95D5-ED6C274367BA}"/>
              </a:ext>
            </a:extLst>
          </p:cNvPr>
          <p:cNvSpPr txBox="1"/>
          <p:nvPr/>
        </p:nvSpPr>
        <p:spPr>
          <a:xfrm>
            <a:off x="976035" y="316463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ptos ExtraBold" panose="020B0004020202020204" pitchFamily="34" charset="0"/>
              </a:rPr>
              <a:t>ЧТО ЭТО ВООБЩЕ ТАКОЕ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631CDF8-5AA2-4FC7-A86B-8C32E206A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857" y="2849439"/>
            <a:ext cx="4444009" cy="333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687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7A1A8B-95FE-4E33-BE25-46181DB10A9B}"/>
              </a:ext>
            </a:extLst>
          </p:cNvPr>
          <p:cNvSpPr txBox="1"/>
          <p:nvPr/>
        </p:nvSpPr>
        <p:spPr>
          <a:xfrm>
            <a:off x="953810" y="317733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ptos ExtraBold" panose="020B0004020202020204" pitchFamily="34" charset="0"/>
              </a:rPr>
              <a:t>КТО ТАКИЕ ПОДРЯДЧИКИ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89E1F8-87BC-429B-B07E-15C84293F2B9}"/>
              </a:ext>
            </a:extLst>
          </p:cNvPr>
          <p:cNvSpPr txBox="1"/>
          <p:nvPr/>
        </p:nvSpPr>
        <p:spPr>
          <a:xfrm>
            <a:off x="9737" y="3705436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ФИШКА ПРОЦЕССА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2A175-482C-4647-A6F9-587A81C05748}"/>
              </a:ext>
            </a:extLst>
          </p:cNvPr>
          <p:cNvSpPr txBox="1"/>
          <p:nvPr/>
        </p:nvSpPr>
        <p:spPr>
          <a:xfrm>
            <a:off x="9737" y="4318219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ЛЮДИ И ОТВЕТСТВЕННОСТЬ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822FDB-A71E-4430-96D4-718BEF6079D5}"/>
              </a:ext>
            </a:extLst>
          </p:cNvPr>
          <p:cNvSpPr txBox="1"/>
          <p:nvPr/>
        </p:nvSpPr>
        <p:spPr>
          <a:xfrm>
            <a:off x="9737" y="4931002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СХЕМА ДВИЖЕНИЯ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FF747F-2B71-491B-86D8-5895AC52897C}"/>
              </a:ext>
            </a:extLst>
          </p:cNvPr>
          <p:cNvSpPr txBox="1"/>
          <p:nvPr/>
        </p:nvSpPr>
        <p:spPr>
          <a:xfrm>
            <a:off x="9737" y="5541429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РАЗБОР ДЕТАЛЕЙ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5D8A57-B210-4072-8E01-8A3D368E0B97}"/>
              </a:ext>
            </a:extLst>
          </p:cNvPr>
          <p:cNvSpPr txBox="1"/>
          <p:nvPr/>
        </p:nvSpPr>
        <p:spPr>
          <a:xfrm>
            <a:off x="9737" y="6152403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РАБОЧАЯ СТАНЦИЯ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D8494E-4E64-40F7-B2A9-DB76B1596CCB}"/>
              </a:ext>
            </a:extLst>
          </p:cNvPr>
          <p:cNvSpPr txBox="1"/>
          <p:nvPr/>
        </p:nvSpPr>
        <p:spPr>
          <a:xfrm>
            <a:off x="9737" y="6763377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ТИПИЧНЫЕ ГРАБЛИ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C0B9D8-8258-421D-B390-E04ACA9FD400}"/>
              </a:ext>
            </a:extLst>
          </p:cNvPr>
          <p:cNvSpPr txBox="1"/>
          <p:nvPr/>
        </p:nvSpPr>
        <p:spPr>
          <a:xfrm>
            <a:off x="9737" y="7370226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ОШИБКА 404</a:t>
            </a:r>
          </a:p>
        </p:txBody>
      </p:sp>
      <p:sp>
        <p:nvSpPr>
          <p:cNvPr id="22" name="Равнобедренный треугольник 21">
            <a:extLst>
              <a:ext uri="{FF2B5EF4-FFF2-40B4-BE49-F238E27FC236}">
                <a16:creationId xmlns:a16="http://schemas.microsoft.com/office/drawing/2014/main" id="{3C87D4E0-FC58-4777-B912-9681101452A8}"/>
              </a:ext>
            </a:extLst>
          </p:cNvPr>
          <p:cNvSpPr/>
          <p:nvPr/>
        </p:nvSpPr>
        <p:spPr>
          <a:xfrm rot="5400000">
            <a:off x="-50334" y="3206826"/>
            <a:ext cx="503339" cy="402671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6F2D0E-8503-4072-95D5-ED6C274367BA}"/>
              </a:ext>
            </a:extLst>
          </p:cNvPr>
          <p:cNvSpPr txBox="1"/>
          <p:nvPr/>
        </p:nvSpPr>
        <p:spPr>
          <a:xfrm>
            <a:off x="10835" y="264393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ЧТО ЭТО ВООБЩЕ ТАКОЕ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208715-E36F-4E76-B82D-E83A9BBDEEDC}"/>
              </a:ext>
            </a:extLst>
          </p:cNvPr>
          <p:cNvSpPr txBox="1"/>
          <p:nvPr/>
        </p:nvSpPr>
        <p:spPr>
          <a:xfrm>
            <a:off x="6096000" y="479256"/>
            <a:ext cx="54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ptos ExtraBold" panose="020B0004020202020204" pitchFamily="34" charset="0"/>
              </a:rPr>
              <a:t>ПОДРЯДЧИКИ – ЭТО НАЕМНЫЙ </a:t>
            </a:r>
            <a:r>
              <a:rPr lang="en-US" dirty="0">
                <a:latin typeface="Aptos ExtraBold" panose="020B0004020202020204" pitchFamily="34" charset="0"/>
              </a:rPr>
              <a:t>IT</a:t>
            </a:r>
            <a:r>
              <a:rPr lang="ru-RU" dirty="0">
                <a:latin typeface="Aptos ExtraBold" panose="020B0004020202020204" pitchFamily="34" charset="0"/>
              </a:rPr>
              <a:t>-БАТАЛЬОН</a:t>
            </a:r>
            <a:endParaRPr lang="ru-RU" dirty="0">
              <a:latin typeface="Aptos SemiBold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ED0907-9BB9-4D6F-BE32-19155FC03286}"/>
              </a:ext>
            </a:extLst>
          </p:cNvPr>
          <p:cNvSpPr txBox="1"/>
          <p:nvPr/>
        </p:nvSpPr>
        <p:spPr>
          <a:xfrm>
            <a:off x="6705943" y="941159"/>
            <a:ext cx="50422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0" i="0" dirty="0">
                <a:effectLst/>
                <a:latin typeface="Aptos SemiBold" panose="020B0004020202020204" pitchFamily="34" charset="0"/>
              </a:rPr>
              <a:t>Позвали — пришёл, задачу дали — сделал, получил оплату — ушёл в закат. </a:t>
            </a:r>
          </a:p>
          <a:p>
            <a:pPr algn="just"/>
            <a:r>
              <a:rPr lang="ru-RU" b="0" i="0" dirty="0">
                <a:effectLst/>
                <a:latin typeface="Aptos SemiBold" panose="020B0004020202020204" pitchFamily="34" charset="0"/>
              </a:rPr>
              <a:t>В штате не числится, а результат на столе</a:t>
            </a:r>
            <a:endParaRPr lang="ru-RU" dirty="0">
              <a:latin typeface="Aptos SemiBold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744066-3A43-4433-A043-E77602544BE6}"/>
              </a:ext>
            </a:extLst>
          </p:cNvPr>
          <p:cNvSpPr txBox="1"/>
          <p:nvPr/>
        </p:nvSpPr>
        <p:spPr>
          <a:xfrm>
            <a:off x="6095999" y="2151696"/>
            <a:ext cx="5652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ptos ExtraBold" panose="020B0004020202020204" pitchFamily="34" charset="0"/>
              </a:rPr>
              <a:t>КАКИМИ ОНИ БЫВАЮТ: </a:t>
            </a:r>
          </a:p>
          <a:p>
            <a:r>
              <a:rPr lang="ru-RU" dirty="0">
                <a:latin typeface="Aptos ExtraBold" panose="020B0004020202020204" pitchFamily="34" charset="0"/>
              </a:rPr>
              <a:t>(ПОМИМО ОЧЕВИДНОГО - ЮР. ИЛИ ФИЗ.ЛИЦА)</a:t>
            </a:r>
            <a:endParaRPr lang="ru-RU" dirty="0">
              <a:latin typeface="Aptos SemiBold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F8B74E-A93C-448B-BC14-C34902BFBA97}"/>
              </a:ext>
            </a:extLst>
          </p:cNvPr>
          <p:cNvSpPr txBox="1"/>
          <p:nvPr/>
        </p:nvSpPr>
        <p:spPr>
          <a:xfrm>
            <a:off x="6705943" y="2921167"/>
            <a:ext cx="4885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Aptos SemiBold" panose="020B0004020202020204" pitchFamily="34" charset="0"/>
              </a:rPr>
              <a:t>FIX</a:t>
            </a:r>
            <a:r>
              <a:rPr lang="ru-RU" b="1" dirty="0">
                <a:latin typeface="Aptos SemiBold" panose="020B0004020202020204" pitchFamily="34" charset="0"/>
              </a:rPr>
              <a:t>-подряд или "Пакетный тариф":</a:t>
            </a:r>
            <a:r>
              <a:rPr lang="ru-RU" b="1" i="0" dirty="0">
                <a:effectLst/>
                <a:latin typeface="Aptos SemiBold" panose="020B0004020202020204" pitchFamily="34" charset="0"/>
              </a:rPr>
              <a:t> </a:t>
            </a:r>
            <a:endParaRPr lang="ru-RU" dirty="0">
              <a:latin typeface="Aptos SemiBold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D3F648-03DD-4C12-AD44-6BAEDE69C803}"/>
              </a:ext>
            </a:extLst>
          </p:cNvPr>
          <p:cNvSpPr txBox="1"/>
          <p:nvPr/>
        </p:nvSpPr>
        <p:spPr>
          <a:xfrm>
            <a:off x="7794172" y="3322106"/>
            <a:ext cx="42846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ru-RU" dirty="0">
                <a:latin typeface="Aptos SemiBold" panose="020B0004020202020204" pitchFamily="34" charset="0"/>
              </a:rPr>
              <a:t>четкий список задач и дедлайн;</a:t>
            </a: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SemiBold" panose="020B0004020202020204" pitchFamily="34" charset="0"/>
              </a:rPr>
              <a:t>фиксированная сумма выплат;</a:t>
            </a: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SemiBold" panose="020B0004020202020204" pitchFamily="34" charset="0"/>
              </a:rPr>
              <a:t>р</a:t>
            </a:r>
            <a:r>
              <a:rPr lang="ru-RU" b="0" i="0" dirty="0">
                <a:effectLst/>
                <a:latin typeface="Aptos SemiBold" panose="020B0004020202020204" pitchFamily="34" charset="0"/>
              </a:rPr>
              <a:t>абота для тех, кто умеет точно </a:t>
            </a:r>
            <a:br>
              <a:rPr lang="ru-RU" b="0" i="0" dirty="0">
                <a:effectLst/>
                <a:latin typeface="Aptos SemiBold" panose="020B0004020202020204" pitchFamily="34" charset="0"/>
              </a:rPr>
            </a:br>
            <a:r>
              <a:rPr lang="ru-RU" b="0" i="0" dirty="0">
                <a:effectLst/>
                <a:latin typeface="Aptos SemiBold" panose="020B0004020202020204" pitchFamily="34" charset="0"/>
              </a:rPr>
              <a:t>в срок</a:t>
            </a:r>
            <a:endParaRPr lang="ru-RU" dirty="0">
              <a:latin typeface="Aptos SemiBold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328FE2-0F1D-46A1-92F5-749CB1F6D346}"/>
              </a:ext>
            </a:extLst>
          </p:cNvPr>
          <p:cNvSpPr txBox="1"/>
          <p:nvPr/>
        </p:nvSpPr>
        <p:spPr>
          <a:xfrm>
            <a:off x="6705942" y="5101670"/>
            <a:ext cx="5042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Aptos SemiBold" panose="020B0004020202020204" pitchFamily="34" charset="0"/>
              </a:rPr>
              <a:t>T&amp;M</a:t>
            </a:r>
            <a:r>
              <a:rPr lang="ru-RU" b="1" dirty="0">
                <a:latin typeface="Aptos SemiBold" panose="020B0004020202020204" pitchFamily="34" charset="0"/>
              </a:rPr>
              <a:t>-подряд или "</a:t>
            </a:r>
            <a:r>
              <a:rPr lang="en-US" b="1" i="0" dirty="0">
                <a:effectLst/>
                <a:latin typeface="Aptos SemiBold" panose="020B0004020202020204" pitchFamily="34" charset="0"/>
              </a:rPr>
              <a:t>IT-</a:t>
            </a:r>
            <a:r>
              <a:rPr lang="ru-RU" b="1" dirty="0">
                <a:latin typeface="Aptos SemiBold" panose="020B0004020202020204" pitchFamily="34" charset="0"/>
              </a:rPr>
              <a:t>мастер</a:t>
            </a:r>
            <a:r>
              <a:rPr lang="ru-RU" b="1" i="0" dirty="0">
                <a:effectLst/>
                <a:latin typeface="Aptos SemiBold" panose="020B0004020202020204" pitchFamily="34" charset="0"/>
              </a:rPr>
              <a:t> на час</a:t>
            </a:r>
            <a:r>
              <a:rPr lang="ru-RU" b="1" dirty="0">
                <a:latin typeface="Aptos SemiBold" panose="020B0004020202020204" pitchFamily="34" charset="0"/>
              </a:rPr>
              <a:t>":</a:t>
            </a:r>
            <a:r>
              <a:rPr lang="ru-RU" b="1" i="0" dirty="0">
                <a:effectLst/>
                <a:latin typeface="Aptos SemiBold" panose="020B0004020202020204" pitchFamily="34" charset="0"/>
              </a:rPr>
              <a:t> </a:t>
            </a:r>
            <a:endParaRPr lang="ru-RU" dirty="0">
              <a:latin typeface="Aptos SemiBold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6FD2DA-1BB9-48F2-AECC-D4AE43BF287A}"/>
              </a:ext>
            </a:extLst>
          </p:cNvPr>
          <p:cNvSpPr txBox="1"/>
          <p:nvPr/>
        </p:nvSpPr>
        <p:spPr>
          <a:xfrm>
            <a:off x="7794172" y="5473780"/>
            <a:ext cx="42846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ru-RU" dirty="0">
                <a:latin typeface="Aptos SemiBold" panose="020B0004020202020204" pitchFamily="34" charset="0"/>
              </a:rPr>
              <a:t>"почасовая аренда мозга";</a:t>
            </a: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SemiBold" panose="020B0004020202020204" pitchFamily="34" charset="0"/>
              </a:rPr>
              <a:t>и</a:t>
            </a:r>
            <a:r>
              <a:rPr lang="ru-RU" b="0" i="0" dirty="0">
                <a:effectLst/>
                <a:latin typeface="Aptos SemiBold" panose="020B0004020202020204" pitchFamily="34" charset="0"/>
              </a:rPr>
              <a:t>деально, когда объём плавает, </a:t>
            </a:r>
            <a:br>
              <a:rPr lang="ru-RU" b="0" i="0" dirty="0">
                <a:effectLst/>
                <a:latin typeface="Aptos SemiBold" panose="020B0004020202020204" pitchFamily="34" charset="0"/>
              </a:rPr>
            </a:br>
            <a:r>
              <a:rPr lang="ru-RU" b="0" i="0" dirty="0">
                <a:effectLst/>
                <a:latin typeface="Aptos SemiBold" panose="020B0004020202020204" pitchFamily="34" charset="0"/>
              </a:rPr>
              <a:t>а требования меняются на лету</a:t>
            </a:r>
            <a:endParaRPr lang="ru-RU" dirty="0">
              <a:latin typeface="Aptos SemiBold" panose="020B00040202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7C46638-1386-46CD-BBDB-3AD804F9C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151" y="3271635"/>
            <a:ext cx="1967606" cy="173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671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7A1A8B-95FE-4E33-BE25-46181DB10A9B}"/>
              </a:ext>
            </a:extLst>
          </p:cNvPr>
          <p:cNvSpPr txBox="1"/>
          <p:nvPr/>
        </p:nvSpPr>
        <p:spPr>
          <a:xfrm>
            <a:off x="10266" y="2637588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КТО ТАКИЕ ПОДРЯДЧИКИ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89E1F8-87BC-429B-B07E-15C84293F2B9}"/>
              </a:ext>
            </a:extLst>
          </p:cNvPr>
          <p:cNvSpPr txBox="1"/>
          <p:nvPr/>
        </p:nvSpPr>
        <p:spPr>
          <a:xfrm>
            <a:off x="944814" y="3172036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ptos ExtraBold" panose="020B0004020202020204" pitchFamily="34" charset="0"/>
              </a:rPr>
              <a:t>ФИШКА ПРОЦЕССА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2A175-482C-4647-A6F9-587A81C05748}"/>
              </a:ext>
            </a:extLst>
          </p:cNvPr>
          <p:cNvSpPr txBox="1"/>
          <p:nvPr/>
        </p:nvSpPr>
        <p:spPr>
          <a:xfrm>
            <a:off x="10266" y="3784819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ЛЮДИ И ОТВЕТСТВЕННОСТЬ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822FDB-A71E-4430-96D4-718BEF6079D5}"/>
              </a:ext>
            </a:extLst>
          </p:cNvPr>
          <p:cNvSpPr txBox="1"/>
          <p:nvPr/>
        </p:nvSpPr>
        <p:spPr>
          <a:xfrm>
            <a:off x="10266" y="4397602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СХЕМА ДВИЖЕНИЯ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FF747F-2B71-491B-86D8-5895AC52897C}"/>
              </a:ext>
            </a:extLst>
          </p:cNvPr>
          <p:cNvSpPr txBox="1"/>
          <p:nvPr/>
        </p:nvSpPr>
        <p:spPr>
          <a:xfrm>
            <a:off x="10266" y="5008029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РАЗБОР ДЕТАЛЕЙ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5D8A57-B210-4072-8E01-8A3D368E0B97}"/>
              </a:ext>
            </a:extLst>
          </p:cNvPr>
          <p:cNvSpPr txBox="1"/>
          <p:nvPr/>
        </p:nvSpPr>
        <p:spPr>
          <a:xfrm>
            <a:off x="10266" y="5619003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РАБОЧАЯ СТАНЦИЯ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D8494E-4E64-40F7-B2A9-DB76B1596CCB}"/>
              </a:ext>
            </a:extLst>
          </p:cNvPr>
          <p:cNvSpPr txBox="1"/>
          <p:nvPr/>
        </p:nvSpPr>
        <p:spPr>
          <a:xfrm>
            <a:off x="10266" y="6229977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ТИПИЧНЫЕ ГРАБЛИ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C0B9D8-8258-421D-B390-E04ACA9FD400}"/>
              </a:ext>
            </a:extLst>
          </p:cNvPr>
          <p:cNvSpPr txBox="1"/>
          <p:nvPr/>
        </p:nvSpPr>
        <p:spPr>
          <a:xfrm>
            <a:off x="10266" y="6836826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ОШИБКА 404</a:t>
            </a:r>
          </a:p>
        </p:txBody>
      </p:sp>
      <p:sp>
        <p:nvSpPr>
          <p:cNvPr id="22" name="Равнобедренный треугольник 21">
            <a:extLst>
              <a:ext uri="{FF2B5EF4-FFF2-40B4-BE49-F238E27FC236}">
                <a16:creationId xmlns:a16="http://schemas.microsoft.com/office/drawing/2014/main" id="{3C87D4E0-FC58-4777-B912-9681101452A8}"/>
              </a:ext>
            </a:extLst>
          </p:cNvPr>
          <p:cNvSpPr/>
          <p:nvPr/>
        </p:nvSpPr>
        <p:spPr>
          <a:xfrm rot="5400000">
            <a:off x="-50334" y="3227664"/>
            <a:ext cx="503339" cy="402671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855931-B4E4-4907-A5D7-591DA4FB4D34}"/>
              </a:ext>
            </a:extLst>
          </p:cNvPr>
          <p:cNvSpPr txBox="1"/>
          <p:nvPr/>
        </p:nvSpPr>
        <p:spPr>
          <a:xfrm>
            <a:off x="10835" y="209783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ЧТО ЭТО ВООБЩЕ ТАКОЕ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B435F5-457D-4BF8-995F-6D3C50B12081}"/>
              </a:ext>
            </a:extLst>
          </p:cNvPr>
          <p:cNvSpPr txBox="1"/>
          <p:nvPr/>
        </p:nvSpPr>
        <p:spPr>
          <a:xfrm>
            <a:off x="6096000" y="575760"/>
            <a:ext cx="5982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0" i="0" dirty="0">
                <a:effectLst/>
                <a:latin typeface="Aptos ExtraBold" panose="020B0004020202020204" pitchFamily="34" charset="0"/>
              </a:rPr>
              <a:t>Мы создали этот процесс, чтобы не тратить время на авралы и пожаротушение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D74BF3-5ED5-46E5-8F98-784DB198D645}"/>
              </a:ext>
            </a:extLst>
          </p:cNvPr>
          <p:cNvSpPr txBox="1"/>
          <p:nvPr/>
        </p:nvSpPr>
        <p:spPr>
          <a:xfrm>
            <a:off x="6096000" y="1735398"/>
            <a:ext cx="5742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i="0" dirty="0">
                <a:effectLst/>
                <a:latin typeface="Aptos Black" panose="020B0004020202020204" pitchFamily="34" charset="0"/>
              </a:rPr>
              <a:t>ЦЕЛЬ</a:t>
            </a:r>
            <a:r>
              <a:rPr lang="ru-RU" b="0" i="0" dirty="0">
                <a:effectLst/>
                <a:latin typeface="Aptos SemiBold" panose="020B0004020202020204" pitchFamily="34" charset="0"/>
              </a:rPr>
              <a:t> — минимум ошибок, максимум скорости </a:t>
            </a:r>
            <a:br>
              <a:rPr lang="ru-RU" b="0" i="0" dirty="0">
                <a:effectLst/>
                <a:latin typeface="Aptos SemiBold" panose="020B0004020202020204" pitchFamily="34" charset="0"/>
              </a:rPr>
            </a:br>
            <a:r>
              <a:rPr lang="ru-RU" b="0" i="0" dirty="0">
                <a:effectLst/>
                <a:latin typeface="Aptos SemiBold" panose="020B0004020202020204" pitchFamily="34" charset="0"/>
              </a:rPr>
              <a:t>и ноль вопросов «а что делать дальше?». </a:t>
            </a:r>
          </a:p>
          <a:p>
            <a:pPr algn="just"/>
            <a:r>
              <a:rPr lang="ru-RU" b="0" i="0" dirty="0">
                <a:effectLst/>
                <a:latin typeface="Aptos SemiBold" panose="020B0004020202020204" pitchFamily="34" charset="0"/>
              </a:rPr>
              <a:t>Всё прозрачно, всё под рукой</a:t>
            </a:r>
            <a:endParaRPr lang="ru-RU" dirty="0">
              <a:latin typeface="Aptos SemiBold" panose="020B00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7696C4C-5946-4E40-9A71-EB0529A062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64" b="96145" l="776" r="97500">
                        <a14:foregroundMark x1="41034" y1="31687" x2="41034" y2="31687"/>
                        <a14:foregroundMark x1="44655" y1="33133" x2="44655" y2="33133"/>
                        <a14:foregroundMark x1="40000" y1="8313" x2="40000" y2="8313"/>
                        <a14:foregroundMark x1="33276" y1="8313" x2="42845" y2="4096"/>
                        <a14:foregroundMark x1="23103" y1="48795" x2="23103" y2="48795"/>
                        <a14:foregroundMark x1="20431" y1="46265" x2="20431" y2="46265"/>
                        <a14:foregroundMark x1="21034" y1="45904" x2="14310" y2="60843"/>
                        <a14:foregroundMark x1="14310" y1="60843" x2="14310" y2="61084"/>
                        <a14:foregroundMark x1="19224" y1="46506" x2="15345" y2="49398"/>
                        <a14:foregroundMark x1="12500" y1="68434" x2="690" y2="82651"/>
                        <a14:foregroundMark x1="690" y1="82651" x2="8276" y2="93976"/>
                        <a14:foregroundMark x1="8276" y1="93976" x2="15172" y2="77831"/>
                        <a14:foregroundMark x1="15172" y1="77831" x2="12845" y2="68434"/>
                        <a14:foregroundMark x1="5517" y1="69639" x2="776" y2="87711"/>
                        <a14:foregroundMark x1="776" y1="87711" x2="6552" y2="70482"/>
                        <a14:foregroundMark x1="6552" y1="70482" x2="5776" y2="68795"/>
                        <a14:foregroundMark x1="3103" y1="71566" x2="3879" y2="72410"/>
                        <a14:foregroundMark x1="37759" y1="92048" x2="53879" y2="92410"/>
                        <a14:foregroundMark x1="18190" y1="94096" x2="45517" y2="96265"/>
                        <a14:foregroundMark x1="45517" y1="96265" x2="88966" y2="89639"/>
                        <a14:foregroundMark x1="88966" y1="89639" x2="88448" y2="74337"/>
                        <a14:foregroundMark x1="88448" y1="74337" x2="84483" y2="69277"/>
                        <a14:foregroundMark x1="80603" y1="94337" x2="97500" y2="87831"/>
                        <a14:foregroundMark x1="97500" y1="87831" x2="86552" y2="80964"/>
                        <a14:foregroundMark x1="86552" y1="80964" x2="77328" y2="95783"/>
                        <a14:foregroundMark x1="87500" y1="5783" x2="79921" y2="5021"/>
                        <a14:foregroundMark x1="74687" y1="5804" x2="68017" y2="15663"/>
                        <a14:foregroundMark x1="68017" y1="15663" x2="65690" y2="28554"/>
                        <a14:foregroundMark x1="81664" y1="4760" x2="88448" y2="15788"/>
                        <a14:foregroundMark x1="88448" y1="18000" x2="76552" y2="24096"/>
                        <a14:foregroundMark x1="76552" y1="24096" x2="74655" y2="31084"/>
                        <a14:foregroundMark x1="82536" y1="4629" x2="87500" y2="6627"/>
                        <a14:foregroundMark x1="88103" y1="7229" x2="83879" y2="21807"/>
                        <a14:foregroundMark x1="83879" y1="21807" x2="78534" y2="25181"/>
                        <a14:foregroundMark x1="87931" y1="6024" x2="88448" y2="17284"/>
                        <a14:foregroundMark x1="88707" y1="8313" x2="87931" y2="19759"/>
                        <a14:foregroundMark x1="87931" y1="7229" x2="84828" y2="21687"/>
                        <a14:foregroundMark x1="84828" y1="21687" x2="84828" y2="21687"/>
                        <a14:foregroundMark x1="87500" y1="6867" x2="88448" y2="18687"/>
                        <a14:foregroundMark x1="87672" y1="5542" x2="88276" y2="13494"/>
                        <a14:foregroundMark x1="87931" y1="6386" x2="87931" y2="6386"/>
                        <a14:foregroundMark x1="36897" y1="1807" x2="15862" y2="20361"/>
                        <a14:foregroundMark x1="15862" y1="20361" x2="9655" y2="33976"/>
                        <a14:foregroundMark x1="9655" y1="33976" x2="10259" y2="64578"/>
                        <a14:foregroundMark x1="10259" y1="64578" x2="948" y2="74940"/>
                        <a14:foregroundMark x1="948" y1="74940" x2="862" y2="75301"/>
                        <a14:foregroundMark x1="36552" y1="1205" x2="35086" y2="1205"/>
                        <a14:foregroundMark x1="88103" y1="6867" x2="85948" y2="22651"/>
                        <a14:foregroundMark x1="85948" y1="22651" x2="84655" y2="23735"/>
                        <a14:foregroundMark x1="87931" y1="6386" x2="88362" y2="21446"/>
                        <a14:foregroundMark x1="88362" y1="21446" x2="87931" y2="21687"/>
                        <a14:foregroundMark x1="42672" y1="57590" x2="42672" y2="57590"/>
                        <a14:foregroundMark x1="51207" y1="61325" x2="51207" y2="61325"/>
                        <a14:foregroundMark x1="43879" y1="56506" x2="43879" y2="56506"/>
                        <a14:foregroundMark x1="41638" y1="54458" x2="41638" y2="54458"/>
                        <a14:foregroundMark x1="45948" y1="53976" x2="37500" y2="65301"/>
                        <a14:foregroundMark x1="37500" y1="65301" x2="50603" y2="64940"/>
                        <a14:foregroundMark x1="50603" y1="64940" x2="46293" y2="53373"/>
                        <a14:foregroundMark x1="81552" y1="23735" x2="87672" y2="40964"/>
                        <a14:foregroundMark x1="87672" y1="40964" x2="85086" y2="56506"/>
                        <a14:foregroundMark x1="85086" y1="56506" x2="81983" y2="59398"/>
                        <a14:foregroundMark x1="87500" y1="6627" x2="88801" y2="15181"/>
                        <a14:foregroundMark x1="87931" y1="6024" x2="89446" y2="15181"/>
                        <a14:foregroundMark x1="88103" y1="6627" x2="88103" y2="7711"/>
                        <a14:foregroundMark x1="87069" y1="4578" x2="88966" y2="8675"/>
                        <a14:foregroundMark x1="57328" y1="3494" x2="61638" y2="9157"/>
                        <a14:foregroundMark x1="57931" y1="2651" x2="62845" y2="9157"/>
                        <a14:foregroundMark x1="57931" y1="964" x2="62845" y2="6867"/>
                        <a14:foregroundMark x1="72414" y1="13494" x2="72414" y2="13494"/>
                        <a14:foregroundMark x1="72414" y1="12289" x2="72241" y2="12289"/>
                        <a14:foregroundMark x1="72241" y1="11446" x2="72241" y2="11446"/>
                        <a14:foregroundMark x1="70948" y1="11205" x2="73448" y2="16627"/>
                        <a14:backgroundMark x1="14047" y1="20535" x2="8103" y2="26627"/>
                        <a14:backgroundMark x1="15169" y1="19385" x2="14934" y2="19626"/>
                        <a14:backgroundMark x1="32672" y1="1446" x2="20614" y2="13804"/>
                        <a14:backgroundMark x1="8103" y1="26627" x2="5948" y2="47108"/>
                        <a14:backgroundMark x1="5948" y1="47108" x2="8695" y2="59681"/>
                        <a14:backgroundMark x1="259" y1="964" x2="28534" y2="2289"/>
                        <a14:backgroundMark x1="14113" y1="20389" x2="10776" y2="24578"/>
                        <a14:backgroundMark x1="15048" y1="19216" x2="14804" y2="19522"/>
                        <a14:backgroundMark x1="28534" y1="2289" x2="16394" y2="17527"/>
                        <a14:backgroundMark x1="10776" y1="24578" x2="5690" y2="40000"/>
                        <a14:backgroundMark x1="5690" y1="40000" x2="8541" y2="51871"/>
                        <a14:backgroundMark x1="8671" y1="58422" x2="2262" y2="70895"/>
                        <a14:backgroundMark x1="2241" y1="4940" x2="10642" y2="28002"/>
                        <a14:backgroundMark x1="83621" y1="2651" x2="71552" y2="4458"/>
                        <a14:backgroundMark x1="71552" y1="4458" x2="60512" y2="1393"/>
                        <a14:backgroundMark x1="89914" y1="15181" x2="89914" y2="24337"/>
                      </a14:backgroundRemoval>
                    </a14:imgEffect>
                    <a14:imgEffect>
                      <a14:artisticChalkSketch trans="100000" pressure="1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6579" y="3429000"/>
            <a:ext cx="4440607" cy="317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678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7A1A8B-95FE-4E33-BE25-46181DB10A9B}"/>
              </a:ext>
            </a:extLst>
          </p:cNvPr>
          <p:cNvSpPr txBox="1"/>
          <p:nvPr/>
        </p:nvSpPr>
        <p:spPr>
          <a:xfrm>
            <a:off x="-6" y="2041717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КТО ТАКИЕ ПОДРЯДЧИКИ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89E1F8-87BC-429B-B07E-15C84293F2B9}"/>
              </a:ext>
            </a:extLst>
          </p:cNvPr>
          <p:cNvSpPr txBox="1"/>
          <p:nvPr/>
        </p:nvSpPr>
        <p:spPr>
          <a:xfrm>
            <a:off x="-6" y="2576165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ФИШКА ПРОЦЕССА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2A175-482C-4647-A6F9-587A81C05748}"/>
              </a:ext>
            </a:extLst>
          </p:cNvPr>
          <p:cNvSpPr txBox="1"/>
          <p:nvPr/>
        </p:nvSpPr>
        <p:spPr>
          <a:xfrm>
            <a:off x="992771" y="320120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ptos ExtraBold" panose="020B0004020202020204" pitchFamily="34" charset="0"/>
              </a:rPr>
              <a:t>ЛЮДИ И ОТВЕТСТВЕННОСТЬ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822FDB-A71E-4430-96D4-718BEF6079D5}"/>
              </a:ext>
            </a:extLst>
          </p:cNvPr>
          <p:cNvSpPr txBox="1"/>
          <p:nvPr/>
        </p:nvSpPr>
        <p:spPr>
          <a:xfrm>
            <a:off x="-6" y="3801731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СХЕМА ДВИЖЕНИЯ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FF747F-2B71-491B-86D8-5895AC52897C}"/>
              </a:ext>
            </a:extLst>
          </p:cNvPr>
          <p:cNvSpPr txBox="1"/>
          <p:nvPr/>
        </p:nvSpPr>
        <p:spPr>
          <a:xfrm>
            <a:off x="-6" y="4412158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РАЗБОР ДЕТАЛЕЙ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5D8A57-B210-4072-8E01-8A3D368E0B97}"/>
              </a:ext>
            </a:extLst>
          </p:cNvPr>
          <p:cNvSpPr txBox="1"/>
          <p:nvPr/>
        </p:nvSpPr>
        <p:spPr>
          <a:xfrm>
            <a:off x="-6" y="5023132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РАБОЧАЯ СТАНЦИЯ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D8494E-4E64-40F7-B2A9-DB76B1596CCB}"/>
              </a:ext>
            </a:extLst>
          </p:cNvPr>
          <p:cNvSpPr txBox="1"/>
          <p:nvPr/>
        </p:nvSpPr>
        <p:spPr>
          <a:xfrm>
            <a:off x="-6" y="5634106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ТИПИЧНЫЕ ГРАБЛИ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C0B9D8-8258-421D-B390-E04ACA9FD400}"/>
              </a:ext>
            </a:extLst>
          </p:cNvPr>
          <p:cNvSpPr txBox="1"/>
          <p:nvPr/>
        </p:nvSpPr>
        <p:spPr>
          <a:xfrm>
            <a:off x="-6" y="6240955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ОШИБКА 404</a:t>
            </a:r>
          </a:p>
        </p:txBody>
      </p:sp>
      <p:sp>
        <p:nvSpPr>
          <p:cNvPr id="22" name="Равнобедренный треугольник 21">
            <a:extLst>
              <a:ext uri="{FF2B5EF4-FFF2-40B4-BE49-F238E27FC236}">
                <a16:creationId xmlns:a16="http://schemas.microsoft.com/office/drawing/2014/main" id="{3C87D4E0-FC58-4777-B912-9681101452A8}"/>
              </a:ext>
            </a:extLst>
          </p:cNvPr>
          <p:cNvSpPr/>
          <p:nvPr/>
        </p:nvSpPr>
        <p:spPr>
          <a:xfrm rot="5400000">
            <a:off x="-50334" y="3227664"/>
            <a:ext cx="503339" cy="402671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380907-C559-4C25-B018-8F6CD02BDCFB}"/>
              </a:ext>
            </a:extLst>
          </p:cNvPr>
          <p:cNvSpPr txBox="1"/>
          <p:nvPr/>
        </p:nvSpPr>
        <p:spPr>
          <a:xfrm>
            <a:off x="10835" y="150093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ЧТО ЭТО ВООБЩЕ ТАКОЕ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95DACF1-B665-41BD-B323-C148FAF451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9" r="9027"/>
          <a:stretch/>
        </p:blipFill>
        <p:spPr>
          <a:xfrm>
            <a:off x="10146941" y="2320951"/>
            <a:ext cx="2045059" cy="27194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D0E025-111A-4C40-9848-F5DFBC53EF75}"/>
              </a:ext>
            </a:extLst>
          </p:cNvPr>
          <p:cNvSpPr txBox="1"/>
          <p:nvPr/>
        </p:nvSpPr>
        <p:spPr>
          <a:xfrm>
            <a:off x="6096000" y="246416"/>
            <a:ext cx="3902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ptos Black" panose="020B0004020202020204" pitchFamily="34" charset="0"/>
              </a:rPr>
              <a:t>ТЫ, КАК АДМИН ПРОЕКТОВ, </a:t>
            </a:r>
          </a:p>
          <a:p>
            <a:r>
              <a:rPr lang="ru-RU" dirty="0">
                <a:latin typeface="Aptos Black" panose="020B0004020202020204" pitchFamily="34" charset="0"/>
              </a:rPr>
              <a:t>ОТВЧАЕШЬ ЗА: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52FFF7-1351-41EE-A617-4EB21E0B446E}"/>
              </a:ext>
            </a:extLst>
          </p:cNvPr>
          <p:cNvSpPr txBox="1"/>
          <p:nvPr/>
        </p:nvSpPr>
        <p:spPr>
          <a:xfrm>
            <a:off x="6113633" y="1043090"/>
            <a:ext cx="4249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Aptos ExtraBold" panose="020B0004020202020204" pitchFamily="34" charset="0"/>
              </a:rPr>
              <a:t>1. Документальное сопровождение: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D85D20-E2A6-4B30-8FA3-ABE070076F84}"/>
              </a:ext>
            </a:extLst>
          </p:cNvPr>
          <p:cNvSpPr txBox="1"/>
          <p:nvPr/>
        </p:nvSpPr>
        <p:spPr>
          <a:xfrm>
            <a:off x="6667074" y="1383939"/>
            <a:ext cx="3479867" cy="321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оформление/расторжение договоров и дополнительных соглашений и иных документов;</a:t>
            </a:r>
          </a:p>
          <a:p>
            <a:pPr marL="285750" indent="-285750" algn="just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контроль сроков;</a:t>
            </a:r>
          </a:p>
          <a:p>
            <a:pPr marL="285750" indent="-285750" algn="just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оформление отчетной документации;</a:t>
            </a:r>
          </a:p>
          <a:p>
            <a:pPr marL="285750" indent="-285750" algn="just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согласование отчетной документации и счета на оплату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48F07C-BB9A-449F-8E88-792AF74F1725}"/>
              </a:ext>
            </a:extLst>
          </p:cNvPr>
          <p:cNvSpPr txBox="1"/>
          <p:nvPr/>
        </p:nvSpPr>
        <p:spPr>
          <a:xfrm>
            <a:off x="6113633" y="4662094"/>
            <a:ext cx="1552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Aptos ExtraBold" panose="020B0004020202020204" pitchFamily="34" charset="0"/>
              </a:rPr>
              <a:t>2. Контроль: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EDC615-393B-4F26-BEAB-5EA95D684927}"/>
              </a:ext>
            </a:extLst>
          </p:cNvPr>
          <p:cNvSpPr txBox="1"/>
          <p:nvPr/>
        </p:nvSpPr>
        <p:spPr>
          <a:xfrm>
            <a:off x="6667074" y="4968524"/>
            <a:ext cx="369644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списаний в </a:t>
            </a:r>
            <a:r>
              <a:rPr lang="en-US" dirty="0">
                <a:latin typeface="Aptos Light" panose="020B0004020202020204" pitchFamily="34" charset="0"/>
              </a:rPr>
              <a:t>Jira</a:t>
            </a:r>
            <a:r>
              <a:rPr lang="ru-RU" dirty="0">
                <a:latin typeface="Aptos Light" panose="020B0004020202020204" pitchFamily="34" charset="0"/>
              </a:rPr>
              <a:t> (отсутствие превышений);</a:t>
            </a:r>
          </a:p>
          <a:p>
            <a:pPr marL="285750" indent="-285750" algn="just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сроков согласований и выплат;</a:t>
            </a:r>
          </a:p>
          <a:p>
            <a:pPr marL="285750" indent="-285750" algn="just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наличия денежных средств </a:t>
            </a:r>
            <a:br>
              <a:rPr lang="ru-RU" dirty="0">
                <a:latin typeface="Aptos Light" panose="020B0004020202020204" pitchFamily="34" charset="0"/>
              </a:rPr>
            </a:br>
            <a:r>
              <a:rPr lang="ru-RU" dirty="0">
                <a:latin typeface="Aptos Light" panose="020B0004020202020204" pitchFamily="34" charset="0"/>
              </a:rPr>
              <a:t>в финансовом плане</a:t>
            </a:r>
          </a:p>
        </p:txBody>
      </p:sp>
    </p:spTree>
    <p:extLst>
      <p:ext uri="{BB962C8B-B14F-4D97-AF65-F5344CB8AC3E}">
        <p14:creationId xmlns:p14="http://schemas.microsoft.com/office/powerpoint/2010/main" val="1887718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7A1A8B-95FE-4E33-BE25-46181DB10A9B}"/>
              </a:ext>
            </a:extLst>
          </p:cNvPr>
          <p:cNvSpPr txBox="1"/>
          <p:nvPr/>
        </p:nvSpPr>
        <p:spPr>
          <a:xfrm>
            <a:off x="-6" y="2041717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КТО ТАКИЕ ПОДРЯДЧИКИ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89E1F8-87BC-429B-B07E-15C84293F2B9}"/>
              </a:ext>
            </a:extLst>
          </p:cNvPr>
          <p:cNvSpPr txBox="1"/>
          <p:nvPr/>
        </p:nvSpPr>
        <p:spPr>
          <a:xfrm>
            <a:off x="-6" y="2576165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ФИШКА ПРОЦЕССА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2A175-482C-4647-A6F9-587A81C05748}"/>
              </a:ext>
            </a:extLst>
          </p:cNvPr>
          <p:cNvSpPr txBox="1"/>
          <p:nvPr/>
        </p:nvSpPr>
        <p:spPr>
          <a:xfrm>
            <a:off x="992771" y="320120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ptos ExtraBold" panose="020B0004020202020204" pitchFamily="34" charset="0"/>
              </a:rPr>
              <a:t>ЛЮДИ И ОТВЕТСТВЕННОСТЬ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822FDB-A71E-4430-96D4-718BEF6079D5}"/>
              </a:ext>
            </a:extLst>
          </p:cNvPr>
          <p:cNvSpPr txBox="1"/>
          <p:nvPr/>
        </p:nvSpPr>
        <p:spPr>
          <a:xfrm>
            <a:off x="-6" y="3801731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СХЕМА ДВИЖЕНИЯ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FF747F-2B71-491B-86D8-5895AC52897C}"/>
              </a:ext>
            </a:extLst>
          </p:cNvPr>
          <p:cNvSpPr txBox="1"/>
          <p:nvPr/>
        </p:nvSpPr>
        <p:spPr>
          <a:xfrm>
            <a:off x="-6" y="4412158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РАЗБОР ДЕТАЛЕЙ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5D8A57-B210-4072-8E01-8A3D368E0B97}"/>
              </a:ext>
            </a:extLst>
          </p:cNvPr>
          <p:cNvSpPr txBox="1"/>
          <p:nvPr/>
        </p:nvSpPr>
        <p:spPr>
          <a:xfrm>
            <a:off x="-6" y="5023132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РАБОЧАЯ СТАНЦИЯ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D8494E-4E64-40F7-B2A9-DB76B1596CCB}"/>
              </a:ext>
            </a:extLst>
          </p:cNvPr>
          <p:cNvSpPr txBox="1"/>
          <p:nvPr/>
        </p:nvSpPr>
        <p:spPr>
          <a:xfrm>
            <a:off x="-6" y="5634106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ТИПИЧНЫЕ ГРАБЛИ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C0B9D8-8258-421D-B390-E04ACA9FD400}"/>
              </a:ext>
            </a:extLst>
          </p:cNvPr>
          <p:cNvSpPr txBox="1"/>
          <p:nvPr/>
        </p:nvSpPr>
        <p:spPr>
          <a:xfrm>
            <a:off x="-6" y="6240955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ОШИБКА 404</a:t>
            </a:r>
          </a:p>
        </p:txBody>
      </p:sp>
      <p:sp>
        <p:nvSpPr>
          <p:cNvPr id="22" name="Равнобедренный треугольник 21">
            <a:extLst>
              <a:ext uri="{FF2B5EF4-FFF2-40B4-BE49-F238E27FC236}">
                <a16:creationId xmlns:a16="http://schemas.microsoft.com/office/drawing/2014/main" id="{3C87D4E0-FC58-4777-B912-9681101452A8}"/>
              </a:ext>
            </a:extLst>
          </p:cNvPr>
          <p:cNvSpPr/>
          <p:nvPr/>
        </p:nvSpPr>
        <p:spPr>
          <a:xfrm rot="5400000">
            <a:off x="-50334" y="3227664"/>
            <a:ext cx="503339" cy="402671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380907-C559-4C25-B018-8F6CD02BDCFB}"/>
              </a:ext>
            </a:extLst>
          </p:cNvPr>
          <p:cNvSpPr txBox="1"/>
          <p:nvPr/>
        </p:nvSpPr>
        <p:spPr>
          <a:xfrm>
            <a:off x="10835" y="150093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ЧТО ЭТО ВООБЩЕ ТАКОЕ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95DACF1-B665-41BD-B323-C148FAF451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9" r="9027"/>
          <a:stretch/>
        </p:blipFill>
        <p:spPr>
          <a:xfrm>
            <a:off x="10146941" y="2320951"/>
            <a:ext cx="2045059" cy="27194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D0E025-111A-4C40-9848-F5DFBC53EF75}"/>
              </a:ext>
            </a:extLst>
          </p:cNvPr>
          <p:cNvSpPr txBox="1"/>
          <p:nvPr/>
        </p:nvSpPr>
        <p:spPr>
          <a:xfrm>
            <a:off x="6113633" y="273749"/>
            <a:ext cx="3902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ptos Black" panose="020B0004020202020204" pitchFamily="34" charset="0"/>
              </a:rPr>
              <a:t>ТЫ, КАК АДМИН ПРОЕКТОВ, </a:t>
            </a:r>
          </a:p>
          <a:p>
            <a:r>
              <a:rPr lang="ru-RU" dirty="0">
                <a:latin typeface="Aptos Black" panose="020B0004020202020204" pitchFamily="34" charset="0"/>
              </a:rPr>
              <a:t>ОТВЧАЕШЬ ЗА: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52FFF7-1351-41EE-A617-4EB21E0B446E}"/>
              </a:ext>
            </a:extLst>
          </p:cNvPr>
          <p:cNvSpPr txBox="1"/>
          <p:nvPr/>
        </p:nvSpPr>
        <p:spPr>
          <a:xfrm>
            <a:off x="6113633" y="992517"/>
            <a:ext cx="3414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Aptos ExtraBold" panose="020B0004020202020204" pitchFamily="34" charset="0"/>
              </a:rPr>
              <a:t>3. Финансовое обеспечение: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D85D20-E2A6-4B30-8FA3-ABE070076F84}"/>
              </a:ext>
            </a:extLst>
          </p:cNvPr>
          <p:cNvSpPr txBox="1"/>
          <p:nvPr/>
        </p:nvSpPr>
        <p:spPr>
          <a:xfrm>
            <a:off x="6677913" y="1312741"/>
            <a:ext cx="347986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расчет бюджета на подряд;</a:t>
            </a:r>
          </a:p>
          <a:p>
            <a:pPr marL="285750" indent="-285750" algn="just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выставление документов </a:t>
            </a:r>
            <a:br>
              <a:rPr lang="ru-RU" dirty="0">
                <a:latin typeface="Aptos Light" panose="020B0004020202020204" pitchFamily="34" charset="0"/>
              </a:rPr>
            </a:br>
            <a:r>
              <a:rPr lang="ru-RU" dirty="0">
                <a:latin typeface="Aptos Light" panose="020B0004020202020204" pitchFamily="34" charset="0"/>
              </a:rPr>
              <a:t>на оплату;</a:t>
            </a:r>
          </a:p>
          <a:p>
            <a:pPr marL="285750" indent="-285750" algn="just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выплаты подрядчикам</a:t>
            </a:r>
          </a:p>
          <a:p>
            <a:pPr marL="285750" indent="-285750">
              <a:buFontTx/>
              <a:buChar char="-"/>
            </a:pPr>
            <a:endParaRPr lang="ru-RU" dirty="0">
              <a:latin typeface="Aptos Light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48F07C-BB9A-449F-8E88-792AF74F1725}"/>
              </a:ext>
            </a:extLst>
          </p:cNvPr>
          <p:cNvSpPr txBox="1"/>
          <p:nvPr/>
        </p:nvSpPr>
        <p:spPr>
          <a:xfrm>
            <a:off x="6113633" y="2807998"/>
            <a:ext cx="3528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Aptos ExtraBold" panose="020B0004020202020204" pitchFamily="34" charset="0"/>
              </a:rPr>
              <a:t>4. Если подрядчик – юр. лицо: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A6BF4A-5227-412D-9709-943FFFB47C39}"/>
              </a:ext>
            </a:extLst>
          </p:cNvPr>
          <p:cNvSpPr txBox="1"/>
          <p:nvPr/>
        </p:nvSpPr>
        <p:spPr>
          <a:xfrm>
            <a:off x="6677913" y="3116165"/>
            <a:ext cx="3479867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оформление договора;</a:t>
            </a:r>
          </a:p>
          <a:p>
            <a:pPr marL="285750" indent="-285750" algn="just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запрос спецов у подрядчика (</a:t>
            </a:r>
            <a:r>
              <a:rPr lang="ru-RU" dirty="0" err="1">
                <a:latin typeface="Aptos Light" panose="020B0004020202020204" pitchFamily="34" charset="0"/>
              </a:rPr>
              <a:t>аутстафф</a:t>
            </a:r>
            <a:r>
              <a:rPr lang="ru-RU" dirty="0">
                <a:latin typeface="Aptos Light" panose="020B0004020202020204" pitchFamily="34" charset="0"/>
              </a:rPr>
              <a:t>);</a:t>
            </a:r>
          </a:p>
          <a:p>
            <a:pPr marL="285750" indent="-285750" algn="just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организация собеседований с кандидатами (</a:t>
            </a:r>
            <a:r>
              <a:rPr lang="ru-RU" dirty="0" err="1">
                <a:latin typeface="Aptos Light" panose="020B0004020202020204" pitchFamily="34" charset="0"/>
              </a:rPr>
              <a:t>аутстафф</a:t>
            </a:r>
            <a:r>
              <a:rPr lang="ru-RU" dirty="0">
                <a:latin typeface="Aptos Light" panose="020B0004020202020204" pitchFamily="34" charset="0"/>
              </a:rPr>
              <a:t>);</a:t>
            </a:r>
          </a:p>
          <a:p>
            <a:pPr marL="285750" indent="-285750" algn="just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оформление отчетной документации;</a:t>
            </a:r>
          </a:p>
          <a:p>
            <a:pPr marL="285750" indent="-285750" algn="just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сопровождение оплаты </a:t>
            </a:r>
            <a:br>
              <a:rPr lang="ru-RU" dirty="0">
                <a:latin typeface="Aptos Light" panose="020B0004020202020204" pitchFamily="34" charset="0"/>
              </a:rPr>
            </a:br>
            <a:r>
              <a:rPr lang="ru-RU" dirty="0">
                <a:latin typeface="Aptos Light" panose="020B0004020202020204" pitchFamily="34" charset="0"/>
              </a:rPr>
              <a:t>за выполненные работы</a:t>
            </a:r>
          </a:p>
        </p:txBody>
      </p:sp>
    </p:spTree>
    <p:extLst>
      <p:ext uri="{BB962C8B-B14F-4D97-AF65-F5344CB8AC3E}">
        <p14:creationId xmlns:p14="http://schemas.microsoft.com/office/powerpoint/2010/main" val="561777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7A1A8B-95FE-4E33-BE25-46181DB10A9B}"/>
              </a:ext>
            </a:extLst>
          </p:cNvPr>
          <p:cNvSpPr txBox="1"/>
          <p:nvPr/>
        </p:nvSpPr>
        <p:spPr>
          <a:xfrm>
            <a:off x="-6" y="2041717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КТО ТАКИЕ ПОДРЯДЧИКИ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89E1F8-87BC-429B-B07E-15C84293F2B9}"/>
              </a:ext>
            </a:extLst>
          </p:cNvPr>
          <p:cNvSpPr txBox="1"/>
          <p:nvPr/>
        </p:nvSpPr>
        <p:spPr>
          <a:xfrm>
            <a:off x="-6" y="2576165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ФИШКА ПРОЦЕССА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2A175-482C-4647-A6F9-587A81C05748}"/>
              </a:ext>
            </a:extLst>
          </p:cNvPr>
          <p:cNvSpPr txBox="1"/>
          <p:nvPr/>
        </p:nvSpPr>
        <p:spPr>
          <a:xfrm>
            <a:off x="992771" y="320120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ptos ExtraBold" panose="020B0004020202020204" pitchFamily="34" charset="0"/>
              </a:rPr>
              <a:t>ЛЮДИ И ОТВЕТСТВЕННОСТЬ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822FDB-A71E-4430-96D4-718BEF6079D5}"/>
              </a:ext>
            </a:extLst>
          </p:cNvPr>
          <p:cNvSpPr txBox="1"/>
          <p:nvPr/>
        </p:nvSpPr>
        <p:spPr>
          <a:xfrm>
            <a:off x="-6" y="3801731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СХЕМА ДВИЖЕНИЯ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FF747F-2B71-491B-86D8-5895AC52897C}"/>
              </a:ext>
            </a:extLst>
          </p:cNvPr>
          <p:cNvSpPr txBox="1"/>
          <p:nvPr/>
        </p:nvSpPr>
        <p:spPr>
          <a:xfrm>
            <a:off x="-6" y="4412158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РАЗБОР ДЕТАЛЕЙ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5D8A57-B210-4072-8E01-8A3D368E0B97}"/>
              </a:ext>
            </a:extLst>
          </p:cNvPr>
          <p:cNvSpPr txBox="1"/>
          <p:nvPr/>
        </p:nvSpPr>
        <p:spPr>
          <a:xfrm>
            <a:off x="-6" y="5023132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РАБОЧАЯ СТАНЦИЯ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D8494E-4E64-40F7-B2A9-DB76B1596CCB}"/>
              </a:ext>
            </a:extLst>
          </p:cNvPr>
          <p:cNvSpPr txBox="1"/>
          <p:nvPr/>
        </p:nvSpPr>
        <p:spPr>
          <a:xfrm>
            <a:off x="-6" y="5634106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ТИПИЧНЫЕ ГРАБЛИ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C0B9D8-8258-421D-B390-E04ACA9FD400}"/>
              </a:ext>
            </a:extLst>
          </p:cNvPr>
          <p:cNvSpPr txBox="1"/>
          <p:nvPr/>
        </p:nvSpPr>
        <p:spPr>
          <a:xfrm>
            <a:off x="-6" y="6240955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ОШИБКА 404</a:t>
            </a:r>
          </a:p>
        </p:txBody>
      </p:sp>
      <p:sp>
        <p:nvSpPr>
          <p:cNvPr id="22" name="Равнобедренный треугольник 21">
            <a:extLst>
              <a:ext uri="{FF2B5EF4-FFF2-40B4-BE49-F238E27FC236}">
                <a16:creationId xmlns:a16="http://schemas.microsoft.com/office/drawing/2014/main" id="{3C87D4E0-FC58-4777-B912-9681101452A8}"/>
              </a:ext>
            </a:extLst>
          </p:cNvPr>
          <p:cNvSpPr/>
          <p:nvPr/>
        </p:nvSpPr>
        <p:spPr>
          <a:xfrm rot="5400000">
            <a:off x="-50334" y="3227664"/>
            <a:ext cx="503339" cy="402671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380907-C559-4C25-B018-8F6CD02BDCFB}"/>
              </a:ext>
            </a:extLst>
          </p:cNvPr>
          <p:cNvSpPr txBox="1"/>
          <p:nvPr/>
        </p:nvSpPr>
        <p:spPr>
          <a:xfrm>
            <a:off x="10835" y="150093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ЧТО ЭТО ВООБЩЕ ТАКОЕ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95DACF1-B665-41BD-B323-C148FAF451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9" r="9027"/>
          <a:stretch/>
        </p:blipFill>
        <p:spPr>
          <a:xfrm>
            <a:off x="10146941" y="2320951"/>
            <a:ext cx="2045059" cy="27194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D0E025-111A-4C40-9848-F5DFBC53EF75}"/>
              </a:ext>
            </a:extLst>
          </p:cNvPr>
          <p:cNvSpPr txBox="1"/>
          <p:nvPr/>
        </p:nvSpPr>
        <p:spPr>
          <a:xfrm>
            <a:off x="6113633" y="234719"/>
            <a:ext cx="3902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ptos Black" panose="020B0004020202020204" pitchFamily="34" charset="0"/>
              </a:rPr>
              <a:t>ТЫ, КАК АДМИН ПРОЕКТОВ, </a:t>
            </a:r>
          </a:p>
          <a:p>
            <a:r>
              <a:rPr lang="ru-RU" dirty="0">
                <a:latin typeface="Aptos Black" panose="020B0004020202020204" pitchFamily="34" charset="0"/>
              </a:rPr>
              <a:t>ОТВЧАЕШЬ ЗА: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52FFF7-1351-41EE-A617-4EB21E0B446E}"/>
              </a:ext>
            </a:extLst>
          </p:cNvPr>
          <p:cNvSpPr txBox="1"/>
          <p:nvPr/>
        </p:nvSpPr>
        <p:spPr>
          <a:xfrm>
            <a:off x="6113633" y="906898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Aptos ExtraBold" panose="020B0004020202020204" pitchFamily="34" charset="0"/>
              </a:rPr>
              <a:t>5. Общее: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D85D20-E2A6-4B30-8FA3-ABE070076F84}"/>
              </a:ext>
            </a:extLst>
          </p:cNvPr>
          <p:cNvSpPr txBox="1"/>
          <p:nvPr/>
        </p:nvSpPr>
        <p:spPr>
          <a:xfrm>
            <a:off x="6667074" y="1241498"/>
            <a:ext cx="347986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получение доступов </a:t>
            </a:r>
            <a:br>
              <a:rPr lang="ru-RU" dirty="0">
                <a:latin typeface="Aptos Light" panose="020B0004020202020204" pitchFamily="34" charset="0"/>
              </a:rPr>
            </a:br>
            <a:r>
              <a:rPr lang="ru-RU" dirty="0">
                <a:latin typeface="Aptos Light" panose="020B0004020202020204" pitchFamily="34" charset="0"/>
              </a:rPr>
              <a:t>к системам компании;</a:t>
            </a:r>
          </a:p>
          <a:p>
            <a:pPr marL="285750" indent="-285750" algn="just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помощь подрядчикам </a:t>
            </a:r>
            <a:br>
              <a:rPr lang="ru-RU" dirty="0">
                <a:latin typeface="Aptos Light" panose="020B0004020202020204" pitchFamily="34" charset="0"/>
              </a:rPr>
            </a:br>
            <a:r>
              <a:rPr lang="ru-RU" dirty="0">
                <a:latin typeface="Aptos Light" panose="020B0004020202020204" pitchFamily="34" charset="0"/>
              </a:rPr>
              <a:t>в проставлении списаний </a:t>
            </a:r>
            <a:br>
              <a:rPr lang="ru-RU" dirty="0">
                <a:latin typeface="Aptos Light" panose="020B0004020202020204" pitchFamily="34" charset="0"/>
              </a:rPr>
            </a:br>
            <a:r>
              <a:rPr lang="ru-RU" dirty="0">
                <a:latin typeface="Aptos Light" panose="020B0004020202020204" pitchFamily="34" charset="0"/>
              </a:rPr>
              <a:t>в закрытые периоды;</a:t>
            </a:r>
          </a:p>
          <a:p>
            <a:pPr marL="285750" indent="-285750" algn="just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контроль корректности списаний (наличие галочек </a:t>
            </a:r>
            <a:r>
              <a:rPr lang="ru-RU" dirty="0" err="1">
                <a:latin typeface="Aptos Light" panose="020B0004020202020204" pitchFamily="34" charset="0"/>
              </a:rPr>
              <a:t>аутсорс</a:t>
            </a:r>
            <a:r>
              <a:rPr lang="ru-RU" dirty="0">
                <a:latin typeface="Aptos Light" panose="020B0004020202020204" pitchFamily="34" charset="0"/>
              </a:rPr>
              <a:t>) </a:t>
            </a:r>
          </a:p>
          <a:p>
            <a:pPr marL="285750" indent="-285750" algn="just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обмен документами между подрядчиком и организацией</a:t>
            </a:r>
          </a:p>
        </p:txBody>
      </p:sp>
    </p:spTree>
    <p:extLst>
      <p:ext uri="{BB962C8B-B14F-4D97-AF65-F5344CB8AC3E}">
        <p14:creationId xmlns:p14="http://schemas.microsoft.com/office/powerpoint/2010/main" val="3541819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7A1A8B-95FE-4E33-BE25-46181DB10A9B}"/>
              </a:ext>
            </a:extLst>
          </p:cNvPr>
          <p:cNvSpPr txBox="1"/>
          <p:nvPr/>
        </p:nvSpPr>
        <p:spPr>
          <a:xfrm>
            <a:off x="-6" y="2041717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КТО ТАКИЕ ПОДРЯДЧИКИ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89E1F8-87BC-429B-B07E-15C84293F2B9}"/>
              </a:ext>
            </a:extLst>
          </p:cNvPr>
          <p:cNvSpPr txBox="1"/>
          <p:nvPr/>
        </p:nvSpPr>
        <p:spPr>
          <a:xfrm>
            <a:off x="-6" y="2576165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ФИШКА ПРОЦЕССА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2A175-482C-4647-A6F9-587A81C05748}"/>
              </a:ext>
            </a:extLst>
          </p:cNvPr>
          <p:cNvSpPr txBox="1"/>
          <p:nvPr/>
        </p:nvSpPr>
        <p:spPr>
          <a:xfrm>
            <a:off x="992771" y="320120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ptos ExtraBold" panose="020B0004020202020204" pitchFamily="34" charset="0"/>
              </a:rPr>
              <a:t>ЛЮДИ И ОТВЕТСТВЕННОСТЬ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822FDB-A71E-4430-96D4-718BEF6079D5}"/>
              </a:ext>
            </a:extLst>
          </p:cNvPr>
          <p:cNvSpPr txBox="1"/>
          <p:nvPr/>
        </p:nvSpPr>
        <p:spPr>
          <a:xfrm>
            <a:off x="-6" y="3801731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СХЕМА ДВИЖЕНИЯ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FF747F-2B71-491B-86D8-5895AC52897C}"/>
              </a:ext>
            </a:extLst>
          </p:cNvPr>
          <p:cNvSpPr txBox="1"/>
          <p:nvPr/>
        </p:nvSpPr>
        <p:spPr>
          <a:xfrm>
            <a:off x="-6" y="4412158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РАЗБОР ДЕТАЛЕЙ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5D8A57-B210-4072-8E01-8A3D368E0B97}"/>
              </a:ext>
            </a:extLst>
          </p:cNvPr>
          <p:cNvSpPr txBox="1"/>
          <p:nvPr/>
        </p:nvSpPr>
        <p:spPr>
          <a:xfrm>
            <a:off x="-6" y="5023132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РАБОЧАЯ СТАНЦИЯ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D8494E-4E64-40F7-B2A9-DB76B1596CCB}"/>
              </a:ext>
            </a:extLst>
          </p:cNvPr>
          <p:cNvSpPr txBox="1"/>
          <p:nvPr/>
        </p:nvSpPr>
        <p:spPr>
          <a:xfrm>
            <a:off x="-6" y="5634106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ТИПИЧНЫЕ ГРАБЛИ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C0B9D8-8258-421D-B390-E04ACA9FD400}"/>
              </a:ext>
            </a:extLst>
          </p:cNvPr>
          <p:cNvSpPr txBox="1"/>
          <p:nvPr/>
        </p:nvSpPr>
        <p:spPr>
          <a:xfrm>
            <a:off x="-6" y="6240955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ОШИБКА 404</a:t>
            </a:r>
          </a:p>
        </p:txBody>
      </p:sp>
      <p:sp>
        <p:nvSpPr>
          <p:cNvPr id="22" name="Равнобедренный треугольник 21">
            <a:extLst>
              <a:ext uri="{FF2B5EF4-FFF2-40B4-BE49-F238E27FC236}">
                <a16:creationId xmlns:a16="http://schemas.microsoft.com/office/drawing/2014/main" id="{3C87D4E0-FC58-4777-B912-9681101452A8}"/>
              </a:ext>
            </a:extLst>
          </p:cNvPr>
          <p:cNvSpPr/>
          <p:nvPr/>
        </p:nvSpPr>
        <p:spPr>
          <a:xfrm rot="5400000">
            <a:off x="-50334" y="3227664"/>
            <a:ext cx="503339" cy="402671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15D1EB-9537-4998-A960-B38AD146EDAA}"/>
              </a:ext>
            </a:extLst>
          </p:cNvPr>
          <p:cNvSpPr txBox="1"/>
          <p:nvPr/>
        </p:nvSpPr>
        <p:spPr>
          <a:xfrm>
            <a:off x="10835" y="150093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ЧТО ЭТО ВООБЩЕ ТАКОЕ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43A9A7-5A8F-4052-A1D2-2976F2DD1A7C}"/>
              </a:ext>
            </a:extLst>
          </p:cNvPr>
          <p:cNvSpPr txBox="1"/>
          <p:nvPr/>
        </p:nvSpPr>
        <p:spPr>
          <a:xfrm>
            <a:off x="6096000" y="272598"/>
            <a:ext cx="4976388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ptos Black" panose="020B0004020202020204" pitchFamily="34" charset="0"/>
              </a:rPr>
              <a:t>РУКОВОДИТЕЛЬ ПРОЕКТА (РП) и РУКОВОДИТЕЛЬ НАПРАВЛЕНИЯ (РН)</a:t>
            </a:r>
          </a:p>
          <a:p>
            <a:endParaRPr lang="ru-RU" sz="400" dirty="0">
              <a:latin typeface="Aptos Black" panose="020B0004020202020204" pitchFamily="34" charset="0"/>
            </a:endParaRPr>
          </a:p>
          <a:p>
            <a:r>
              <a:rPr lang="ru-RU" dirty="0">
                <a:latin typeface="Aptos Black" panose="020B0004020202020204" pitchFamily="34" charset="0"/>
              </a:rPr>
              <a:t>(в контексте работы с подрядчиками):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D2E679-23C7-46EB-9975-1C4EEB201B8D}"/>
              </a:ext>
            </a:extLst>
          </p:cNvPr>
          <p:cNvSpPr txBox="1"/>
          <p:nvPr/>
        </p:nvSpPr>
        <p:spPr>
          <a:xfrm>
            <a:off x="6667614" y="1332520"/>
            <a:ext cx="4323293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определяют потребность </a:t>
            </a:r>
            <a:br>
              <a:rPr lang="ru-RU" dirty="0">
                <a:latin typeface="Aptos Light" panose="020B0004020202020204" pitchFamily="34" charset="0"/>
              </a:rPr>
            </a:br>
            <a:r>
              <a:rPr lang="ru-RU" dirty="0">
                <a:latin typeface="Aptos Light" panose="020B0004020202020204" pitchFamily="34" charset="0"/>
              </a:rPr>
              <a:t>в привлечении подряда;</a:t>
            </a:r>
          </a:p>
          <a:p>
            <a:pPr marL="285750" indent="-285750" algn="just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определяют загрузку подрядчика;</a:t>
            </a:r>
          </a:p>
          <a:p>
            <a:pPr marL="285750" indent="-285750" algn="just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согласовывают ставку;</a:t>
            </a:r>
          </a:p>
          <a:p>
            <a:pPr marL="285750" indent="-285750" algn="just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при согласовании документов подтверждают факт выполнения работ, отсутствия претензий </a:t>
            </a:r>
            <a:br>
              <a:rPr lang="ru-RU" dirty="0">
                <a:latin typeface="Aptos Light" panose="020B0004020202020204" pitchFamily="34" charset="0"/>
              </a:rPr>
            </a:br>
            <a:r>
              <a:rPr lang="ru-RU" dirty="0">
                <a:latin typeface="Aptos Light" panose="020B0004020202020204" pitchFamily="34" charset="0"/>
              </a:rPr>
              <a:t>к их качеству и корректность расчетов</a:t>
            </a:r>
          </a:p>
          <a:p>
            <a:pPr marL="285750" indent="-285750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88303C1-B262-4E33-97A0-5FA480E01C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2567"/>
          <a:stretch/>
        </p:blipFill>
        <p:spPr>
          <a:xfrm rot="332948">
            <a:off x="10150591" y="4113478"/>
            <a:ext cx="1843594" cy="18193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E79C936-3FED-4AC7-ABB0-2B47225B1C4B}"/>
              </a:ext>
            </a:extLst>
          </p:cNvPr>
          <p:cNvSpPr txBox="1"/>
          <p:nvPr/>
        </p:nvSpPr>
        <p:spPr>
          <a:xfrm>
            <a:off x="7160404" y="4071731"/>
            <a:ext cx="3337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ptos SemiBold" panose="020B0004020202020204" pitchFamily="34" charset="0"/>
              </a:rPr>
              <a:t>Шамарин Сергей, руководитель направления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297F41-856A-4DB7-9771-0A8791417680}"/>
              </a:ext>
            </a:extLst>
          </p:cNvPr>
          <p:cNvSpPr txBox="1"/>
          <p:nvPr/>
        </p:nvSpPr>
        <p:spPr>
          <a:xfrm rot="21166103">
            <a:off x="5569865" y="5268585"/>
            <a:ext cx="19266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i="1" dirty="0">
                <a:latin typeface="Aptos SemiBold" panose="020B0004020202020204" pitchFamily="34" charset="0"/>
              </a:rPr>
              <a:t>Тут могло бы быть фото </a:t>
            </a:r>
            <a:br>
              <a:rPr lang="ru-RU" i="1" dirty="0">
                <a:latin typeface="Aptos SemiBold" panose="020B0004020202020204" pitchFamily="34" charset="0"/>
              </a:rPr>
            </a:br>
            <a:r>
              <a:rPr lang="ru-RU" i="1" dirty="0">
                <a:latin typeface="Aptos SemiBold" panose="020B0004020202020204" pitchFamily="34" charset="0"/>
              </a:rPr>
              <a:t>и контакты твоего РП</a:t>
            </a:r>
          </a:p>
        </p:txBody>
      </p:sp>
    </p:spTree>
    <p:extLst>
      <p:ext uri="{BB962C8B-B14F-4D97-AF65-F5344CB8AC3E}">
        <p14:creationId xmlns:p14="http://schemas.microsoft.com/office/powerpoint/2010/main" val="36806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7A1A8B-95FE-4E33-BE25-46181DB10A9B}"/>
              </a:ext>
            </a:extLst>
          </p:cNvPr>
          <p:cNvSpPr txBox="1"/>
          <p:nvPr/>
        </p:nvSpPr>
        <p:spPr>
          <a:xfrm>
            <a:off x="-6" y="2041717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КТО ТАКИЕ ПОДРЯДЧИКИ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89E1F8-87BC-429B-B07E-15C84293F2B9}"/>
              </a:ext>
            </a:extLst>
          </p:cNvPr>
          <p:cNvSpPr txBox="1"/>
          <p:nvPr/>
        </p:nvSpPr>
        <p:spPr>
          <a:xfrm>
            <a:off x="-6" y="2576165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ФИШКА ПРОЦЕССА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2A175-482C-4647-A6F9-587A81C05748}"/>
              </a:ext>
            </a:extLst>
          </p:cNvPr>
          <p:cNvSpPr txBox="1"/>
          <p:nvPr/>
        </p:nvSpPr>
        <p:spPr>
          <a:xfrm>
            <a:off x="992771" y="320120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ptos ExtraBold" panose="020B0004020202020204" pitchFamily="34" charset="0"/>
              </a:rPr>
              <a:t>ЛЮДИ И ОТВЕТСТВЕННОСТЬ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822FDB-A71E-4430-96D4-718BEF6079D5}"/>
              </a:ext>
            </a:extLst>
          </p:cNvPr>
          <p:cNvSpPr txBox="1"/>
          <p:nvPr/>
        </p:nvSpPr>
        <p:spPr>
          <a:xfrm>
            <a:off x="-6" y="3801731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СХЕМА ДВИЖЕНИЯ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FF747F-2B71-491B-86D8-5895AC52897C}"/>
              </a:ext>
            </a:extLst>
          </p:cNvPr>
          <p:cNvSpPr txBox="1"/>
          <p:nvPr/>
        </p:nvSpPr>
        <p:spPr>
          <a:xfrm>
            <a:off x="-6" y="4412158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РАЗБОР ДЕТАЛЕЙ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5D8A57-B210-4072-8E01-8A3D368E0B97}"/>
              </a:ext>
            </a:extLst>
          </p:cNvPr>
          <p:cNvSpPr txBox="1"/>
          <p:nvPr/>
        </p:nvSpPr>
        <p:spPr>
          <a:xfrm>
            <a:off x="-6" y="5023132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РАБОЧАЯ СТАНЦИЯ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D8494E-4E64-40F7-B2A9-DB76B1596CCB}"/>
              </a:ext>
            </a:extLst>
          </p:cNvPr>
          <p:cNvSpPr txBox="1"/>
          <p:nvPr/>
        </p:nvSpPr>
        <p:spPr>
          <a:xfrm>
            <a:off x="-6" y="5634106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ТИПИЧНЫЕ ГРАБЛИ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C0B9D8-8258-421D-B390-E04ACA9FD400}"/>
              </a:ext>
            </a:extLst>
          </p:cNvPr>
          <p:cNvSpPr txBox="1"/>
          <p:nvPr/>
        </p:nvSpPr>
        <p:spPr>
          <a:xfrm>
            <a:off x="-6" y="6240955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ОШИБКА 404</a:t>
            </a:r>
          </a:p>
        </p:txBody>
      </p:sp>
      <p:sp>
        <p:nvSpPr>
          <p:cNvPr id="22" name="Равнобедренный треугольник 21">
            <a:extLst>
              <a:ext uri="{FF2B5EF4-FFF2-40B4-BE49-F238E27FC236}">
                <a16:creationId xmlns:a16="http://schemas.microsoft.com/office/drawing/2014/main" id="{3C87D4E0-FC58-4777-B912-9681101452A8}"/>
              </a:ext>
            </a:extLst>
          </p:cNvPr>
          <p:cNvSpPr/>
          <p:nvPr/>
        </p:nvSpPr>
        <p:spPr>
          <a:xfrm rot="5400000">
            <a:off x="-50334" y="3227664"/>
            <a:ext cx="503339" cy="402671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15D1EB-9537-4998-A960-B38AD146EDAA}"/>
              </a:ext>
            </a:extLst>
          </p:cNvPr>
          <p:cNvSpPr txBox="1"/>
          <p:nvPr/>
        </p:nvSpPr>
        <p:spPr>
          <a:xfrm>
            <a:off x="10835" y="150093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ЧТО ЭТО ВООБЩЕ ТАКОЕ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1149DA-CA03-4D68-9E9C-53509E3A8C09}"/>
              </a:ext>
            </a:extLst>
          </p:cNvPr>
          <p:cNvSpPr txBox="1"/>
          <p:nvPr/>
        </p:nvSpPr>
        <p:spPr>
          <a:xfrm>
            <a:off x="6096000" y="253778"/>
            <a:ext cx="49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ptos Black" panose="020B0004020202020204" pitchFamily="34" charset="0"/>
              </a:rPr>
              <a:t>ЮРИДИЧЕСКАЯ СЛУЖБА: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DB233C-3C3C-448B-B53E-EB8FEAB064E8}"/>
              </a:ext>
            </a:extLst>
          </p:cNvPr>
          <p:cNvSpPr txBox="1"/>
          <p:nvPr/>
        </p:nvSpPr>
        <p:spPr>
          <a:xfrm>
            <a:off x="6667614" y="725972"/>
            <a:ext cx="4323293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соответствие подрядному договору;</a:t>
            </a:r>
          </a:p>
          <a:p>
            <a:pPr marL="285750" indent="-285750" algn="just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детальность и однозначность описания работ (отсутствие размытых формулировок);</a:t>
            </a:r>
          </a:p>
          <a:p>
            <a:pPr marL="285750" indent="-285750" algn="just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отсутствие замечаний;</a:t>
            </a:r>
          </a:p>
          <a:p>
            <a:pPr marL="285750" indent="-285750" algn="just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претензии и дефекты;</a:t>
            </a:r>
          </a:p>
          <a:p>
            <a:pPr marL="285750" indent="-285750" algn="just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связь с расчетами</a:t>
            </a:r>
          </a:p>
          <a:p>
            <a:pPr marL="285750" indent="-285750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F9AD3D-E079-4BD6-8516-C8DB670E24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53" b="33250"/>
          <a:stretch/>
        </p:blipFill>
        <p:spPr>
          <a:xfrm rot="486222">
            <a:off x="9853343" y="3932288"/>
            <a:ext cx="1975181" cy="17344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E32AD26-C4ED-4027-84CD-BF8692B860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13" b="31213"/>
          <a:stretch/>
        </p:blipFill>
        <p:spPr>
          <a:xfrm rot="21305096">
            <a:off x="6392733" y="3911331"/>
            <a:ext cx="2013132" cy="17873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E009BC-4653-46FE-A791-7E21908F6985}"/>
              </a:ext>
            </a:extLst>
          </p:cNvPr>
          <p:cNvSpPr txBox="1"/>
          <p:nvPr/>
        </p:nvSpPr>
        <p:spPr>
          <a:xfrm>
            <a:off x="6392771" y="5904106"/>
            <a:ext cx="12859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Aptos SemiBold" panose="020B0004020202020204" pitchFamily="34" charset="0"/>
              </a:rPr>
              <a:t>Инна Жукова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F1B4FF-376C-4F26-AA57-EF472D304627}"/>
              </a:ext>
            </a:extLst>
          </p:cNvPr>
          <p:cNvSpPr txBox="1"/>
          <p:nvPr/>
        </p:nvSpPr>
        <p:spPr>
          <a:xfrm>
            <a:off x="10097932" y="5866329"/>
            <a:ext cx="2731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ptos SemiBold" panose="020B0004020202020204" pitchFamily="34" charset="0"/>
              </a:rPr>
              <a:t>Даниил Кучкин</a:t>
            </a:r>
          </a:p>
        </p:txBody>
      </p:sp>
    </p:spTree>
    <p:extLst>
      <p:ext uri="{BB962C8B-B14F-4D97-AF65-F5344CB8AC3E}">
        <p14:creationId xmlns:p14="http://schemas.microsoft.com/office/powerpoint/2010/main" val="855017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7A1A8B-95FE-4E33-BE25-46181DB10A9B}"/>
              </a:ext>
            </a:extLst>
          </p:cNvPr>
          <p:cNvSpPr txBox="1"/>
          <p:nvPr/>
        </p:nvSpPr>
        <p:spPr>
          <a:xfrm>
            <a:off x="-6" y="2041717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КТО ТАКИЕ ПОДРЯДЧИКИ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89E1F8-87BC-429B-B07E-15C84293F2B9}"/>
              </a:ext>
            </a:extLst>
          </p:cNvPr>
          <p:cNvSpPr txBox="1"/>
          <p:nvPr/>
        </p:nvSpPr>
        <p:spPr>
          <a:xfrm>
            <a:off x="-6" y="2576165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ФИШКА ПРОЦЕССА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2A175-482C-4647-A6F9-587A81C05748}"/>
              </a:ext>
            </a:extLst>
          </p:cNvPr>
          <p:cNvSpPr txBox="1"/>
          <p:nvPr/>
        </p:nvSpPr>
        <p:spPr>
          <a:xfrm>
            <a:off x="992771" y="320120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ptos ExtraBold" panose="020B0004020202020204" pitchFamily="34" charset="0"/>
              </a:rPr>
              <a:t>ЛЮДИ И ОТВЕТСТВЕННОСТЬ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822FDB-A71E-4430-96D4-718BEF6079D5}"/>
              </a:ext>
            </a:extLst>
          </p:cNvPr>
          <p:cNvSpPr txBox="1"/>
          <p:nvPr/>
        </p:nvSpPr>
        <p:spPr>
          <a:xfrm>
            <a:off x="-6" y="3801731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СХЕМА ДВИЖЕНИЯ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FF747F-2B71-491B-86D8-5895AC52897C}"/>
              </a:ext>
            </a:extLst>
          </p:cNvPr>
          <p:cNvSpPr txBox="1"/>
          <p:nvPr/>
        </p:nvSpPr>
        <p:spPr>
          <a:xfrm>
            <a:off x="-6" y="4412158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РАЗБОР ДЕТАЛЕЙ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5D8A57-B210-4072-8E01-8A3D368E0B97}"/>
              </a:ext>
            </a:extLst>
          </p:cNvPr>
          <p:cNvSpPr txBox="1"/>
          <p:nvPr/>
        </p:nvSpPr>
        <p:spPr>
          <a:xfrm>
            <a:off x="-6" y="5023132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РАБОЧАЯ СТАНЦИЯ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D8494E-4E64-40F7-B2A9-DB76B1596CCB}"/>
              </a:ext>
            </a:extLst>
          </p:cNvPr>
          <p:cNvSpPr txBox="1"/>
          <p:nvPr/>
        </p:nvSpPr>
        <p:spPr>
          <a:xfrm>
            <a:off x="-6" y="5634106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ТИПИЧНЫЕ ГРАБЛИ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C0B9D8-8258-421D-B390-E04ACA9FD400}"/>
              </a:ext>
            </a:extLst>
          </p:cNvPr>
          <p:cNvSpPr txBox="1"/>
          <p:nvPr/>
        </p:nvSpPr>
        <p:spPr>
          <a:xfrm>
            <a:off x="-6" y="6240955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ОШИБКА 404</a:t>
            </a:r>
          </a:p>
        </p:txBody>
      </p:sp>
      <p:sp>
        <p:nvSpPr>
          <p:cNvPr id="22" name="Равнобедренный треугольник 21">
            <a:extLst>
              <a:ext uri="{FF2B5EF4-FFF2-40B4-BE49-F238E27FC236}">
                <a16:creationId xmlns:a16="http://schemas.microsoft.com/office/drawing/2014/main" id="{3C87D4E0-FC58-4777-B912-9681101452A8}"/>
              </a:ext>
            </a:extLst>
          </p:cNvPr>
          <p:cNvSpPr/>
          <p:nvPr/>
        </p:nvSpPr>
        <p:spPr>
          <a:xfrm rot="5400000">
            <a:off x="-50334" y="3227664"/>
            <a:ext cx="503339" cy="402671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15D1EB-9537-4998-A960-B38AD146EDAA}"/>
              </a:ext>
            </a:extLst>
          </p:cNvPr>
          <p:cNvSpPr txBox="1"/>
          <p:nvPr/>
        </p:nvSpPr>
        <p:spPr>
          <a:xfrm>
            <a:off x="10835" y="150093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ЧТО ЭТО ВООБЩЕ ТАКОЕ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1149DA-CA03-4D68-9E9C-53509E3A8C09}"/>
              </a:ext>
            </a:extLst>
          </p:cNvPr>
          <p:cNvSpPr txBox="1"/>
          <p:nvPr/>
        </p:nvSpPr>
        <p:spPr>
          <a:xfrm>
            <a:off x="6096000" y="253778"/>
            <a:ext cx="49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ptos Black" panose="020B0004020202020204" pitchFamily="34" charset="0"/>
              </a:rPr>
              <a:t>ГЛАВНЫЙ БУХГАЛТЕР: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DB233C-3C3C-448B-B53E-EB8FEAB064E8}"/>
              </a:ext>
            </a:extLst>
          </p:cNvPr>
          <p:cNvSpPr txBox="1"/>
          <p:nvPr/>
        </p:nvSpPr>
        <p:spPr>
          <a:xfrm>
            <a:off x="6667614" y="725972"/>
            <a:ext cx="4323293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обоснованность затрат;</a:t>
            </a:r>
          </a:p>
          <a:p>
            <a:pPr marL="285750" indent="-285750" algn="just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связь с бюджетом;</a:t>
            </a:r>
          </a:p>
          <a:p>
            <a:pPr marL="285750" indent="-285750" algn="just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корректность реквизитов;</a:t>
            </a:r>
          </a:p>
          <a:p>
            <a:pPr marL="285750" indent="-285750" algn="just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корректность расчета стоимость работ ;</a:t>
            </a:r>
          </a:p>
          <a:p>
            <a:pPr marL="285750" indent="-285750" algn="just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обоснование для налоговой;</a:t>
            </a:r>
          </a:p>
          <a:p>
            <a:pPr marL="285750" indent="-285750" algn="just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даты в документах на предмет принятия в бухгалтерский учет</a:t>
            </a:r>
          </a:p>
          <a:p>
            <a:pPr marL="285750" indent="-285750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5C1A88-E961-4D51-B557-EBDA4DC62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63417">
            <a:off x="6472214" y="4025407"/>
            <a:ext cx="2164080" cy="2385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A684B35-A40A-42AB-8809-608FFA922B88}"/>
              </a:ext>
            </a:extLst>
          </p:cNvPr>
          <p:cNvSpPr txBox="1"/>
          <p:nvPr/>
        </p:nvSpPr>
        <p:spPr>
          <a:xfrm>
            <a:off x="8922899" y="4894773"/>
            <a:ext cx="2388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>
                <a:latin typeface="Aptos SemiBold" panose="020B0004020202020204" pitchFamily="34" charset="0"/>
              </a:rPr>
              <a:t>Гречина</a:t>
            </a:r>
            <a:r>
              <a:rPr lang="ru-RU" dirty="0">
                <a:latin typeface="Aptos SemiBold" panose="020B0004020202020204" pitchFamily="34" charset="0"/>
              </a:rPr>
              <a:t> Елена</a:t>
            </a:r>
          </a:p>
        </p:txBody>
      </p:sp>
    </p:spTree>
    <p:extLst>
      <p:ext uri="{BB962C8B-B14F-4D97-AF65-F5344CB8AC3E}">
        <p14:creationId xmlns:p14="http://schemas.microsoft.com/office/powerpoint/2010/main" val="2687959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7A1A8B-95FE-4E33-BE25-46181DB10A9B}"/>
              </a:ext>
            </a:extLst>
          </p:cNvPr>
          <p:cNvSpPr txBox="1"/>
          <p:nvPr/>
        </p:nvSpPr>
        <p:spPr>
          <a:xfrm>
            <a:off x="-6" y="2041717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КТО ТАКИЕ ПОДРЯДЧИКИ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89E1F8-87BC-429B-B07E-15C84293F2B9}"/>
              </a:ext>
            </a:extLst>
          </p:cNvPr>
          <p:cNvSpPr txBox="1"/>
          <p:nvPr/>
        </p:nvSpPr>
        <p:spPr>
          <a:xfrm>
            <a:off x="-6" y="2576165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ФИШКА ПРОЦЕССА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2A175-482C-4647-A6F9-587A81C05748}"/>
              </a:ext>
            </a:extLst>
          </p:cNvPr>
          <p:cNvSpPr txBox="1"/>
          <p:nvPr/>
        </p:nvSpPr>
        <p:spPr>
          <a:xfrm>
            <a:off x="992771" y="320120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ptos ExtraBold" panose="020B0004020202020204" pitchFamily="34" charset="0"/>
              </a:rPr>
              <a:t>ЛЮДИ И ОТВЕТСТВЕННОСТЬ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822FDB-A71E-4430-96D4-718BEF6079D5}"/>
              </a:ext>
            </a:extLst>
          </p:cNvPr>
          <p:cNvSpPr txBox="1"/>
          <p:nvPr/>
        </p:nvSpPr>
        <p:spPr>
          <a:xfrm>
            <a:off x="-6" y="3801731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СХЕМА ДВИЖЕНИЯ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FF747F-2B71-491B-86D8-5895AC52897C}"/>
              </a:ext>
            </a:extLst>
          </p:cNvPr>
          <p:cNvSpPr txBox="1"/>
          <p:nvPr/>
        </p:nvSpPr>
        <p:spPr>
          <a:xfrm>
            <a:off x="-6" y="4412158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РАЗБОР ДЕТАЛЕЙ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5D8A57-B210-4072-8E01-8A3D368E0B97}"/>
              </a:ext>
            </a:extLst>
          </p:cNvPr>
          <p:cNvSpPr txBox="1"/>
          <p:nvPr/>
        </p:nvSpPr>
        <p:spPr>
          <a:xfrm>
            <a:off x="-6" y="5023132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РАБОЧАЯ СТАНЦИЯ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D8494E-4E64-40F7-B2A9-DB76B1596CCB}"/>
              </a:ext>
            </a:extLst>
          </p:cNvPr>
          <p:cNvSpPr txBox="1"/>
          <p:nvPr/>
        </p:nvSpPr>
        <p:spPr>
          <a:xfrm>
            <a:off x="-6" y="5634106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ТИПИЧНЫЕ ГРАБЛИ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C0B9D8-8258-421D-B390-E04ACA9FD400}"/>
              </a:ext>
            </a:extLst>
          </p:cNvPr>
          <p:cNvSpPr txBox="1"/>
          <p:nvPr/>
        </p:nvSpPr>
        <p:spPr>
          <a:xfrm>
            <a:off x="-6" y="6240955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ОШИБКА 404</a:t>
            </a:r>
          </a:p>
        </p:txBody>
      </p:sp>
      <p:sp>
        <p:nvSpPr>
          <p:cNvPr id="22" name="Равнобедренный треугольник 21">
            <a:extLst>
              <a:ext uri="{FF2B5EF4-FFF2-40B4-BE49-F238E27FC236}">
                <a16:creationId xmlns:a16="http://schemas.microsoft.com/office/drawing/2014/main" id="{3C87D4E0-FC58-4777-B912-9681101452A8}"/>
              </a:ext>
            </a:extLst>
          </p:cNvPr>
          <p:cNvSpPr/>
          <p:nvPr/>
        </p:nvSpPr>
        <p:spPr>
          <a:xfrm rot="5400000">
            <a:off x="-50334" y="3227664"/>
            <a:ext cx="503339" cy="402671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15D1EB-9537-4998-A960-B38AD146EDAA}"/>
              </a:ext>
            </a:extLst>
          </p:cNvPr>
          <p:cNvSpPr txBox="1"/>
          <p:nvPr/>
        </p:nvSpPr>
        <p:spPr>
          <a:xfrm>
            <a:off x="10835" y="150093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ЧТО ЭТО ВООБЩЕ ТАКОЕ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1149DA-CA03-4D68-9E9C-53509E3A8C09}"/>
              </a:ext>
            </a:extLst>
          </p:cNvPr>
          <p:cNvSpPr txBox="1"/>
          <p:nvPr/>
        </p:nvSpPr>
        <p:spPr>
          <a:xfrm>
            <a:off x="6095999" y="253778"/>
            <a:ext cx="5537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ptos Black" panose="020B0004020202020204" pitchFamily="34" charset="0"/>
              </a:rPr>
              <a:t>ДИРЕКТОР ДЕПАРТАМЕНТА ПО ФИНАНСАМ: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DB233C-3C3C-448B-B53E-EB8FEAB064E8}"/>
              </a:ext>
            </a:extLst>
          </p:cNvPr>
          <p:cNvSpPr txBox="1"/>
          <p:nvPr/>
        </p:nvSpPr>
        <p:spPr>
          <a:xfrm>
            <a:off x="6685721" y="660559"/>
            <a:ext cx="42083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проверяет и подтверждает наличие денежных средств в финансовом плане для оплаты работ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684B35-A40A-42AB-8809-608FFA922B88}"/>
              </a:ext>
            </a:extLst>
          </p:cNvPr>
          <p:cNvSpPr txBox="1"/>
          <p:nvPr/>
        </p:nvSpPr>
        <p:spPr>
          <a:xfrm>
            <a:off x="6781166" y="1777226"/>
            <a:ext cx="2388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ptos SemiBold" panose="020B0004020202020204" pitchFamily="34" charset="0"/>
              </a:rPr>
              <a:t>Мысягина Юлия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41654E3-8D31-41B7-8DBA-AAC1E7E78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18683">
            <a:off x="9765558" y="1806065"/>
            <a:ext cx="2004060" cy="17678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9E35106-BA8F-4A64-964E-47D2F9DDFBC8}"/>
              </a:ext>
            </a:extLst>
          </p:cNvPr>
          <p:cNvSpPr txBox="1"/>
          <p:nvPr/>
        </p:nvSpPr>
        <p:spPr>
          <a:xfrm>
            <a:off x="6781166" y="2206833"/>
            <a:ext cx="2806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ptos SemiBold" panose="020B0004020202020204" pitchFamily="34" charset="0"/>
              </a:rPr>
              <a:t>"</a:t>
            </a:r>
            <a:r>
              <a:rPr lang="en-US" dirty="0">
                <a:latin typeface="Aptos SemiBold" panose="020B0004020202020204" pitchFamily="34" charset="0"/>
              </a:rPr>
              <a:t>No money no honey</a:t>
            </a:r>
            <a:r>
              <a:rPr lang="ru-RU" dirty="0">
                <a:latin typeface="Aptos SemiBold" panose="020B0004020202020204" pitchFamily="34" charset="0"/>
              </a:rPr>
              <a:t>" (с)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437747-FBFE-4184-9BD9-984BCE4E2DA7}"/>
              </a:ext>
            </a:extLst>
          </p:cNvPr>
          <p:cNvSpPr txBox="1"/>
          <p:nvPr/>
        </p:nvSpPr>
        <p:spPr>
          <a:xfrm>
            <a:off x="6195588" y="3700316"/>
            <a:ext cx="49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ptos Black" panose="020B0004020202020204" pitchFamily="34" charset="0"/>
              </a:rPr>
              <a:t>ДИРЕКТОР ПО ПРОИЗВОДСТВУ: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FEECE5-2829-4A19-8659-47E2E3736944}"/>
              </a:ext>
            </a:extLst>
          </p:cNvPr>
          <p:cNvSpPr txBox="1"/>
          <p:nvPr/>
        </p:nvSpPr>
        <p:spPr>
          <a:xfrm>
            <a:off x="8184393" y="4238302"/>
            <a:ext cx="39019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согласовывает привлечение подрядчика и ставку;</a:t>
            </a:r>
          </a:p>
          <a:p>
            <a:pPr marL="285750" indent="-285750" algn="just">
              <a:buFontTx/>
              <a:buChar char="-"/>
            </a:pPr>
            <a:endParaRPr lang="ru-RU" sz="6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проверяет наличие денежных средств на подрядчика </a:t>
            </a:r>
            <a:br>
              <a:rPr lang="ru-RU" dirty="0">
                <a:latin typeface="Aptos Light" panose="020B0004020202020204" pitchFamily="34" charset="0"/>
              </a:rPr>
            </a:br>
            <a:r>
              <a:rPr lang="ru-RU" dirty="0">
                <a:latin typeface="Aptos Light" panose="020B0004020202020204" pitchFamily="34" charset="0"/>
              </a:rPr>
              <a:t>в ресурсном плане проекта 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D97C220-DB3F-4015-BF02-287EFB974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29469">
            <a:off x="5902238" y="4365717"/>
            <a:ext cx="1988820" cy="17678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808E107-1F2A-488A-8E24-8264D67EEEB3}"/>
              </a:ext>
            </a:extLst>
          </p:cNvPr>
          <p:cNvSpPr txBox="1"/>
          <p:nvPr/>
        </p:nvSpPr>
        <p:spPr>
          <a:xfrm>
            <a:off x="7489464" y="6113178"/>
            <a:ext cx="2388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ptos SemiBold" panose="020B0004020202020204" pitchFamily="34" charset="0"/>
              </a:rPr>
              <a:t>Кузнецов Евгений</a:t>
            </a:r>
          </a:p>
        </p:txBody>
      </p:sp>
    </p:spTree>
    <p:extLst>
      <p:ext uri="{BB962C8B-B14F-4D97-AF65-F5344CB8AC3E}">
        <p14:creationId xmlns:p14="http://schemas.microsoft.com/office/powerpoint/2010/main" val="1025697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7A1A8B-95FE-4E33-BE25-46181DB10A9B}"/>
              </a:ext>
            </a:extLst>
          </p:cNvPr>
          <p:cNvSpPr txBox="1"/>
          <p:nvPr/>
        </p:nvSpPr>
        <p:spPr>
          <a:xfrm>
            <a:off x="-6" y="2041717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КТО ТАКИЕ ПОДРЯДЧИКИ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89E1F8-87BC-429B-B07E-15C84293F2B9}"/>
              </a:ext>
            </a:extLst>
          </p:cNvPr>
          <p:cNvSpPr txBox="1"/>
          <p:nvPr/>
        </p:nvSpPr>
        <p:spPr>
          <a:xfrm>
            <a:off x="-6" y="2576165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ФИШКА ПРОЦЕССА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2A175-482C-4647-A6F9-587A81C05748}"/>
              </a:ext>
            </a:extLst>
          </p:cNvPr>
          <p:cNvSpPr txBox="1"/>
          <p:nvPr/>
        </p:nvSpPr>
        <p:spPr>
          <a:xfrm>
            <a:off x="992771" y="320120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ptos ExtraBold" panose="020B0004020202020204" pitchFamily="34" charset="0"/>
              </a:rPr>
              <a:t>ЛЮДИ И ОТВЕТСТВЕННОСТЬ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822FDB-A71E-4430-96D4-718BEF6079D5}"/>
              </a:ext>
            </a:extLst>
          </p:cNvPr>
          <p:cNvSpPr txBox="1"/>
          <p:nvPr/>
        </p:nvSpPr>
        <p:spPr>
          <a:xfrm>
            <a:off x="-6" y="3801731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СХЕМА ДВИЖЕНИЯ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FF747F-2B71-491B-86D8-5895AC52897C}"/>
              </a:ext>
            </a:extLst>
          </p:cNvPr>
          <p:cNvSpPr txBox="1"/>
          <p:nvPr/>
        </p:nvSpPr>
        <p:spPr>
          <a:xfrm>
            <a:off x="-6" y="4412158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РАЗБОР ДЕТАЛЕЙ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5D8A57-B210-4072-8E01-8A3D368E0B97}"/>
              </a:ext>
            </a:extLst>
          </p:cNvPr>
          <p:cNvSpPr txBox="1"/>
          <p:nvPr/>
        </p:nvSpPr>
        <p:spPr>
          <a:xfrm>
            <a:off x="-6" y="5023132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РАБОЧАЯ СТАНЦИЯ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D8494E-4E64-40F7-B2A9-DB76B1596CCB}"/>
              </a:ext>
            </a:extLst>
          </p:cNvPr>
          <p:cNvSpPr txBox="1"/>
          <p:nvPr/>
        </p:nvSpPr>
        <p:spPr>
          <a:xfrm>
            <a:off x="-6" y="5634106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ТИПИЧНЫЕ ГРАБЛИ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C0B9D8-8258-421D-B390-E04ACA9FD400}"/>
              </a:ext>
            </a:extLst>
          </p:cNvPr>
          <p:cNvSpPr txBox="1"/>
          <p:nvPr/>
        </p:nvSpPr>
        <p:spPr>
          <a:xfrm>
            <a:off x="-6" y="6240955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ОШИБКА 404</a:t>
            </a:r>
          </a:p>
        </p:txBody>
      </p:sp>
      <p:sp>
        <p:nvSpPr>
          <p:cNvPr id="22" name="Равнобедренный треугольник 21">
            <a:extLst>
              <a:ext uri="{FF2B5EF4-FFF2-40B4-BE49-F238E27FC236}">
                <a16:creationId xmlns:a16="http://schemas.microsoft.com/office/drawing/2014/main" id="{3C87D4E0-FC58-4777-B912-9681101452A8}"/>
              </a:ext>
            </a:extLst>
          </p:cNvPr>
          <p:cNvSpPr/>
          <p:nvPr/>
        </p:nvSpPr>
        <p:spPr>
          <a:xfrm rot="5400000">
            <a:off x="-50334" y="3227664"/>
            <a:ext cx="503339" cy="402671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15D1EB-9537-4998-A960-B38AD146EDAA}"/>
              </a:ext>
            </a:extLst>
          </p:cNvPr>
          <p:cNvSpPr txBox="1"/>
          <p:nvPr/>
        </p:nvSpPr>
        <p:spPr>
          <a:xfrm>
            <a:off x="10835" y="150093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ЧТО ЭТО ВООБЩЕ ТАКОЕ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1149DA-CA03-4D68-9E9C-53509E3A8C09}"/>
              </a:ext>
            </a:extLst>
          </p:cNvPr>
          <p:cNvSpPr txBox="1"/>
          <p:nvPr/>
        </p:nvSpPr>
        <p:spPr>
          <a:xfrm>
            <a:off x="6096000" y="253778"/>
            <a:ext cx="49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ptos Black" panose="020B0004020202020204" pitchFamily="34" charset="0"/>
              </a:rPr>
              <a:t>ДИРЕКТОР ДЕПАРТАМЕНТА РАЗРАБОТКИ: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DB233C-3C3C-448B-B53E-EB8FEAB064E8}"/>
              </a:ext>
            </a:extLst>
          </p:cNvPr>
          <p:cNvSpPr txBox="1"/>
          <p:nvPr/>
        </p:nvSpPr>
        <p:spPr>
          <a:xfrm>
            <a:off x="6685721" y="660559"/>
            <a:ext cx="4208383" cy="158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согласовывает факт отсутствия претензий компании к выполненным работам;</a:t>
            </a:r>
          </a:p>
          <a:p>
            <a:pPr marL="285750" indent="-285750" algn="just">
              <a:buFontTx/>
              <a:buChar char="-"/>
            </a:pPr>
            <a:endParaRPr lang="ru-RU" sz="600" dirty="0">
              <a:latin typeface="Aptos Light" panose="020B00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финальное согласование </a:t>
            </a:r>
            <a:br>
              <a:rPr lang="ru-RU" dirty="0">
                <a:latin typeface="Aptos Light" panose="020B0004020202020204" pitchFamily="34" charset="0"/>
              </a:rPr>
            </a:br>
            <a:r>
              <a:rPr lang="ru-RU" dirty="0">
                <a:latin typeface="Aptos Light" panose="020B0004020202020204" pitchFamily="34" charset="0"/>
              </a:rPr>
              <a:t>для проведения оплаты подрядчику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684B35-A40A-42AB-8809-608FFA922B88}"/>
              </a:ext>
            </a:extLst>
          </p:cNvPr>
          <p:cNvSpPr txBox="1"/>
          <p:nvPr/>
        </p:nvSpPr>
        <p:spPr>
          <a:xfrm>
            <a:off x="8919572" y="2979472"/>
            <a:ext cx="2388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ptos SemiBold" panose="020B0004020202020204" pitchFamily="34" charset="0"/>
              </a:rPr>
              <a:t>Ванчиков Всеволод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0B06EE-94AD-4FD5-81B6-CA7EA5B75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02658">
            <a:off x="6470678" y="2785319"/>
            <a:ext cx="1973580" cy="1790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81834634-F9E4-4AD9-BA7B-1E0896340DB7}"/>
              </a:ext>
            </a:extLst>
          </p:cNvPr>
          <p:cNvSpPr txBox="1"/>
          <p:nvPr/>
        </p:nvSpPr>
        <p:spPr>
          <a:xfrm>
            <a:off x="6792008" y="4997112"/>
            <a:ext cx="52038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i="1" u="sng" dirty="0">
                <a:latin typeface="Aptos Light" panose="020B0004020202020204" pitchFamily="34" charset="0"/>
              </a:rPr>
              <a:t>Напрямую писать нельзя, если лично Всеволодом это не санкционировано. </a:t>
            </a:r>
          </a:p>
          <a:p>
            <a:pPr algn="just"/>
            <a:endParaRPr lang="ru-RU" b="1" i="1" u="sng" dirty="0">
              <a:latin typeface="Aptos Light" panose="020B0004020202020204" pitchFamily="34" charset="0"/>
            </a:endParaRPr>
          </a:p>
          <a:p>
            <a:pPr algn="just"/>
            <a:r>
              <a:rPr lang="ru-RU" dirty="0">
                <a:latin typeface="Aptos Light" panose="020B0004020202020204" pitchFamily="34" charset="0"/>
              </a:rPr>
              <a:t>Если необходимо напомнить о согласовании, сделай это через РП/РН</a:t>
            </a:r>
          </a:p>
        </p:txBody>
      </p:sp>
    </p:spTree>
    <p:extLst>
      <p:ext uri="{BB962C8B-B14F-4D97-AF65-F5344CB8AC3E}">
        <p14:creationId xmlns:p14="http://schemas.microsoft.com/office/powerpoint/2010/main" val="23576740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7A1A8B-95FE-4E33-BE25-46181DB10A9B}"/>
              </a:ext>
            </a:extLst>
          </p:cNvPr>
          <p:cNvSpPr txBox="1"/>
          <p:nvPr/>
        </p:nvSpPr>
        <p:spPr>
          <a:xfrm>
            <a:off x="0" y="1438799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КТО ТАКИЕ ПОДРЯДЧИКИ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89E1F8-87BC-429B-B07E-15C84293F2B9}"/>
              </a:ext>
            </a:extLst>
          </p:cNvPr>
          <p:cNvSpPr txBox="1"/>
          <p:nvPr/>
        </p:nvSpPr>
        <p:spPr>
          <a:xfrm>
            <a:off x="0" y="1973247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ФИШКА ПРОЦЕССА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2A175-482C-4647-A6F9-587A81C05748}"/>
              </a:ext>
            </a:extLst>
          </p:cNvPr>
          <p:cNvSpPr txBox="1"/>
          <p:nvPr/>
        </p:nvSpPr>
        <p:spPr>
          <a:xfrm>
            <a:off x="0" y="2586030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ЛЮДИ И ОТВЕТСТВЕННОСТЬ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822FDB-A71E-4430-96D4-718BEF6079D5}"/>
              </a:ext>
            </a:extLst>
          </p:cNvPr>
          <p:cNvSpPr txBox="1"/>
          <p:nvPr/>
        </p:nvSpPr>
        <p:spPr>
          <a:xfrm>
            <a:off x="1062459" y="3198813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ptos ExtraBold" panose="020B0004020202020204" pitchFamily="34" charset="0"/>
              </a:rPr>
              <a:t>СХЕМА ДВИЖЕНИЯ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FF747F-2B71-491B-86D8-5895AC52897C}"/>
              </a:ext>
            </a:extLst>
          </p:cNvPr>
          <p:cNvSpPr txBox="1"/>
          <p:nvPr/>
        </p:nvSpPr>
        <p:spPr>
          <a:xfrm>
            <a:off x="0" y="380924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РАЗБОР ДЕТАЛЕЙ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5D8A57-B210-4072-8E01-8A3D368E0B97}"/>
              </a:ext>
            </a:extLst>
          </p:cNvPr>
          <p:cNvSpPr txBox="1"/>
          <p:nvPr/>
        </p:nvSpPr>
        <p:spPr>
          <a:xfrm>
            <a:off x="0" y="4420214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РАБОЧАЯ СТАНЦИЯ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D8494E-4E64-40F7-B2A9-DB76B1596CCB}"/>
              </a:ext>
            </a:extLst>
          </p:cNvPr>
          <p:cNvSpPr txBox="1"/>
          <p:nvPr/>
        </p:nvSpPr>
        <p:spPr>
          <a:xfrm>
            <a:off x="0" y="5031188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ТИПИЧНЫЕ ГРАБЛИ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C0B9D8-8258-421D-B390-E04ACA9FD400}"/>
              </a:ext>
            </a:extLst>
          </p:cNvPr>
          <p:cNvSpPr txBox="1"/>
          <p:nvPr/>
        </p:nvSpPr>
        <p:spPr>
          <a:xfrm>
            <a:off x="0" y="5638037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ОШИБКА 404</a:t>
            </a:r>
          </a:p>
        </p:txBody>
      </p:sp>
      <p:sp>
        <p:nvSpPr>
          <p:cNvPr id="22" name="Равнобедренный треугольник 21">
            <a:extLst>
              <a:ext uri="{FF2B5EF4-FFF2-40B4-BE49-F238E27FC236}">
                <a16:creationId xmlns:a16="http://schemas.microsoft.com/office/drawing/2014/main" id="{3C87D4E0-FC58-4777-B912-9681101452A8}"/>
              </a:ext>
            </a:extLst>
          </p:cNvPr>
          <p:cNvSpPr/>
          <p:nvPr/>
        </p:nvSpPr>
        <p:spPr>
          <a:xfrm rot="5400000">
            <a:off x="-50334" y="3227664"/>
            <a:ext cx="503339" cy="402671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BF99BF-8A95-4F91-A930-106FFCCEE368}"/>
              </a:ext>
            </a:extLst>
          </p:cNvPr>
          <p:cNvSpPr txBox="1"/>
          <p:nvPr/>
        </p:nvSpPr>
        <p:spPr>
          <a:xfrm>
            <a:off x="10835" y="90403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ЧТО ЭТО ВООБЩЕ ТАКОЕ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4E9BD9-1A97-4B9C-B9C9-4C8355937DDB}"/>
              </a:ext>
            </a:extLst>
          </p:cNvPr>
          <p:cNvSpPr txBox="1"/>
          <p:nvPr/>
        </p:nvSpPr>
        <p:spPr>
          <a:xfrm>
            <a:off x="6096000" y="1972048"/>
            <a:ext cx="5294811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700" dirty="0">
                <a:latin typeface="Aptos Black" panose="020B0004020202020204" pitchFamily="34" charset="0"/>
              </a:rPr>
              <a:t>Вне зависимости от </a:t>
            </a:r>
            <a:r>
              <a:rPr lang="ru-RU" sz="1700" strike="sngStrike" dirty="0">
                <a:latin typeface="Aptos Black" panose="020B0004020202020204" pitchFamily="34" charset="0"/>
              </a:rPr>
              <a:t>стадии</a:t>
            </a:r>
            <a:r>
              <a:rPr lang="ru-RU" sz="1700" dirty="0">
                <a:latin typeface="Aptos Black" panose="020B0004020202020204" pitchFamily="34" charset="0"/>
              </a:rPr>
              <a:t> </a:t>
            </a:r>
            <a:r>
              <a:rPr lang="ru-RU" sz="1700" strike="sngStrike" dirty="0">
                <a:latin typeface="Aptos Black" panose="020B0004020202020204" pitchFamily="34" charset="0"/>
              </a:rPr>
              <a:t>отрицания, гнева, торга и т.д.</a:t>
            </a:r>
            <a:r>
              <a:rPr lang="ru-RU" sz="1700" dirty="0">
                <a:latin typeface="Aptos Black" panose="020B0004020202020204" pitchFamily="34" charset="0"/>
              </a:rPr>
              <a:t> подпроцесса логика работы администратора проектов не меняется: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49AC83-A06B-4FEA-BBC5-4CCB02534D0C}"/>
              </a:ext>
            </a:extLst>
          </p:cNvPr>
          <p:cNvSpPr txBox="1"/>
          <p:nvPr/>
        </p:nvSpPr>
        <p:spPr>
          <a:xfrm>
            <a:off x="6096000" y="310051"/>
            <a:ext cx="4850674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750" dirty="0">
                <a:latin typeface="Aptos Black" panose="020B0004020202020204" pitchFamily="34" charset="0"/>
              </a:rPr>
              <a:t>УСЛОВНЫЕ ПОДПРОЦЕССЫ:</a:t>
            </a:r>
            <a:endParaRPr lang="ru-RU" sz="1700" dirty="0">
              <a:latin typeface="Aptos Light" panose="020B0004020202020204" pitchFamily="34" charset="0"/>
            </a:endParaRP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9CB92402-CF7B-472F-9D34-43334D8DB1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8721606"/>
              </p:ext>
            </p:extLst>
          </p:nvPr>
        </p:nvGraphicFramePr>
        <p:xfrm>
          <a:off x="5959020" y="2946400"/>
          <a:ext cx="5087802" cy="36290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188BC9BE-7FC9-40FD-900C-3CE172518A92}"/>
              </a:ext>
            </a:extLst>
          </p:cNvPr>
          <p:cNvSpPr txBox="1"/>
          <p:nvPr/>
        </p:nvSpPr>
        <p:spPr>
          <a:xfrm>
            <a:off x="6196148" y="768877"/>
            <a:ext cx="432329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оформили;</a:t>
            </a:r>
          </a:p>
          <a:p>
            <a:endParaRPr lang="ru-RU" sz="700" dirty="0">
              <a:latin typeface="Aptos Light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отчитались;</a:t>
            </a:r>
          </a:p>
          <a:p>
            <a:endParaRPr lang="ru-RU" sz="700" dirty="0">
              <a:latin typeface="Aptos Light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Aptos Light" panose="020B0004020202020204" pitchFamily="34" charset="0"/>
              </a:rPr>
              <a:t>оплатили</a:t>
            </a:r>
            <a:endParaRPr lang="ru-RU" sz="700" dirty="0">
              <a:latin typeface="Aptos Light" panose="020B0004020202020204" pitchFamily="34" charset="0"/>
            </a:endParaRPr>
          </a:p>
          <a:p>
            <a:pPr marL="285750" indent="-285750">
              <a:buFontTx/>
              <a:buChar char="-"/>
            </a:pPr>
            <a:endParaRPr lang="ru-RU" sz="700" dirty="0"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825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7A1A8B-95FE-4E33-BE25-46181DB10A9B}"/>
              </a:ext>
            </a:extLst>
          </p:cNvPr>
          <p:cNvSpPr txBox="1"/>
          <p:nvPr/>
        </p:nvSpPr>
        <p:spPr>
          <a:xfrm>
            <a:off x="5377" y="866142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КТО ТАКИЕ ПОДРЯДЧИКИ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89E1F8-87BC-429B-B07E-15C84293F2B9}"/>
              </a:ext>
            </a:extLst>
          </p:cNvPr>
          <p:cNvSpPr txBox="1"/>
          <p:nvPr/>
        </p:nvSpPr>
        <p:spPr>
          <a:xfrm>
            <a:off x="5377" y="1400590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ФИШКА ПРОЦЕССА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2A175-482C-4647-A6F9-587A81C05748}"/>
              </a:ext>
            </a:extLst>
          </p:cNvPr>
          <p:cNvSpPr txBox="1"/>
          <p:nvPr/>
        </p:nvSpPr>
        <p:spPr>
          <a:xfrm>
            <a:off x="5377" y="2013373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ЛЮДИ И ОТВЕТСТВЕННОСТЬ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822FDB-A71E-4430-96D4-718BEF6079D5}"/>
              </a:ext>
            </a:extLst>
          </p:cNvPr>
          <p:cNvSpPr txBox="1"/>
          <p:nvPr/>
        </p:nvSpPr>
        <p:spPr>
          <a:xfrm>
            <a:off x="5377" y="2626156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СХЕМА ДВИЖЕНИЯ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FF747F-2B71-491B-86D8-5895AC52897C}"/>
              </a:ext>
            </a:extLst>
          </p:cNvPr>
          <p:cNvSpPr txBox="1"/>
          <p:nvPr/>
        </p:nvSpPr>
        <p:spPr>
          <a:xfrm>
            <a:off x="951684" y="3236583"/>
            <a:ext cx="445369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ptos ExtraBold" panose="020B0004020202020204" pitchFamily="34" charset="0"/>
              </a:rPr>
              <a:t>РАЗБОР ДЕТАЛЕЙ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5D8A57-B210-4072-8E01-8A3D368E0B97}"/>
              </a:ext>
            </a:extLst>
          </p:cNvPr>
          <p:cNvSpPr txBox="1"/>
          <p:nvPr/>
        </p:nvSpPr>
        <p:spPr>
          <a:xfrm>
            <a:off x="5377" y="3847557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РАБОЧАЯ СТАНЦИЯ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D8494E-4E64-40F7-B2A9-DB76B1596CCB}"/>
              </a:ext>
            </a:extLst>
          </p:cNvPr>
          <p:cNvSpPr txBox="1"/>
          <p:nvPr/>
        </p:nvSpPr>
        <p:spPr>
          <a:xfrm>
            <a:off x="5377" y="4458531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ТИПИЧНЫЕ ГРАБЛИ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C0B9D8-8258-421D-B390-E04ACA9FD400}"/>
              </a:ext>
            </a:extLst>
          </p:cNvPr>
          <p:cNvSpPr txBox="1"/>
          <p:nvPr/>
        </p:nvSpPr>
        <p:spPr>
          <a:xfrm>
            <a:off x="5377" y="506538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ОШИБКА 404</a:t>
            </a:r>
          </a:p>
        </p:txBody>
      </p:sp>
      <p:sp>
        <p:nvSpPr>
          <p:cNvPr id="22" name="Равнобедренный треугольник 21">
            <a:extLst>
              <a:ext uri="{FF2B5EF4-FFF2-40B4-BE49-F238E27FC236}">
                <a16:creationId xmlns:a16="http://schemas.microsoft.com/office/drawing/2014/main" id="{3C87D4E0-FC58-4777-B912-9681101452A8}"/>
              </a:ext>
            </a:extLst>
          </p:cNvPr>
          <p:cNvSpPr/>
          <p:nvPr/>
        </p:nvSpPr>
        <p:spPr>
          <a:xfrm rot="5400000">
            <a:off x="-50334" y="3227664"/>
            <a:ext cx="503339" cy="402671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9C0BF7-7FD9-4926-B043-A9D11A794E2D}"/>
              </a:ext>
            </a:extLst>
          </p:cNvPr>
          <p:cNvSpPr txBox="1"/>
          <p:nvPr/>
        </p:nvSpPr>
        <p:spPr>
          <a:xfrm>
            <a:off x="10835" y="33253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ЧТО ЭТО ВООБЩЕ ТАКОЕ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597EDD-F3B9-4DF6-B080-25A99F3D7693}"/>
              </a:ext>
            </a:extLst>
          </p:cNvPr>
          <p:cNvSpPr txBox="1"/>
          <p:nvPr/>
        </p:nvSpPr>
        <p:spPr>
          <a:xfrm>
            <a:off x="6196148" y="341461"/>
            <a:ext cx="6091199" cy="638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ptos Black" panose="020B0004020202020204" pitchFamily="34" charset="0"/>
              </a:rPr>
              <a:t>ПОДПРОЦЕССЫ:</a:t>
            </a:r>
          </a:p>
          <a:p>
            <a:r>
              <a:rPr lang="ru-RU" sz="1600" dirty="0">
                <a:latin typeface="Aptos Mono" panose="020B0009020202020204" pitchFamily="49" charset="0"/>
              </a:rPr>
              <a:t>(подробнее описываются в отдельных инструкциях)</a:t>
            </a:r>
            <a:r>
              <a:rPr lang="ru-RU" sz="1750" dirty="0">
                <a:latin typeface="Aptos Mono" panose="020B0009020202020204" pitchFamily="49" charset="0"/>
              </a:rPr>
              <a:t> </a:t>
            </a:r>
            <a:endParaRPr lang="ru-RU" sz="1700" dirty="0">
              <a:latin typeface="Aptos Mono" panose="020B000902020202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D3FD9F-5E20-453C-B9CE-765413C9F6CC}"/>
              </a:ext>
            </a:extLst>
          </p:cNvPr>
          <p:cNvSpPr txBox="1"/>
          <p:nvPr/>
        </p:nvSpPr>
        <p:spPr>
          <a:xfrm>
            <a:off x="6196148" y="1411714"/>
            <a:ext cx="4850674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sz="1750" dirty="0">
                <a:latin typeface="Aptos Black" panose="020B0004020202020204" pitchFamily="34" charset="0"/>
              </a:rPr>
              <a:t>Официальное оформление: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D2F82C-11E8-4A31-BEDA-C30D59D2D511}"/>
              </a:ext>
            </a:extLst>
          </p:cNvPr>
          <p:cNvSpPr txBox="1"/>
          <p:nvPr/>
        </p:nvSpPr>
        <p:spPr>
          <a:xfrm>
            <a:off x="6196148" y="3001696"/>
            <a:ext cx="4850674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750" dirty="0">
                <a:latin typeface="Aptos Black" panose="020B0004020202020204" pitchFamily="34" charset="0"/>
              </a:rPr>
              <a:t>2. Отчетная документация:</a:t>
            </a:r>
            <a:endParaRPr lang="ru-RU" sz="1700" dirty="0">
              <a:latin typeface="Aptos Light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B2FA83-F891-4FE6-BAD6-2B75DA95A33F}"/>
              </a:ext>
            </a:extLst>
          </p:cNvPr>
          <p:cNvSpPr txBox="1"/>
          <p:nvPr/>
        </p:nvSpPr>
        <p:spPr>
          <a:xfrm>
            <a:off x="6196148" y="4530537"/>
            <a:ext cx="4850674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750" dirty="0">
                <a:latin typeface="Aptos Black" panose="020B0004020202020204" pitchFamily="34" charset="0"/>
              </a:rPr>
              <a:t>3. Оплата выполненных работ:</a:t>
            </a:r>
            <a:endParaRPr lang="ru-RU" sz="1700" dirty="0">
              <a:latin typeface="Aptos Light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7FED5B-B381-480C-BE0C-1C78427A93B5}"/>
              </a:ext>
            </a:extLst>
          </p:cNvPr>
          <p:cNvSpPr txBox="1"/>
          <p:nvPr/>
        </p:nvSpPr>
        <p:spPr>
          <a:xfrm>
            <a:off x="6196148" y="1887180"/>
            <a:ext cx="5691052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ru-RU" sz="1750" dirty="0">
                <a:latin typeface="Aptos Light" panose="020B0004020202020204" pitchFamily="34" charset="0"/>
              </a:rPr>
              <a:t>договор – это как ПИН-код: без него подрядчик </a:t>
            </a:r>
            <a:br>
              <a:rPr lang="ru-RU" sz="1750" dirty="0">
                <a:latin typeface="Aptos Light" panose="020B0004020202020204" pitchFamily="34" charset="0"/>
              </a:rPr>
            </a:br>
            <a:r>
              <a:rPr lang="ru-RU" sz="1750" dirty="0">
                <a:latin typeface="Aptos Light" panose="020B0004020202020204" pitchFamily="34" charset="0"/>
              </a:rPr>
              <a:t>не работает, а компания не оплачивает выполненные работы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12FC02-43D5-4AAA-B74D-C5927FB78C7F}"/>
              </a:ext>
            </a:extLst>
          </p:cNvPr>
          <p:cNvSpPr txBox="1"/>
          <p:nvPr/>
        </p:nvSpPr>
        <p:spPr>
          <a:xfrm>
            <a:off x="6196148" y="3577603"/>
            <a:ext cx="56910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ru-RU" sz="1750" dirty="0">
                <a:latin typeface="Aptos Light" panose="020B0004020202020204" pitchFamily="34" charset="0"/>
              </a:rPr>
              <a:t>как справка о выполнении: результат есть, претензий нет – деньги выплачены;</a:t>
            </a:r>
          </a:p>
          <a:p>
            <a:pPr algn="just"/>
            <a:endParaRPr lang="ru-RU" sz="700" dirty="0">
              <a:latin typeface="Aptos Light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163579-1403-4DBA-993E-E5EEBBE2C7ED}"/>
              </a:ext>
            </a:extLst>
          </p:cNvPr>
          <p:cNvSpPr txBox="1"/>
          <p:nvPr/>
        </p:nvSpPr>
        <p:spPr>
          <a:xfrm>
            <a:off x="6168933" y="5106444"/>
            <a:ext cx="5691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ru-RU" b="0" i="0" dirty="0">
                <a:effectLst/>
                <a:latin typeface="Aptos Light" panose="020B0004020202020204" pitchFamily="34" charset="0"/>
              </a:rPr>
              <a:t>компания платит, подрядчик выдыхает</a:t>
            </a:r>
            <a:r>
              <a:rPr lang="ru-RU" dirty="0">
                <a:latin typeface="Aptos Light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2376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7A1A8B-95FE-4E33-BE25-46181DB10A9B}"/>
              </a:ext>
            </a:extLst>
          </p:cNvPr>
          <p:cNvSpPr txBox="1"/>
          <p:nvPr/>
        </p:nvSpPr>
        <p:spPr>
          <a:xfrm>
            <a:off x="5830" y="20944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КТО ТАКИЕ ПОДРЯДЧИКИ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89E1F8-87BC-429B-B07E-15C84293F2B9}"/>
              </a:ext>
            </a:extLst>
          </p:cNvPr>
          <p:cNvSpPr txBox="1"/>
          <p:nvPr/>
        </p:nvSpPr>
        <p:spPr>
          <a:xfrm>
            <a:off x="5830" y="743888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ФИШКА ПРОЦЕССА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2A175-482C-4647-A6F9-587A81C05748}"/>
              </a:ext>
            </a:extLst>
          </p:cNvPr>
          <p:cNvSpPr txBox="1"/>
          <p:nvPr/>
        </p:nvSpPr>
        <p:spPr>
          <a:xfrm>
            <a:off x="5830" y="1356671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ЛЮДИ И ОТВЕТСТВЕННОСТЬ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822FDB-A71E-4430-96D4-718BEF6079D5}"/>
              </a:ext>
            </a:extLst>
          </p:cNvPr>
          <p:cNvSpPr txBox="1"/>
          <p:nvPr/>
        </p:nvSpPr>
        <p:spPr>
          <a:xfrm>
            <a:off x="5830" y="1969454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СХЕМА ДВИЖЕНИЯ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FF747F-2B71-491B-86D8-5895AC52897C}"/>
              </a:ext>
            </a:extLst>
          </p:cNvPr>
          <p:cNvSpPr txBox="1"/>
          <p:nvPr/>
        </p:nvSpPr>
        <p:spPr>
          <a:xfrm>
            <a:off x="5830" y="2579881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РАЗБОР ДЕТАЛЕЙ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5D8A57-B210-4072-8E01-8A3D368E0B97}"/>
              </a:ext>
            </a:extLst>
          </p:cNvPr>
          <p:cNvSpPr txBox="1"/>
          <p:nvPr/>
        </p:nvSpPr>
        <p:spPr>
          <a:xfrm>
            <a:off x="946366" y="3190855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ptos ExtraBold" panose="020B0004020202020204" pitchFamily="34" charset="0"/>
              </a:rPr>
              <a:t>РАБОЧАЯ СТАНЦИЯ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D8494E-4E64-40F7-B2A9-DB76B1596CCB}"/>
              </a:ext>
            </a:extLst>
          </p:cNvPr>
          <p:cNvSpPr txBox="1"/>
          <p:nvPr/>
        </p:nvSpPr>
        <p:spPr>
          <a:xfrm>
            <a:off x="5830" y="3801829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ТИПИЧНЫЕ ГРАБЛИ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C0B9D8-8258-421D-B390-E04ACA9FD400}"/>
              </a:ext>
            </a:extLst>
          </p:cNvPr>
          <p:cNvSpPr txBox="1"/>
          <p:nvPr/>
        </p:nvSpPr>
        <p:spPr>
          <a:xfrm>
            <a:off x="5830" y="4408678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ОШИБКА 404</a:t>
            </a:r>
          </a:p>
        </p:txBody>
      </p:sp>
      <p:sp>
        <p:nvSpPr>
          <p:cNvPr id="22" name="Равнобедренный треугольник 21">
            <a:extLst>
              <a:ext uri="{FF2B5EF4-FFF2-40B4-BE49-F238E27FC236}">
                <a16:creationId xmlns:a16="http://schemas.microsoft.com/office/drawing/2014/main" id="{3C87D4E0-FC58-4777-B912-9681101452A8}"/>
              </a:ext>
            </a:extLst>
          </p:cNvPr>
          <p:cNvSpPr/>
          <p:nvPr/>
        </p:nvSpPr>
        <p:spPr>
          <a:xfrm rot="5400000">
            <a:off x="-50334" y="3227664"/>
            <a:ext cx="503339" cy="402671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499849-1CCF-40B6-9BCD-6F8C0B5547AC}"/>
              </a:ext>
            </a:extLst>
          </p:cNvPr>
          <p:cNvSpPr txBox="1"/>
          <p:nvPr/>
        </p:nvSpPr>
        <p:spPr>
          <a:xfrm>
            <a:off x="10835" y="-32787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ЧТО ЭТО ВООБЩЕ ТАКОЕ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A077504-3CF1-465A-8384-DCC80B374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5714">
            <a:off x="8947049" y="1000425"/>
            <a:ext cx="2389990" cy="179249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2CF32CA-3EAC-48C1-9DE4-760ACD914899}"/>
              </a:ext>
            </a:extLst>
          </p:cNvPr>
          <p:cNvSpPr txBox="1"/>
          <p:nvPr/>
        </p:nvSpPr>
        <p:spPr>
          <a:xfrm>
            <a:off x="6163486" y="559222"/>
            <a:ext cx="6091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ptos Black" panose="020B0004020202020204" pitchFamily="34" charset="0"/>
              </a:rPr>
              <a:t>ПОЛЕЗНЫЕ ССЫЛКИ: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F8C9C5-8962-40F5-B041-F9D1C5723339}"/>
              </a:ext>
            </a:extLst>
          </p:cNvPr>
          <p:cNvSpPr txBox="1"/>
          <p:nvPr/>
        </p:nvSpPr>
        <p:spPr>
          <a:xfrm>
            <a:off x="6163486" y="3428999"/>
            <a:ext cx="5817800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750" dirty="0">
                <a:latin typeface="Aptos Light" panose="020B0004020202020204" pitchFamily="34" charset="0"/>
                <a:hlinkClick r:id="rId4"/>
              </a:rPr>
              <a:t>Процесс оформления подрядчиков</a:t>
            </a:r>
            <a:endParaRPr lang="ru-RU" sz="1750" dirty="0">
              <a:latin typeface="Aptos Light" panose="020B0004020202020204" pitchFamily="34" charset="0"/>
            </a:endParaRPr>
          </a:p>
          <a:p>
            <a:endParaRPr lang="ru-RU" sz="1750" dirty="0">
              <a:latin typeface="Aptos Light" panose="020B0004020202020204" pitchFamily="34" charset="0"/>
              <a:hlinkClick r:id="rId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750" dirty="0">
                <a:latin typeface="Aptos Light" panose="020B0004020202020204" pitchFamily="34" charset="0"/>
                <a:hlinkClick r:id="rId5"/>
              </a:rPr>
              <a:t>Процесс согласования отчетных документов и оплаты</a:t>
            </a:r>
            <a:endParaRPr lang="ru-RU" sz="1750" dirty="0">
              <a:latin typeface="Aptos Light" panose="020B0004020202020204" pitchFamily="34" charset="0"/>
            </a:endParaRPr>
          </a:p>
          <a:p>
            <a:endParaRPr lang="ru-RU" sz="1750" dirty="0">
              <a:latin typeface="Aptos Light" panose="020B0004020202020204" pitchFamily="34" charset="0"/>
              <a:hlinkClick r:id="rId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750" dirty="0">
                <a:latin typeface="Aptos Light" panose="020B0004020202020204" pitchFamily="34" charset="0"/>
                <a:hlinkClick r:id="rId4"/>
              </a:rPr>
              <a:t>Процесс по поиску и сбору отзывов по подрядчикам</a:t>
            </a:r>
            <a:endParaRPr lang="ru-RU" sz="1750" dirty="0">
              <a:latin typeface="Aptos Light" panose="020B0004020202020204" pitchFamily="34" charset="0"/>
            </a:endParaRPr>
          </a:p>
          <a:p>
            <a:endParaRPr lang="ru-RU" sz="1750" dirty="0">
              <a:latin typeface="Aptos Light" panose="020B0004020202020204" pitchFamily="34" charset="0"/>
              <a:hlinkClick r:id="rId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750" dirty="0">
                <a:latin typeface="Aptos Light" panose="020B0004020202020204" pitchFamily="34" charset="0"/>
                <a:hlinkClick r:id="rId4"/>
              </a:rPr>
              <a:t>Реестр шаблонов для работы с подрядчиками</a:t>
            </a:r>
            <a:endParaRPr lang="ru-RU" sz="1750" dirty="0">
              <a:latin typeface="Aptos Light" panose="020B0004020202020204" pitchFamily="34" charset="0"/>
            </a:endParaRPr>
          </a:p>
          <a:p>
            <a:endParaRPr lang="ru-RU" sz="1750" dirty="0">
              <a:latin typeface="Aptos Light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750" dirty="0">
                <a:latin typeface="Aptos Light" panose="020B0004020202020204" pitchFamily="34" charset="0"/>
                <a:hlinkClick r:id="rId6"/>
              </a:rPr>
              <a:t>Порядок работы с расходными договорами</a:t>
            </a:r>
            <a:r>
              <a:rPr lang="ru-RU" sz="1750" dirty="0">
                <a:latin typeface="Aptos Light" panose="020B0004020202020204" pitchFamily="34" charset="0"/>
              </a:rPr>
              <a:t> </a:t>
            </a:r>
          </a:p>
          <a:p>
            <a:endParaRPr lang="ru-RU" sz="1750" dirty="0"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592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7A1A8B-95FE-4E33-BE25-46181DB10A9B}"/>
              </a:ext>
            </a:extLst>
          </p:cNvPr>
          <p:cNvSpPr txBox="1"/>
          <p:nvPr/>
        </p:nvSpPr>
        <p:spPr>
          <a:xfrm>
            <a:off x="5378" y="-40975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КТО ТАКИЕ ПОДРЯДЧИКИ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89E1F8-87BC-429B-B07E-15C84293F2B9}"/>
              </a:ext>
            </a:extLst>
          </p:cNvPr>
          <p:cNvSpPr txBox="1"/>
          <p:nvPr/>
        </p:nvSpPr>
        <p:spPr>
          <a:xfrm>
            <a:off x="5378" y="124698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ФИШКА ПРОЦЕССА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2A175-482C-4647-A6F9-587A81C05748}"/>
              </a:ext>
            </a:extLst>
          </p:cNvPr>
          <p:cNvSpPr txBox="1"/>
          <p:nvPr/>
        </p:nvSpPr>
        <p:spPr>
          <a:xfrm>
            <a:off x="5378" y="737481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ЛЮДИ И ОТВЕТСТВЕННОСТЬ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822FDB-A71E-4430-96D4-718BEF6079D5}"/>
              </a:ext>
            </a:extLst>
          </p:cNvPr>
          <p:cNvSpPr txBox="1"/>
          <p:nvPr/>
        </p:nvSpPr>
        <p:spPr>
          <a:xfrm>
            <a:off x="5378" y="1350264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СХЕМА ДВИЖЕНИЯ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FF747F-2B71-491B-86D8-5895AC52897C}"/>
              </a:ext>
            </a:extLst>
          </p:cNvPr>
          <p:cNvSpPr txBox="1"/>
          <p:nvPr/>
        </p:nvSpPr>
        <p:spPr>
          <a:xfrm>
            <a:off x="5378" y="1960691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РАЗБОР ДЕТАЛЕЙ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5D8A57-B210-4072-8E01-8A3D368E0B97}"/>
              </a:ext>
            </a:extLst>
          </p:cNvPr>
          <p:cNvSpPr txBox="1"/>
          <p:nvPr/>
        </p:nvSpPr>
        <p:spPr>
          <a:xfrm>
            <a:off x="5378" y="2571665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РАБОЧАЯ СТАНЦИЯ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D8494E-4E64-40F7-B2A9-DB76B1596CCB}"/>
              </a:ext>
            </a:extLst>
          </p:cNvPr>
          <p:cNvSpPr txBox="1"/>
          <p:nvPr/>
        </p:nvSpPr>
        <p:spPr>
          <a:xfrm>
            <a:off x="963330" y="3182639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ptos ExtraBold" panose="020B0004020202020204" pitchFamily="34" charset="0"/>
              </a:rPr>
              <a:t>ТИПИЧНЫЕ ГРАБЛИ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C0B9D8-8258-421D-B390-E04ACA9FD400}"/>
              </a:ext>
            </a:extLst>
          </p:cNvPr>
          <p:cNvSpPr txBox="1"/>
          <p:nvPr/>
        </p:nvSpPr>
        <p:spPr>
          <a:xfrm>
            <a:off x="5378" y="3789488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ОШИБКА 404</a:t>
            </a:r>
          </a:p>
        </p:txBody>
      </p:sp>
      <p:sp>
        <p:nvSpPr>
          <p:cNvPr id="22" name="Равнобедренный треугольник 21">
            <a:extLst>
              <a:ext uri="{FF2B5EF4-FFF2-40B4-BE49-F238E27FC236}">
                <a16:creationId xmlns:a16="http://schemas.microsoft.com/office/drawing/2014/main" id="{3C87D4E0-FC58-4777-B912-9681101452A8}"/>
              </a:ext>
            </a:extLst>
          </p:cNvPr>
          <p:cNvSpPr/>
          <p:nvPr/>
        </p:nvSpPr>
        <p:spPr>
          <a:xfrm rot="5400000">
            <a:off x="-50334" y="3227664"/>
            <a:ext cx="503339" cy="402671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B3E24-98E7-40B5-BE72-A3C52E93D430}"/>
              </a:ext>
            </a:extLst>
          </p:cNvPr>
          <p:cNvSpPr txBox="1"/>
          <p:nvPr/>
        </p:nvSpPr>
        <p:spPr>
          <a:xfrm>
            <a:off x="10835" y="-93747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ЧТО ЭТО ВООБЩЕ ТАКОЕ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BD2682-1CF6-454C-8D11-03A4360EFCFA}"/>
              </a:ext>
            </a:extLst>
          </p:cNvPr>
          <p:cNvSpPr txBox="1"/>
          <p:nvPr/>
        </p:nvSpPr>
        <p:spPr>
          <a:xfrm>
            <a:off x="6196148" y="552815"/>
            <a:ext cx="6091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ptos Black" panose="020B0004020202020204" pitchFamily="34" charset="0"/>
              </a:rPr>
              <a:t>КАК НЕ НАСТУПИТЬ НА ГРАБЛИ</a:t>
            </a:r>
          </a:p>
          <a:p>
            <a:r>
              <a:rPr lang="ru-RU" dirty="0">
                <a:latin typeface="Aptos Black" panose="020B0004020202020204" pitchFamily="34" charset="0"/>
              </a:rPr>
              <a:t>(или косяки, которые сделали до тебя)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932018A7-A207-49CC-ABDA-AB3E86CD721A}"/>
              </a:ext>
            </a:extLst>
          </p:cNvPr>
          <p:cNvGrpSpPr/>
          <p:nvPr/>
        </p:nvGrpSpPr>
        <p:grpSpPr>
          <a:xfrm>
            <a:off x="6196148" y="1307188"/>
            <a:ext cx="5645785" cy="2083541"/>
            <a:chOff x="6196148" y="1307188"/>
            <a:chExt cx="5645785" cy="208354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4923744-161A-42A4-B698-62ED3456D056}"/>
                </a:ext>
              </a:extLst>
            </p:cNvPr>
            <p:cNvSpPr txBox="1"/>
            <p:nvPr/>
          </p:nvSpPr>
          <p:spPr>
            <a:xfrm>
              <a:off x="6196148" y="1307188"/>
              <a:ext cx="52006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Aptos SemiBold" panose="020B0004020202020204" pitchFamily="34" charset="0"/>
                </a:rPr>
                <a:t>1. Подмена понятий: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0F7B8FC-3BC5-48A4-A235-9595154FB75C}"/>
                </a:ext>
              </a:extLst>
            </p:cNvPr>
            <p:cNvSpPr txBox="1"/>
            <p:nvPr/>
          </p:nvSpPr>
          <p:spPr>
            <a:xfrm>
              <a:off x="7480231" y="1636403"/>
              <a:ext cx="4361702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ru-RU" dirty="0">
                  <a:latin typeface="Aptos SemiBold" panose="020B0004020202020204" pitchFamily="34" charset="0"/>
                </a:rPr>
                <a:t>в</a:t>
              </a:r>
              <a:r>
                <a:rPr lang="ru-RU" b="0" i="0" dirty="0">
                  <a:effectLst/>
                  <a:latin typeface="Aptos SemiBold" panose="020B0004020202020204" pitchFamily="34" charset="0"/>
                </a:rPr>
                <a:t>ежливо, но до последнего уточняй детали, пока не убедишься, что нет разночтений в понимании происходящего.</a:t>
              </a:r>
              <a:br>
                <a:rPr lang="ru-RU" b="0" i="0" dirty="0">
                  <a:effectLst/>
                  <a:latin typeface="Aptos SemiBold" panose="020B0004020202020204" pitchFamily="34" charset="0"/>
                </a:rPr>
              </a:br>
              <a:r>
                <a:rPr lang="ru-RU" b="0" i="0" dirty="0">
                  <a:effectLst/>
                  <a:latin typeface="Aptos SemiBold" panose="020B0004020202020204" pitchFamily="34" charset="0"/>
                </a:rPr>
                <a:t>Ошибку легче предотвратить, чем исправить</a:t>
              </a:r>
              <a:endParaRPr lang="ru-RU" dirty="0">
                <a:latin typeface="Aptos SemiBold" panose="020B0004020202020204" pitchFamily="34" charset="0"/>
              </a:endParaRPr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72CBD78F-4019-43BE-AF32-77F8E05253B4}"/>
              </a:ext>
            </a:extLst>
          </p:cNvPr>
          <p:cNvGrpSpPr/>
          <p:nvPr/>
        </p:nvGrpSpPr>
        <p:grpSpPr>
          <a:xfrm>
            <a:off x="6196148" y="3548130"/>
            <a:ext cx="5645785" cy="2360540"/>
            <a:chOff x="6196148" y="1307188"/>
            <a:chExt cx="5645785" cy="236054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D9F3B34-16CA-443C-8297-BA4542DF1092}"/>
                </a:ext>
              </a:extLst>
            </p:cNvPr>
            <p:cNvSpPr txBox="1"/>
            <p:nvPr/>
          </p:nvSpPr>
          <p:spPr>
            <a:xfrm>
              <a:off x="6196148" y="1307188"/>
              <a:ext cx="52006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Aptos SemiBold" panose="020B0004020202020204" pitchFamily="34" charset="0"/>
                </a:rPr>
                <a:t>2. Длительный цикл согласования: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333E895-816F-40FA-B84C-A04E298ADB8E}"/>
                </a:ext>
              </a:extLst>
            </p:cNvPr>
            <p:cNvSpPr txBox="1"/>
            <p:nvPr/>
          </p:nvSpPr>
          <p:spPr>
            <a:xfrm>
              <a:off x="7480231" y="1636403"/>
              <a:ext cx="4361702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Tx/>
                <a:buChar char="-"/>
              </a:pPr>
              <a:r>
                <a:rPr lang="ru-RU" b="0" i="0" dirty="0">
                  <a:effectLst/>
                  <a:latin typeface="Aptos SemiBold" panose="020B0004020202020204" pitchFamily="34" charset="0"/>
                </a:rPr>
                <a:t>Больше двух рабочих дней документ не висит. Точка. </a:t>
              </a:r>
              <a:br>
                <a:rPr lang="ru-RU" b="0" i="0" dirty="0">
                  <a:effectLst/>
                  <a:latin typeface="Aptos SemiBold" panose="020B0004020202020204" pitchFamily="34" charset="0"/>
                </a:rPr>
              </a:br>
              <a:r>
                <a:rPr lang="ru-RU" b="0" i="0" dirty="0">
                  <a:effectLst/>
                  <a:latin typeface="Aptos SemiBold" panose="020B0004020202020204" pitchFamily="34" charset="0"/>
                </a:rPr>
                <a:t>Включай обаяние</a:t>
              </a:r>
              <a:r>
                <a:rPr lang="ru-RU" dirty="0">
                  <a:latin typeface="Aptos SemiBold" panose="020B0004020202020204" pitchFamily="34" charset="0"/>
                </a:rPr>
                <a:t> и</a:t>
              </a:r>
              <a:r>
                <a:rPr lang="ru-RU" b="0" i="0" dirty="0">
                  <a:effectLst/>
                  <a:latin typeface="Aptos SemiBold" panose="020B0004020202020204" pitchFamily="34" charset="0"/>
                </a:rPr>
                <a:t> стой на своем.</a:t>
              </a:r>
              <a:br>
                <a:rPr lang="ru-RU" b="0" i="0" dirty="0">
                  <a:effectLst/>
                  <a:latin typeface="Aptos SemiBold" panose="020B0004020202020204" pitchFamily="34" charset="0"/>
                </a:rPr>
              </a:br>
              <a:br>
                <a:rPr lang="ru-RU" b="0" i="0" dirty="0">
                  <a:effectLst/>
                  <a:latin typeface="Aptos SemiBold" panose="020B0004020202020204" pitchFamily="34" charset="0"/>
                </a:rPr>
              </a:br>
              <a:r>
                <a:rPr lang="ru-RU" b="0" i="0" dirty="0">
                  <a:effectLst/>
                  <a:latin typeface="Aptos SemiBold" panose="020B0004020202020204" pitchFamily="34" charset="0"/>
                </a:rPr>
                <a:t>Напоминай лично в чатах или через РП/РН в зависимости от уровня согласующего</a:t>
              </a:r>
              <a:endParaRPr lang="ru-RU" dirty="0">
                <a:latin typeface="Aptos SemiBold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6210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7A1A8B-95FE-4E33-BE25-46181DB10A9B}"/>
              </a:ext>
            </a:extLst>
          </p:cNvPr>
          <p:cNvSpPr txBox="1"/>
          <p:nvPr/>
        </p:nvSpPr>
        <p:spPr>
          <a:xfrm>
            <a:off x="5378" y="-40975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КТО ТАКИЕ ПОДРЯДЧИКИ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89E1F8-87BC-429B-B07E-15C84293F2B9}"/>
              </a:ext>
            </a:extLst>
          </p:cNvPr>
          <p:cNvSpPr txBox="1"/>
          <p:nvPr/>
        </p:nvSpPr>
        <p:spPr>
          <a:xfrm>
            <a:off x="5378" y="124698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ФИШКА ПРОЦЕССА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2A175-482C-4647-A6F9-587A81C05748}"/>
              </a:ext>
            </a:extLst>
          </p:cNvPr>
          <p:cNvSpPr txBox="1"/>
          <p:nvPr/>
        </p:nvSpPr>
        <p:spPr>
          <a:xfrm>
            <a:off x="5378" y="737481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ЛЮДИ И ОТВЕТСТВЕННОСТЬ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822FDB-A71E-4430-96D4-718BEF6079D5}"/>
              </a:ext>
            </a:extLst>
          </p:cNvPr>
          <p:cNvSpPr txBox="1"/>
          <p:nvPr/>
        </p:nvSpPr>
        <p:spPr>
          <a:xfrm>
            <a:off x="5378" y="1350264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СХЕМА ДВИЖЕНИЯ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FF747F-2B71-491B-86D8-5895AC52897C}"/>
              </a:ext>
            </a:extLst>
          </p:cNvPr>
          <p:cNvSpPr txBox="1"/>
          <p:nvPr/>
        </p:nvSpPr>
        <p:spPr>
          <a:xfrm>
            <a:off x="5378" y="1960691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РАЗБОР ДЕТАЛЕЙ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5D8A57-B210-4072-8E01-8A3D368E0B97}"/>
              </a:ext>
            </a:extLst>
          </p:cNvPr>
          <p:cNvSpPr txBox="1"/>
          <p:nvPr/>
        </p:nvSpPr>
        <p:spPr>
          <a:xfrm>
            <a:off x="5378" y="2571665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РАБОЧАЯ СТАНЦИЯ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D8494E-4E64-40F7-B2A9-DB76B1596CCB}"/>
              </a:ext>
            </a:extLst>
          </p:cNvPr>
          <p:cNvSpPr txBox="1"/>
          <p:nvPr/>
        </p:nvSpPr>
        <p:spPr>
          <a:xfrm>
            <a:off x="963330" y="3182639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ptos ExtraBold" panose="020B0004020202020204" pitchFamily="34" charset="0"/>
              </a:rPr>
              <a:t>ТИПИЧНЫЕ ГРАБЛИ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C0B9D8-8258-421D-B390-E04ACA9FD400}"/>
              </a:ext>
            </a:extLst>
          </p:cNvPr>
          <p:cNvSpPr txBox="1"/>
          <p:nvPr/>
        </p:nvSpPr>
        <p:spPr>
          <a:xfrm>
            <a:off x="5378" y="3789488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ОШИБКА 404</a:t>
            </a:r>
          </a:p>
        </p:txBody>
      </p:sp>
      <p:sp>
        <p:nvSpPr>
          <p:cNvPr id="22" name="Равнобедренный треугольник 21">
            <a:extLst>
              <a:ext uri="{FF2B5EF4-FFF2-40B4-BE49-F238E27FC236}">
                <a16:creationId xmlns:a16="http://schemas.microsoft.com/office/drawing/2014/main" id="{3C87D4E0-FC58-4777-B912-9681101452A8}"/>
              </a:ext>
            </a:extLst>
          </p:cNvPr>
          <p:cNvSpPr/>
          <p:nvPr/>
        </p:nvSpPr>
        <p:spPr>
          <a:xfrm rot="5400000">
            <a:off x="-50334" y="3227664"/>
            <a:ext cx="503339" cy="402671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B3E24-98E7-40B5-BE72-A3C52E93D430}"/>
              </a:ext>
            </a:extLst>
          </p:cNvPr>
          <p:cNvSpPr txBox="1"/>
          <p:nvPr/>
        </p:nvSpPr>
        <p:spPr>
          <a:xfrm>
            <a:off x="10835" y="-93747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ЧТО ЭТО ВООБЩЕ ТАКОЕ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BD2682-1CF6-454C-8D11-03A4360EFCFA}"/>
              </a:ext>
            </a:extLst>
          </p:cNvPr>
          <p:cNvSpPr txBox="1"/>
          <p:nvPr/>
        </p:nvSpPr>
        <p:spPr>
          <a:xfrm>
            <a:off x="6196148" y="552815"/>
            <a:ext cx="6091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ptos Black" panose="020B0004020202020204" pitchFamily="34" charset="0"/>
              </a:rPr>
              <a:t>КАК НЕ НАСТУПИТЬ НА ГРАБЛИ</a:t>
            </a:r>
          </a:p>
          <a:p>
            <a:r>
              <a:rPr lang="ru-RU" dirty="0">
                <a:latin typeface="Aptos Black" panose="020B0004020202020204" pitchFamily="34" charset="0"/>
              </a:rPr>
              <a:t>(или косяки, которые сделали до тебя)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932018A7-A207-49CC-ABDA-AB3E86CD721A}"/>
              </a:ext>
            </a:extLst>
          </p:cNvPr>
          <p:cNvGrpSpPr/>
          <p:nvPr/>
        </p:nvGrpSpPr>
        <p:grpSpPr>
          <a:xfrm>
            <a:off x="6196148" y="1307189"/>
            <a:ext cx="5645785" cy="1681171"/>
            <a:chOff x="6196148" y="1307188"/>
            <a:chExt cx="5645785" cy="73032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4923744-161A-42A4-B698-62ED3456D056}"/>
                </a:ext>
              </a:extLst>
            </p:cNvPr>
            <p:cNvSpPr txBox="1"/>
            <p:nvPr/>
          </p:nvSpPr>
          <p:spPr>
            <a:xfrm>
              <a:off x="6196148" y="1307188"/>
              <a:ext cx="52006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Aptos SemiBold" panose="020B0004020202020204" pitchFamily="34" charset="0"/>
                </a:rPr>
                <a:t>3. Актуальность шаблонов и/или иной информации: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0F7B8FC-3BC5-48A4-A235-9595154FB75C}"/>
                </a:ext>
              </a:extLst>
            </p:cNvPr>
            <p:cNvSpPr txBox="1"/>
            <p:nvPr/>
          </p:nvSpPr>
          <p:spPr>
            <a:xfrm>
              <a:off x="7480231" y="1636403"/>
              <a:ext cx="4361702" cy="40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Tx/>
                <a:buChar char="-"/>
              </a:pPr>
              <a:r>
                <a:rPr lang="ru-RU" dirty="0">
                  <a:latin typeface="Aptos SemiBold" panose="020B0004020202020204" pitchFamily="34" charset="0"/>
                </a:rPr>
                <a:t>н</a:t>
              </a:r>
              <a:r>
                <a:rPr lang="ru-RU" b="0" i="0" dirty="0">
                  <a:effectLst/>
                  <a:latin typeface="Aptos SemiBold" panose="020B0004020202020204" pitchFamily="34" charset="0"/>
                </a:rPr>
                <a:t>е поленись перепроверить: договор тащи к юристам, даты </a:t>
              </a:r>
              <a:br>
                <a:rPr lang="ru-RU" b="0" i="0" dirty="0">
                  <a:effectLst/>
                  <a:latin typeface="Aptos SemiBold" panose="020B0004020202020204" pitchFamily="34" charset="0"/>
                </a:rPr>
              </a:br>
              <a:r>
                <a:rPr lang="ru-RU" b="0" i="0" dirty="0">
                  <a:effectLst/>
                  <a:latin typeface="Aptos SemiBold" panose="020B0004020202020204" pitchFamily="34" charset="0"/>
                </a:rPr>
                <a:t>в актах сверяй с бухгалтером и т.д.</a:t>
              </a:r>
              <a:endParaRPr lang="ru-RU" dirty="0">
                <a:latin typeface="Aptos SemiBold" panose="020B0004020202020204" pitchFamily="34" charset="0"/>
              </a:endParaRPr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72CBD78F-4019-43BE-AF32-77F8E05253B4}"/>
              </a:ext>
            </a:extLst>
          </p:cNvPr>
          <p:cNvGrpSpPr/>
          <p:nvPr/>
        </p:nvGrpSpPr>
        <p:grpSpPr>
          <a:xfrm>
            <a:off x="6196148" y="3476966"/>
            <a:ext cx="5645785" cy="2268207"/>
            <a:chOff x="6196148" y="1307188"/>
            <a:chExt cx="5645785" cy="226820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D9F3B34-16CA-443C-8297-BA4542DF1092}"/>
                </a:ext>
              </a:extLst>
            </p:cNvPr>
            <p:cNvSpPr txBox="1"/>
            <p:nvPr/>
          </p:nvSpPr>
          <p:spPr>
            <a:xfrm>
              <a:off x="6196148" y="1307188"/>
              <a:ext cx="52006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Aptos SemiBold" panose="020B0004020202020204" pitchFamily="34" charset="0"/>
                </a:rPr>
                <a:t>4. Потеря контроля: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333E895-816F-40FA-B84C-A04E298ADB8E}"/>
                </a:ext>
              </a:extLst>
            </p:cNvPr>
            <p:cNvSpPr txBox="1"/>
            <p:nvPr/>
          </p:nvSpPr>
          <p:spPr>
            <a:xfrm>
              <a:off x="7480231" y="1636403"/>
              <a:ext cx="4361702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Tx/>
                <a:buChar char="-"/>
              </a:pPr>
              <a:r>
                <a:rPr lang="ru-RU" dirty="0">
                  <a:latin typeface="Aptos SemiBold" panose="020B0004020202020204" pitchFamily="34" charset="0"/>
                </a:rPr>
                <a:t>т</a:t>
              </a:r>
              <a:r>
                <a:rPr lang="ru-RU" b="0" i="0" dirty="0">
                  <a:effectLst/>
                  <a:latin typeface="Aptos SemiBold" panose="020B0004020202020204" pitchFamily="34" charset="0"/>
                </a:rPr>
                <a:t>ут всё просто: ты отвечаешь </a:t>
              </a:r>
              <a:br>
                <a:rPr lang="ru-RU" b="0" i="0" dirty="0">
                  <a:effectLst/>
                  <a:latin typeface="Aptos SemiBold" panose="020B0004020202020204" pitchFamily="34" charset="0"/>
                </a:rPr>
              </a:br>
              <a:r>
                <a:rPr lang="ru-RU" b="0" i="0" dirty="0">
                  <a:effectLst/>
                  <a:latin typeface="Aptos SemiBold" panose="020B0004020202020204" pitchFamily="34" charset="0"/>
                </a:rPr>
                <a:t>за результат, а значит бежишь </a:t>
              </a:r>
              <a:br>
                <a:rPr lang="ru-RU" b="0" i="0" dirty="0">
                  <a:effectLst/>
                  <a:latin typeface="Aptos SemiBold" panose="020B0004020202020204" pitchFamily="34" charset="0"/>
                </a:rPr>
              </a:br>
              <a:r>
                <a:rPr lang="ru-RU" b="0" i="0" dirty="0">
                  <a:effectLst/>
                  <a:latin typeface="Aptos SemiBold" panose="020B0004020202020204" pitchFamily="34" charset="0"/>
                </a:rPr>
                <a:t>с препятствиями до конца</a:t>
              </a:r>
              <a:r>
                <a:rPr lang="ru-RU" dirty="0">
                  <a:latin typeface="Aptos SemiBold" panose="020B0004020202020204" pitchFamily="34" charset="0"/>
                </a:rPr>
                <a:t>;</a:t>
              </a:r>
            </a:p>
            <a:p>
              <a:pPr marL="285750" indent="-285750" algn="just">
                <a:buFontTx/>
                <a:buChar char="-"/>
              </a:pPr>
              <a:endParaRPr lang="ru-RU" sz="900" dirty="0">
                <a:latin typeface="Aptos SemiBold" panose="020B0004020202020204" pitchFamily="34" charset="0"/>
              </a:endParaRPr>
            </a:p>
            <a:p>
              <a:pPr marL="285750" indent="-285750" algn="just">
                <a:buFontTx/>
                <a:buChar char="-"/>
              </a:pPr>
              <a:r>
                <a:rPr lang="ru-RU" dirty="0" err="1">
                  <a:latin typeface="Aptos SemiBold" panose="020B0004020202020204" pitchFamily="34" charset="0"/>
                </a:rPr>
                <a:t>микроконтроль</a:t>
              </a:r>
              <a:r>
                <a:rPr lang="ru-RU" dirty="0">
                  <a:latin typeface="Aptos SemiBold" panose="020B0004020202020204" pitchFamily="34" charset="0"/>
                </a:rPr>
                <a:t> – плохо, попустительство недопустимо – найди золотую середину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8548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7A1A8B-95FE-4E33-BE25-46181DB10A9B}"/>
              </a:ext>
            </a:extLst>
          </p:cNvPr>
          <p:cNvSpPr txBox="1"/>
          <p:nvPr/>
        </p:nvSpPr>
        <p:spPr>
          <a:xfrm>
            <a:off x="5378" y="-40975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КТО ТАКИЕ ПОДРЯДЧИКИ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89E1F8-87BC-429B-B07E-15C84293F2B9}"/>
              </a:ext>
            </a:extLst>
          </p:cNvPr>
          <p:cNvSpPr txBox="1"/>
          <p:nvPr/>
        </p:nvSpPr>
        <p:spPr>
          <a:xfrm>
            <a:off x="5378" y="124698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ФИШКА ПРОЦЕССА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2A175-482C-4647-A6F9-587A81C05748}"/>
              </a:ext>
            </a:extLst>
          </p:cNvPr>
          <p:cNvSpPr txBox="1"/>
          <p:nvPr/>
        </p:nvSpPr>
        <p:spPr>
          <a:xfrm>
            <a:off x="5378" y="737481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ЛЮДИ И ОТВЕТСТВЕННОСТЬ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822FDB-A71E-4430-96D4-718BEF6079D5}"/>
              </a:ext>
            </a:extLst>
          </p:cNvPr>
          <p:cNvSpPr txBox="1"/>
          <p:nvPr/>
        </p:nvSpPr>
        <p:spPr>
          <a:xfrm>
            <a:off x="5378" y="1350264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СХЕМА ДВИЖЕНИЯ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FF747F-2B71-491B-86D8-5895AC52897C}"/>
              </a:ext>
            </a:extLst>
          </p:cNvPr>
          <p:cNvSpPr txBox="1"/>
          <p:nvPr/>
        </p:nvSpPr>
        <p:spPr>
          <a:xfrm>
            <a:off x="5378" y="1960691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РАЗБОР ДЕТАЛЕЙ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5D8A57-B210-4072-8E01-8A3D368E0B97}"/>
              </a:ext>
            </a:extLst>
          </p:cNvPr>
          <p:cNvSpPr txBox="1"/>
          <p:nvPr/>
        </p:nvSpPr>
        <p:spPr>
          <a:xfrm>
            <a:off x="5378" y="2571665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РАБОЧАЯ СТАНЦИЯ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D8494E-4E64-40F7-B2A9-DB76B1596CCB}"/>
              </a:ext>
            </a:extLst>
          </p:cNvPr>
          <p:cNvSpPr txBox="1"/>
          <p:nvPr/>
        </p:nvSpPr>
        <p:spPr>
          <a:xfrm>
            <a:off x="963330" y="3182639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ptos ExtraBold" panose="020B0004020202020204" pitchFamily="34" charset="0"/>
              </a:rPr>
              <a:t>ТИПИЧНЫЕ ГРАБЛИ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C0B9D8-8258-421D-B390-E04ACA9FD400}"/>
              </a:ext>
            </a:extLst>
          </p:cNvPr>
          <p:cNvSpPr txBox="1"/>
          <p:nvPr/>
        </p:nvSpPr>
        <p:spPr>
          <a:xfrm>
            <a:off x="5378" y="3789488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ОШИБКА 404</a:t>
            </a:r>
          </a:p>
        </p:txBody>
      </p:sp>
      <p:sp>
        <p:nvSpPr>
          <p:cNvPr id="22" name="Равнобедренный треугольник 21">
            <a:extLst>
              <a:ext uri="{FF2B5EF4-FFF2-40B4-BE49-F238E27FC236}">
                <a16:creationId xmlns:a16="http://schemas.microsoft.com/office/drawing/2014/main" id="{3C87D4E0-FC58-4777-B912-9681101452A8}"/>
              </a:ext>
            </a:extLst>
          </p:cNvPr>
          <p:cNvSpPr/>
          <p:nvPr/>
        </p:nvSpPr>
        <p:spPr>
          <a:xfrm rot="5400000">
            <a:off x="-50334" y="3227664"/>
            <a:ext cx="503339" cy="402671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B3E24-98E7-40B5-BE72-A3C52E93D430}"/>
              </a:ext>
            </a:extLst>
          </p:cNvPr>
          <p:cNvSpPr txBox="1"/>
          <p:nvPr/>
        </p:nvSpPr>
        <p:spPr>
          <a:xfrm>
            <a:off x="10835" y="-93747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ЧТО ЭТО ВООБЩЕ ТАКОЕ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BD2682-1CF6-454C-8D11-03A4360EFCFA}"/>
              </a:ext>
            </a:extLst>
          </p:cNvPr>
          <p:cNvSpPr txBox="1"/>
          <p:nvPr/>
        </p:nvSpPr>
        <p:spPr>
          <a:xfrm>
            <a:off x="6196148" y="552815"/>
            <a:ext cx="6091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ptos Black" panose="020B0004020202020204" pitchFamily="34" charset="0"/>
              </a:rPr>
              <a:t>ЕЩЕ НЕ ГРАБЛИ, НО ТРЕБУЕТСЯ ПОВЫШЕННОЕ ВНИМАНИЕ 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932018A7-A207-49CC-ABDA-AB3E86CD721A}"/>
              </a:ext>
            </a:extLst>
          </p:cNvPr>
          <p:cNvGrpSpPr/>
          <p:nvPr/>
        </p:nvGrpSpPr>
        <p:grpSpPr>
          <a:xfrm>
            <a:off x="6196148" y="1307192"/>
            <a:ext cx="5645785" cy="2789166"/>
            <a:chOff x="6196148" y="1307188"/>
            <a:chExt cx="5645785" cy="121164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4923744-161A-42A4-B698-62ED3456D056}"/>
                </a:ext>
              </a:extLst>
            </p:cNvPr>
            <p:cNvSpPr txBox="1"/>
            <p:nvPr/>
          </p:nvSpPr>
          <p:spPr>
            <a:xfrm>
              <a:off x="6196148" y="1307188"/>
              <a:ext cx="5200650" cy="280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Aptos SemiBold" panose="020B0004020202020204" pitchFamily="34" charset="0"/>
                </a:rPr>
                <a:t>Официальное оформление после фактического выхода подрядчика на проект: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0F7B8FC-3BC5-48A4-A235-9595154FB75C}"/>
                </a:ext>
              </a:extLst>
            </p:cNvPr>
            <p:cNvSpPr txBox="1"/>
            <p:nvPr/>
          </p:nvSpPr>
          <p:spPr>
            <a:xfrm>
              <a:off x="7480231" y="1636403"/>
              <a:ext cx="4361702" cy="8824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ru-RU" dirty="0">
                  <a:latin typeface="Aptos SemiBold" panose="020B0004020202020204" pitchFamily="34" charset="0"/>
                </a:rPr>
                <a:t>за ограниченное время надо параллельно запустить и довести </a:t>
              </a:r>
              <a:br>
                <a:rPr lang="ru-RU" dirty="0">
                  <a:latin typeface="Aptos SemiBold" panose="020B0004020202020204" pitchFamily="34" charset="0"/>
                </a:rPr>
              </a:br>
              <a:r>
                <a:rPr lang="ru-RU" dirty="0">
                  <a:latin typeface="Aptos SemiBold" panose="020B0004020202020204" pitchFamily="34" charset="0"/>
                </a:rPr>
                <a:t>до конца множество процессов:</a:t>
              </a:r>
            </a:p>
            <a:p>
              <a:pPr marL="742950" lvl="1" indent="-285750" algn="just">
                <a:buFontTx/>
                <a:buChar char="-"/>
              </a:pPr>
              <a:r>
                <a:rPr lang="ru-RU" dirty="0">
                  <a:latin typeface="Aptos SemiBold" panose="020B0004020202020204" pitchFamily="34" charset="0"/>
                </a:rPr>
                <a:t>заключить договор;</a:t>
              </a:r>
            </a:p>
            <a:p>
              <a:pPr marL="742950" lvl="1" indent="-285750" algn="just">
                <a:buFontTx/>
                <a:buChar char="-"/>
              </a:pPr>
              <a:r>
                <a:rPr lang="ru-RU" dirty="0">
                  <a:latin typeface="Aptos SemiBold" panose="020B0004020202020204" pitchFamily="34" charset="0"/>
                </a:rPr>
                <a:t>выдать доступы к системам;</a:t>
              </a:r>
            </a:p>
            <a:p>
              <a:pPr marL="742950" lvl="1" indent="-285750" algn="just">
                <a:buFontTx/>
                <a:buChar char="-"/>
              </a:pPr>
              <a:r>
                <a:rPr lang="ru-RU" dirty="0">
                  <a:latin typeface="Aptos SemiBold" panose="020B0004020202020204" pitchFamily="34" charset="0"/>
                </a:rPr>
                <a:t>согласовать бюджет;</a:t>
              </a:r>
            </a:p>
            <a:p>
              <a:pPr marL="742950" lvl="1" indent="-285750" algn="just">
                <a:buFontTx/>
                <a:buChar char="-"/>
              </a:pPr>
              <a:r>
                <a:rPr lang="ru-RU" dirty="0">
                  <a:latin typeface="Aptos SemiBold" panose="020B0004020202020204" pitchFamily="34" charset="0"/>
                </a:rPr>
                <a:t> и т.д.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6B6D9BDA-3650-4359-B125-DAB5C068CD4C}"/>
              </a:ext>
            </a:extLst>
          </p:cNvPr>
          <p:cNvSpPr txBox="1"/>
          <p:nvPr/>
        </p:nvSpPr>
        <p:spPr>
          <a:xfrm>
            <a:off x="6196148" y="4205873"/>
            <a:ext cx="497308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ru-RU" dirty="0">
                <a:latin typeface="Aptos SemiBold" panose="020B0004020202020204" pitchFamily="34" charset="0"/>
              </a:rPr>
              <a:t>Без официального оформления или при отсутствии бюджета нельзя выставить документы для оплаты работ.</a:t>
            </a:r>
          </a:p>
          <a:p>
            <a:pPr marL="0" lvl="1" algn="just"/>
            <a:endParaRPr lang="ru-RU" dirty="0">
              <a:latin typeface="Aptos SemiBold" panose="020B0004020202020204" pitchFamily="34" charset="0"/>
            </a:endParaRPr>
          </a:p>
          <a:p>
            <a:pPr marL="0" lvl="1" algn="just"/>
            <a:r>
              <a:rPr lang="ru-RU" dirty="0">
                <a:latin typeface="Aptos SemiBold" panose="020B0004020202020204" pitchFamily="34" charset="0"/>
              </a:rPr>
              <a:t>Подрядчик тоже хочет кушать.</a:t>
            </a:r>
          </a:p>
          <a:p>
            <a:pPr marL="0" lvl="1" algn="just"/>
            <a:r>
              <a:rPr lang="ru-RU" dirty="0">
                <a:latin typeface="Aptos SemiBold" panose="020B0004020202020204" pitchFamily="34" charset="0"/>
              </a:rPr>
              <a:t>Голодный подрядчик = злой и вредный подрядчик.</a:t>
            </a:r>
          </a:p>
        </p:txBody>
      </p:sp>
    </p:spTree>
    <p:extLst>
      <p:ext uri="{BB962C8B-B14F-4D97-AF65-F5344CB8AC3E}">
        <p14:creationId xmlns:p14="http://schemas.microsoft.com/office/powerpoint/2010/main" val="2148948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7A1A8B-95FE-4E33-BE25-46181DB10A9B}"/>
              </a:ext>
            </a:extLst>
          </p:cNvPr>
          <p:cNvSpPr txBox="1"/>
          <p:nvPr/>
        </p:nvSpPr>
        <p:spPr>
          <a:xfrm>
            <a:off x="1839" y="-991437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КТО ТАКИЕ ПОДРЯДЧИКИ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89E1F8-87BC-429B-B07E-15C84293F2B9}"/>
              </a:ext>
            </a:extLst>
          </p:cNvPr>
          <p:cNvSpPr txBox="1"/>
          <p:nvPr/>
        </p:nvSpPr>
        <p:spPr>
          <a:xfrm>
            <a:off x="1839" y="-456989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ФИШКА ПРОЦЕССА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2A175-482C-4647-A6F9-587A81C05748}"/>
              </a:ext>
            </a:extLst>
          </p:cNvPr>
          <p:cNvSpPr txBox="1"/>
          <p:nvPr/>
        </p:nvSpPr>
        <p:spPr>
          <a:xfrm>
            <a:off x="1839" y="155794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ЛЮДИ И ОТВЕТСТВЕННОСТЬ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822FDB-A71E-4430-96D4-718BEF6079D5}"/>
              </a:ext>
            </a:extLst>
          </p:cNvPr>
          <p:cNvSpPr txBox="1"/>
          <p:nvPr/>
        </p:nvSpPr>
        <p:spPr>
          <a:xfrm>
            <a:off x="1839" y="768577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СХЕМА ДВИЖЕНИЯ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FF747F-2B71-491B-86D8-5895AC52897C}"/>
              </a:ext>
            </a:extLst>
          </p:cNvPr>
          <p:cNvSpPr txBox="1"/>
          <p:nvPr/>
        </p:nvSpPr>
        <p:spPr>
          <a:xfrm>
            <a:off x="1839" y="1379004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РАЗБОР ДЕТАЛЕЙ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5D8A57-B210-4072-8E01-8A3D368E0B97}"/>
              </a:ext>
            </a:extLst>
          </p:cNvPr>
          <p:cNvSpPr txBox="1"/>
          <p:nvPr/>
        </p:nvSpPr>
        <p:spPr>
          <a:xfrm>
            <a:off x="1839" y="1989978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РАБОЧАЯ СТАНЦИЯ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D8494E-4E64-40F7-B2A9-DB76B1596CCB}"/>
              </a:ext>
            </a:extLst>
          </p:cNvPr>
          <p:cNvSpPr txBox="1"/>
          <p:nvPr/>
        </p:nvSpPr>
        <p:spPr>
          <a:xfrm>
            <a:off x="1839" y="2600952"/>
            <a:ext cx="540000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ТИПИЧНЫЕ ГРАБЛИ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C0B9D8-8258-421D-B390-E04ACA9FD400}"/>
              </a:ext>
            </a:extLst>
          </p:cNvPr>
          <p:cNvSpPr txBox="1"/>
          <p:nvPr/>
        </p:nvSpPr>
        <p:spPr>
          <a:xfrm>
            <a:off x="963864" y="3207801"/>
            <a:ext cx="444697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ptos ExtraBold" panose="020B0004020202020204" pitchFamily="34" charset="0"/>
              </a:rPr>
              <a:t>ОШИБКА 404</a:t>
            </a:r>
          </a:p>
        </p:txBody>
      </p:sp>
      <p:sp>
        <p:nvSpPr>
          <p:cNvPr id="22" name="Равнобедренный треугольник 21">
            <a:extLst>
              <a:ext uri="{FF2B5EF4-FFF2-40B4-BE49-F238E27FC236}">
                <a16:creationId xmlns:a16="http://schemas.microsoft.com/office/drawing/2014/main" id="{3C87D4E0-FC58-4777-B912-9681101452A8}"/>
              </a:ext>
            </a:extLst>
          </p:cNvPr>
          <p:cNvSpPr/>
          <p:nvPr/>
        </p:nvSpPr>
        <p:spPr>
          <a:xfrm rot="5400000">
            <a:off x="-50334" y="3227664"/>
            <a:ext cx="503339" cy="402671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BFA6AC-B6FE-4E45-B37F-1DC26EF59B54}"/>
              </a:ext>
            </a:extLst>
          </p:cNvPr>
          <p:cNvSpPr txBox="1"/>
          <p:nvPr/>
        </p:nvSpPr>
        <p:spPr>
          <a:xfrm>
            <a:off x="10835" y="-1585170"/>
            <a:ext cx="54000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ExtraBold" panose="020B0004020202020204" pitchFamily="34" charset="0"/>
              </a:rPr>
              <a:t>ЧТО ЭТО ВООБЩЕ ТАКОЕ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B3A198-E169-4D6A-B6DF-6C8EB052D8A6}"/>
              </a:ext>
            </a:extLst>
          </p:cNvPr>
          <p:cNvSpPr txBox="1"/>
          <p:nvPr/>
        </p:nvSpPr>
        <p:spPr>
          <a:xfrm>
            <a:off x="6178041" y="442578"/>
            <a:ext cx="55733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ptos Black" panose="020B0004020202020204" pitchFamily="34" charset="0"/>
              </a:rPr>
              <a:t>ОШИБКА 404: ОТВЕТ НЕ НАЙДЕН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5BA8E6-D4E2-46B3-A6AC-B7ABC76541A9}"/>
              </a:ext>
            </a:extLst>
          </p:cNvPr>
          <p:cNvSpPr txBox="1"/>
          <p:nvPr/>
        </p:nvSpPr>
        <p:spPr>
          <a:xfrm>
            <a:off x="6178041" y="4121431"/>
            <a:ext cx="497308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ru-RU" dirty="0">
                <a:latin typeface="Aptos SemiBold" panose="020B0004020202020204" pitchFamily="34" charset="0"/>
              </a:rPr>
              <a:t>1. Ищем ответы в других инструкциях/общей базе знаний направления.</a:t>
            </a:r>
          </a:p>
          <a:p>
            <a:pPr marL="0" lvl="1" algn="just"/>
            <a:endParaRPr lang="ru-RU" dirty="0">
              <a:latin typeface="Aptos SemiBold" panose="020B0004020202020204" pitchFamily="34" charset="0"/>
            </a:endParaRPr>
          </a:p>
          <a:p>
            <a:pPr algn="just"/>
            <a:r>
              <a:rPr lang="ru-RU" dirty="0">
                <a:latin typeface="Aptos SemiBold" panose="020B0004020202020204" pitchFamily="34" charset="0"/>
              </a:rPr>
              <a:t>2. Не нашел там, но вопрос общего характера? Погугли и/или спроси </a:t>
            </a:r>
            <a:r>
              <a:rPr lang="ru-RU" dirty="0" err="1">
                <a:latin typeface="Aptos SemiBold" panose="020B0004020202020204" pitchFamily="34" charset="0"/>
              </a:rPr>
              <a:t>нейронку</a:t>
            </a:r>
            <a:r>
              <a:rPr lang="ru-RU" dirty="0">
                <a:latin typeface="Aptos SemiBold" panose="020B0004020202020204" pitchFamily="34" charset="0"/>
              </a:rPr>
              <a:t>.</a:t>
            </a:r>
          </a:p>
          <a:p>
            <a:pPr marL="0" lvl="1" algn="just"/>
            <a:endParaRPr lang="ru-RU" dirty="0">
              <a:latin typeface="Aptos SemiBold" panose="020B0004020202020204" pitchFamily="34" charset="0"/>
            </a:endParaRPr>
          </a:p>
          <a:p>
            <a:pPr marL="0" lvl="1" algn="just"/>
            <a:r>
              <a:rPr lang="ru-RU" dirty="0">
                <a:latin typeface="Aptos SemiBold" panose="020B0004020202020204" pitchFamily="34" charset="0"/>
              </a:rPr>
              <a:t>3. Если и это не помогло, то пиши – мне, Осадчая Елизавета.</a:t>
            </a:r>
          </a:p>
          <a:p>
            <a:pPr marL="342900" lvl="1" indent="-342900" algn="just">
              <a:buAutoNum type="arabicPeriod"/>
            </a:pPr>
            <a:endParaRPr lang="ru-RU" dirty="0">
              <a:latin typeface="Aptos SemiBold" panose="020B00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F61BDF2-16AB-4851-93F0-E1A90163F4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6" r="11585" b="33480"/>
          <a:stretch/>
        </p:blipFill>
        <p:spPr>
          <a:xfrm>
            <a:off x="6178041" y="1156522"/>
            <a:ext cx="4227968" cy="220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854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2393</TotalTime>
  <Words>1404</Words>
  <Application>Microsoft Office PowerPoint</Application>
  <PresentationFormat>Широкоэкранный</PresentationFormat>
  <Paragraphs>344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30" baseType="lpstr">
      <vt:lpstr>Aptos Black</vt:lpstr>
      <vt:lpstr>Aptos Display</vt:lpstr>
      <vt:lpstr>Aptos ExtraBold</vt:lpstr>
      <vt:lpstr>Aptos Light</vt:lpstr>
      <vt:lpstr>Aptos Mono</vt:lpstr>
      <vt:lpstr>Aptos SemiBold</vt:lpstr>
      <vt:lpstr>Arial</vt:lpstr>
      <vt:lpstr>Calibri</vt:lpstr>
      <vt:lpstr>Calibri Light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Елизавета Осадчая</dc:creator>
  <cp:lastModifiedBy>ОЕА</cp:lastModifiedBy>
  <cp:revision>107</cp:revision>
  <dcterms:created xsi:type="dcterms:W3CDTF">2026-01-22T18:31:25Z</dcterms:created>
  <dcterms:modified xsi:type="dcterms:W3CDTF">2026-08-02T14:17:58Z</dcterms:modified>
</cp:coreProperties>
</file>